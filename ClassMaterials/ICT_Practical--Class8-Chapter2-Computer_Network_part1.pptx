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5" r:id="rId11"/>
    <p:sldId id="266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16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undo custSel addSld delSld modSld">
      <pc:chgData name="Rezaur Rahman" userId="3a4486d7030a1889" providerId="LiveId" clId="{D1B430C1-0409-411D-B3DE-A0AB3CF13E85}" dt="2026-10-14T17:18:26.373" v="130" actId="47"/>
      <pc:docMkLst>
        <pc:docMk/>
      </pc:docMkLst>
      <pc:sldChg chg="del">
        <pc:chgData name="Rezaur Rahman" userId="3a4486d7030a1889" providerId="LiveId" clId="{D1B430C1-0409-411D-B3DE-A0AB3CF13E85}" dt="2026-10-14T17:18:26.373" v="130" actId="4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36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শিক্ষার্থীদের শুভেচ্ছা জানান। ক্লাসের শুরুতে ল্যাবে কীভাবে সবাই একটি প্রিন্টার ব্যবহার করে তা মনে করিয়ে দিন।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তারবিহীন (Wireless) বলতে ওয়াই-ফাই এবং তারযুক্ত বলতে ল্যান ক্যাবলের উদাহরণ দিন।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গুগল</a:t>
            </a:r>
            <a:r>
              <a:rPr dirty="0"/>
              <a:t> </a:t>
            </a:r>
            <a:r>
              <a:rPr dirty="0" err="1"/>
              <a:t>সার্চের</a:t>
            </a:r>
            <a:r>
              <a:rPr dirty="0"/>
              <a:t> </a:t>
            </a:r>
            <a:r>
              <a:rPr dirty="0" err="1"/>
              <a:t>উদাহরণ</a:t>
            </a:r>
            <a:r>
              <a:rPr dirty="0"/>
              <a:t> </a:t>
            </a:r>
            <a:r>
              <a:rPr dirty="0" err="1"/>
              <a:t>দিয়ে</a:t>
            </a:r>
            <a:r>
              <a:rPr dirty="0"/>
              <a:t> </a:t>
            </a:r>
            <a:r>
              <a:rPr dirty="0" err="1"/>
              <a:t>সার্ভার-ক্লায়েন্ট</a:t>
            </a:r>
            <a:r>
              <a:rPr dirty="0"/>
              <a:t> </a:t>
            </a:r>
            <a:r>
              <a:rPr dirty="0" err="1"/>
              <a:t>বুঝিয়ে</a:t>
            </a:r>
            <a:r>
              <a:rPr dirty="0"/>
              <a:t> </a:t>
            </a:r>
            <a:r>
              <a:rPr dirty="0" err="1"/>
              <a:t>বলুন</a:t>
            </a:r>
            <a:r>
              <a:rPr dirty="0"/>
              <a:t>। </a:t>
            </a:r>
            <a:r>
              <a:rPr dirty="0" err="1"/>
              <a:t>এনআইসি</a:t>
            </a:r>
            <a:r>
              <a:rPr dirty="0"/>
              <a:t> (NIC) </a:t>
            </a:r>
            <a:r>
              <a:rPr dirty="0" err="1"/>
              <a:t>কার্ড</a:t>
            </a:r>
            <a:r>
              <a:rPr dirty="0"/>
              <a:t> </a:t>
            </a:r>
            <a:r>
              <a:rPr dirty="0" err="1"/>
              <a:t>ছাড়া</a:t>
            </a:r>
            <a:r>
              <a:rPr dirty="0"/>
              <a:t> </a:t>
            </a:r>
            <a:r>
              <a:rPr dirty="0" err="1"/>
              <a:t>যে</a:t>
            </a:r>
            <a:r>
              <a:rPr dirty="0"/>
              <a:t> </a:t>
            </a:r>
            <a:r>
              <a:rPr dirty="0" err="1"/>
              <a:t>ইন্টারনেট</a:t>
            </a:r>
            <a:r>
              <a:rPr dirty="0"/>
              <a:t> </a:t>
            </a:r>
            <a:r>
              <a:rPr dirty="0" err="1"/>
              <a:t>চলে</a:t>
            </a:r>
            <a:r>
              <a:rPr dirty="0"/>
              <a:t> </a:t>
            </a:r>
            <a:r>
              <a:rPr dirty="0" err="1"/>
              <a:t>না</a:t>
            </a:r>
            <a:r>
              <a:rPr dirty="0"/>
              <a:t> </a:t>
            </a:r>
            <a:r>
              <a:rPr dirty="0" err="1"/>
              <a:t>তা</a:t>
            </a:r>
            <a:r>
              <a:rPr dirty="0"/>
              <a:t> </a:t>
            </a:r>
            <a:r>
              <a:rPr dirty="0" err="1"/>
              <a:t>পরিষ্কার</a:t>
            </a:r>
            <a:r>
              <a:rPr dirty="0"/>
              <a:t> </a:t>
            </a:r>
            <a:r>
              <a:rPr dirty="0" err="1"/>
              <a:t>করুন</a:t>
            </a:r>
            <a:r>
              <a:rPr dirty="0"/>
              <a:t>।</a:t>
            </a:r>
            <a:r>
              <a:rPr lang="bn-IN" dirty="0"/>
              <a:t> আমাদের ফোন হলো 'ক্লায়েন্ট' আর গুগলের কম্পিউটার হলো 'সার্ভার'।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ডায়াগ্রামের মাধ্যমে রিকোয়েস্ট এবং রেসপন্স পদ্ধতিটি বুঝিয়ে বলুন।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কুইজটি শেষে নিন এবং উত্তরগুলো আলোচনা করার আগে শিক্ষার্থীদের উত্তর দিতে দিন।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bn-IN" b="1" dirty="0"/>
              <a:t>বহুনির্বাচনি প্রশ্ন (</a:t>
            </a:r>
            <a:r>
              <a:rPr lang="en-US" b="1" dirty="0"/>
              <a:t>MCQ):</a:t>
            </a:r>
            <a:endParaRPr lang="en-US" dirty="0"/>
          </a:p>
          <a:p>
            <a:r>
              <a:rPr lang="bn-IN" dirty="0"/>
              <a:t>১. নেটওয়ার্ক তৈরি করতে সর্বনিম্ন কয়টি কম্পিউটার প্রয়োজন?</a:t>
            </a:r>
          </a:p>
          <a:p>
            <a:r>
              <a:rPr lang="bn-IN" dirty="0"/>
              <a:t>ক) ১টি</a:t>
            </a:r>
          </a:p>
          <a:p>
            <a:r>
              <a:rPr lang="bn-IN" dirty="0"/>
              <a:t>খ) ২টি</a:t>
            </a:r>
          </a:p>
          <a:p>
            <a:r>
              <a:rPr lang="bn-IN" dirty="0"/>
              <a:t>গ) ৪টি</a:t>
            </a:r>
          </a:p>
          <a:p>
            <a:r>
              <a:rPr lang="bn-IN" dirty="0"/>
              <a:t>ঘ) ১০টি</a:t>
            </a:r>
          </a:p>
          <a:p>
            <a:r>
              <a:rPr lang="bn-IN" dirty="0"/>
              <a:t>২. ক্লায়েন্টকে বিভিন্ন সেবা প্রদানকারী শক্তিশালী কম্পিউটারকে কী বলা হয়?</a:t>
            </a:r>
          </a:p>
          <a:p>
            <a:r>
              <a:rPr lang="bn-IN" dirty="0"/>
              <a:t>ক) ইউজার</a:t>
            </a:r>
          </a:p>
          <a:p>
            <a:r>
              <a:rPr lang="bn-IN" dirty="0"/>
              <a:t>খ) মডেম</a:t>
            </a:r>
          </a:p>
          <a:p>
            <a:r>
              <a:rPr lang="bn-IN" dirty="0"/>
              <a:t>গ) সার্ভার</a:t>
            </a:r>
          </a:p>
          <a:p>
            <a:r>
              <a:rPr lang="bn-IN" dirty="0"/>
              <a:t>ঘ) রিসোর্স</a:t>
            </a:r>
          </a:p>
          <a:p>
            <a:r>
              <a:rPr lang="bn-IN" dirty="0"/>
              <a:t>৩. নেটওয়ার্কের কম্পিউটারগুলো যে ভাষা বা নিয়ম মেনে চলে তাকে কী বলে?</a:t>
            </a:r>
          </a:p>
          <a:p>
            <a:r>
              <a:rPr lang="bn-IN" dirty="0"/>
              <a:t>ক) মিডিয়া</a:t>
            </a:r>
          </a:p>
          <a:p>
            <a:r>
              <a:rPr lang="bn-IN" dirty="0"/>
              <a:t>খ) প্রটোকল</a:t>
            </a:r>
          </a:p>
          <a:p>
            <a:r>
              <a:rPr lang="bn-IN" dirty="0"/>
              <a:t>গ) অ্যাডাপ্টার</a:t>
            </a:r>
          </a:p>
          <a:p>
            <a:r>
              <a:rPr lang="bn-IN" dirty="0"/>
              <a:t>ঘ) হাব</a:t>
            </a:r>
          </a:p>
          <a:p>
            <a:r>
              <a:rPr lang="bn-IN" dirty="0"/>
              <a:t>৪. একটি কম্পিউটারকে নেটওয়ার্কের সাথে যুক্ত করার জন্য কোনটি অবশ্যই প্রয়োজন?</a:t>
            </a:r>
          </a:p>
          <a:p>
            <a:r>
              <a:rPr lang="bn-IN" dirty="0"/>
              <a:t>ক) এনআইসি (</a:t>
            </a:r>
            <a:r>
              <a:rPr lang="en-US" dirty="0"/>
              <a:t>NIC)</a:t>
            </a:r>
          </a:p>
          <a:p>
            <a:r>
              <a:rPr lang="bn-IN" dirty="0"/>
              <a:t>খ) প্রিন্টার</a:t>
            </a:r>
          </a:p>
          <a:p>
            <a:r>
              <a:rPr lang="bn-IN" dirty="0"/>
              <a:t>গ) স্ক্যানার</a:t>
            </a:r>
          </a:p>
          <a:p>
            <a:r>
              <a:rPr lang="bn-IN" dirty="0"/>
              <a:t>ঘ) পেনড্রাইভ</a:t>
            </a:r>
          </a:p>
          <a:p>
            <a:r>
              <a:rPr lang="bn-IN" dirty="0"/>
              <a:t>৫. নিচের কোনটি নেটওয়ার্কের একটি 'রিসোর্স' হতে পারে?</a:t>
            </a:r>
          </a:p>
          <a:p>
            <a:r>
              <a:rPr lang="bn-IN" dirty="0"/>
              <a:t>ক) ইন্টারনেট সংযোগ</a:t>
            </a:r>
          </a:p>
          <a:p>
            <a:r>
              <a:rPr lang="bn-IN" dirty="0"/>
              <a:t>খ) প্রিন্টার</a:t>
            </a:r>
          </a:p>
          <a:p>
            <a:r>
              <a:rPr lang="bn-IN" dirty="0"/>
              <a:t>গ) কোনো সফটওয়্যার</a:t>
            </a:r>
          </a:p>
          <a:p>
            <a:r>
              <a:rPr lang="bn-IN" dirty="0"/>
              <a:t>ঘ) উপরের সবকটি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80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ViXPzoB4Qc?feature=oembed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0322" y="583345"/>
            <a:ext cx="5370268" cy="4164820"/>
          </a:xfrm>
        </p:spPr>
        <p:txBody>
          <a:bodyPr anchor="t">
            <a:normAutofit/>
          </a:bodyPr>
          <a:lstStyle/>
          <a:p>
            <a:pPr algn="r"/>
            <a:r>
              <a:rPr lang="bn-IN" sz="7000">
                <a:solidFill>
                  <a:srgbClr val="FFFFFF"/>
                </a:solidFill>
              </a:rPr>
              <a:t>কম্পিউটার নেটওয়ার্কের ধারণা </a:t>
            </a:r>
            <a:r>
              <a:rPr lang="en-US" sz="700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6171" y="5972174"/>
            <a:ext cx="6434024" cy="504825"/>
          </a:xfrm>
        </p:spPr>
        <p:txBody>
          <a:bodyPr>
            <a:normAutofit/>
          </a:bodyPr>
          <a:lstStyle/>
          <a:p>
            <a:pPr algn="l"/>
            <a:r>
              <a:rPr lang="bn-IN" sz="1700">
                <a:solidFill>
                  <a:srgbClr val="FFFFFF"/>
                </a:solidFill>
              </a:rPr>
              <a:t>অধ্যায় ২ </a:t>
            </a:r>
            <a:r>
              <a:rPr lang="en-US" sz="170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শিখণফল (Learning Objectives)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নেটওয়ার্ক কী তা বোঝা।</a:t>
            </a:r>
          </a:p>
          <a:p>
            <a:r>
              <a:t>নেটওয়ার্কের প্রয়োজনীয় উপাদান চেনা। 🔗</a:t>
            </a:r>
          </a:p>
          <a:p>
            <a:r>
              <a:t>বাস্তব জীবনে নেটওয়ার্কের ব্যবহার দেখা।</a:t>
            </a:r>
          </a:p>
          <a:p>
            <a:r>
              <a:t>ভিডিওর মাধ্যমে ধারণা পরিষ্কার করা।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নেটওয়ার্ক কী? (What is a Network?)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n-IN"/>
              <a:t>সংজ্ঞা: দুই বা ততোধিক কম্পিউটারকে কোনো মাধ্যম (তার বা তারবিহীন) দিয়ে যুক্ত করে তথ্য আদান-প্রদান করার ব্যবস্থাকে নেটওয়ার্ক বলে।</a:t>
            </a:r>
          </a:p>
          <a:p>
            <a:pPr marL="0" indent="0">
              <a:buNone/>
            </a:pPr>
            <a:r>
              <a:rPr lang="bn-IN"/>
              <a:t>উদ্দেশ্য:</a:t>
            </a:r>
          </a:p>
          <a:p>
            <a:pPr marL="0" indent="0">
              <a:buNone/>
            </a:pPr>
            <a:r>
              <a:rPr lang="bn-IN"/>
              <a:t>• তথ্য শেয়ার করা </a:t>
            </a:r>
            <a:r>
              <a:rPr lang="en-US"/>
              <a:t>📂</a:t>
            </a:r>
          </a:p>
          <a:p>
            <a:pPr marL="0" indent="0">
              <a:buNone/>
            </a:pPr>
            <a:r>
              <a:rPr lang="en-US"/>
              <a:t>• </a:t>
            </a:r>
            <a:r>
              <a:rPr lang="bn-IN"/>
              <a:t>রিসোর্স শেয়ার করা </a:t>
            </a:r>
            <a:r>
              <a:rPr lang="en-US"/>
              <a:t>🖨️</a:t>
            </a:r>
          </a:p>
          <a:p>
            <a:pPr marL="0" indent="0">
              <a:buNone/>
            </a:pPr>
            <a:r>
              <a:rPr lang="en-US"/>
              <a:t>• </a:t>
            </a:r>
            <a:r>
              <a:rPr lang="bn-IN"/>
              <a:t>যোগাযোগ সহজ করা </a:t>
            </a:r>
            <a:r>
              <a:rPr lang="en-US"/>
              <a:t>🤝</a:t>
            </a:r>
            <a:endParaRPr lang="en-US" dirty="0"/>
          </a:p>
        </p:txBody>
      </p:sp>
      <p:pic>
        <p:nvPicPr>
          <p:cNvPr id="1026" name="Picture 2" descr="Two Connected Computers Stock Illustrations – 66 Two ...">
            <a:extLst>
              <a:ext uri="{FF2B5EF4-FFF2-40B4-BE49-F238E27FC236}">
                <a16:creationId xmlns:a16="http://schemas.microsoft.com/office/drawing/2014/main" id="{98C1B85D-BA82-FE03-3177-2F004798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175" y="3190020"/>
            <a:ext cx="3614041" cy="283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IN"/>
              <a:t>নেটওয়ার্কের প্রয়োজনীয়তা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n-IN"/>
              <a:t>দ্রুত তথ্য বিনিময় ⚡</a:t>
            </a:r>
          </a:p>
          <a:p>
            <a:r>
              <a:rPr lang="bn-IN"/>
              <a:t>খরচ কমানো (যেমন: একটি প্রিন্টার বা একটি ইন্টারনেট সংযোগ সবাই মিলে ব্যবহার করা)</a:t>
            </a:r>
          </a:p>
          <a:p>
            <a:r>
              <a:rPr lang="bn-IN"/>
              <a:t>দলগত কাজ সহজ করা</a:t>
            </a:r>
          </a:p>
        </p:txBody>
      </p:sp>
      <p:pic>
        <p:nvPicPr>
          <p:cNvPr id="2050" name="Picture 2" descr="Blog - Printer &amp; type of connections. | ACM">
            <a:extLst>
              <a:ext uri="{FF2B5EF4-FFF2-40B4-BE49-F238E27FC236}">
                <a16:creationId xmlns:a16="http://schemas.microsoft.com/office/drawing/2014/main" id="{E11947AF-F4EA-9FE5-DBE2-54F601112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345" y="3972116"/>
            <a:ext cx="6087375" cy="267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নেটওয়ার্কের উপাদান (পার্ট ১)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40280"/>
          </a:xfrm>
        </p:spPr>
        <p:txBody>
          <a:bodyPr>
            <a:normAutofit lnSpcReduction="10000"/>
          </a:bodyPr>
          <a:lstStyle/>
          <a:p>
            <a:r>
              <a:rPr dirty="0" err="1"/>
              <a:t>সার্ভার</a:t>
            </a:r>
            <a:r>
              <a:rPr dirty="0"/>
              <a:t> (Server): </a:t>
            </a:r>
            <a:r>
              <a:rPr dirty="0" err="1"/>
              <a:t>সেবা</a:t>
            </a:r>
            <a:r>
              <a:rPr dirty="0"/>
              <a:t> </a:t>
            </a:r>
            <a:r>
              <a:rPr dirty="0" err="1"/>
              <a:t>প্রদানকারী</a:t>
            </a:r>
            <a:r>
              <a:rPr dirty="0"/>
              <a:t> </a:t>
            </a:r>
            <a:r>
              <a:rPr dirty="0" err="1"/>
              <a:t>শক্তিশালী</a:t>
            </a:r>
            <a:r>
              <a:rPr dirty="0"/>
              <a:t> </a:t>
            </a:r>
            <a:r>
              <a:rPr dirty="0" err="1"/>
              <a:t>কম্পিউটার</a:t>
            </a:r>
            <a:r>
              <a:rPr dirty="0"/>
              <a:t> 🖥️</a:t>
            </a:r>
          </a:p>
          <a:p>
            <a:r>
              <a:rPr dirty="0" err="1"/>
              <a:t>ক্লায়েন্ট</a:t>
            </a:r>
            <a:r>
              <a:rPr dirty="0"/>
              <a:t> (Client): </a:t>
            </a:r>
            <a:r>
              <a:rPr dirty="0" err="1"/>
              <a:t>সার্ভার</a:t>
            </a:r>
            <a:r>
              <a:rPr dirty="0"/>
              <a:t> </a:t>
            </a:r>
            <a:r>
              <a:rPr dirty="0" err="1"/>
              <a:t>থেকে</a:t>
            </a:r>
            <a:r>
              <a:rPr dirty="0"/>
              <a:t> </a:t>
            </a:r>
            <a:r>
              <a:rPr dirty="0" err="1"/>
              <a:t>সেবা</a:t>
            </a:r>
            <a:r>
              <a:rPr dirty="0"/>
              <a:t> </a:t>
            </a:r>
            <a:r>
              <a:rPr dirty="0" err="1"/>
              <a:t>গ্রহণকারী</a:t>
            </a:r>
            <a:r>
              <a:rPr dirty="0"/>
              <a:t> </a:t>
            </a:r>
            <a:r>
              <a:rPr dirty="0" err="1"/>
              <a:t>কম্পিউটার</a:t>
            </a:r>
            <a:r>
              <a:rPr dirty="0"/>
              <a:t> 🖱️</a:t>
            </a:r>
          </a:p>
          <a:p>
            <a:r>
              <a:rPr dirty="0" err="1"/>
              <a:t>মিডিয়া</a:t>
            </a:r>
            <a:r>
              <a:rPr dirty="0"/>
              <a:t> (Media): </a:t>
            </a:r>
            <a:r>
              <a:rPr dirty="0" err="1"/>
              <a:t>সংযোগ</a:t>
            </a:r>
            <a:r>
              <a:rPr dirty="0"/>
              <a:t> </a:t>
            </a:r>
            <a:r>
              <a:rPr dirty="0" err="1"/>
              <a:t>মাধ্যম</a:t>
            </a:r>
            <a:r>
              <a:rPr dirty="0"/>
              <a:t> (</a:t>
            </a:r>
            <a:r>
              <a:rPr dirty="0" err="1"/>
              <a:t>ফাইবার</a:t>
            </a:r>
            <a:r>
              <a:rPr dirty="0"/>
              <a:t>, </a:t>
            </a:r>
            <a:r>
              <a:rPr dirty="0" err="1"/>
              <a:t>ওয়াই-ফাই</a:t>
            </a:r>
            <a:r>
              <a:rPr dirty="0"/>
              <a:t>) 🔌</a:t>
            </a:r>
          </a:p>
          <a:p>
            <a:r>
              <a:rPr dirty="0"/>
              <a:t>NIC: </a:t>
            </a:r>
            <a:r>
              <a:rPr dirty="0" err="1"/>
              <a:t>ল্যান</a:t>
            </a:r>
            <a:r>
              <a:rPr dirty="0"/>
              <a:t> </a:t>
            </a:r>
            <a:r>
              <a:rPr dirty="0" err="1"/>
              <a:t>কার্ড</a:t>
            </a:r>
            <a:r>
              <a:rPr dirty="0"/>
              <a:t> </a:t>
            </a:r>
            <a:r>
              <a:rPr dirty="0" err="1"/>
              <a:t>যা</a:t>
            </a:r>
            <a:r>
              <a:rPr dirty="0"/>
              <a:t> </a:t>
            </a:r>
            <a:r>
              <a:rPr dirty="0" err="1"/>
              <a:t>নেটওয়ার্কে</a:t>
            </a:r>
            <a:r>
              <a:rPr dirty="0"/>
              <a:t> </a:t>
            </a:r>
            <a:r>
              <a:rPr dirty="0" err="1"/>
              <a:t>যুক্ত</a:t>
            </a:r>
            <a:r>
              <a:rPr dirty="0"/>
              <a:t> </a:t>
            </a:r>
            <a:r>
              <a:rPr dirty="0" err="1"/>
              <a:t>করে</a:t>
            </a:r>
            <a:r>
              <a:rPr dirty="0"/>
              <a:t> 💳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3074" name="Picture 2" descr="Client–server model - Wikipedia">
            <a:extLst>
              <a:ext uri="{FF2B5EF4-FFF2-40B4-BE49-F238E27FC236}">
                <a16:creationId xmlns:a16="http://schemas.microsoft.com/office/drawing/2014/main" id="{0D9ECE4B-FE70-5757-F986-F28D274C6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4257674"/>
            <a:ext cx="3876145" cy="232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2,400+ Ethernet Card Stock Photos ...">
            <a:extLst>
              <a:ext uri="{FF2B5EF4-FFF2-40B4-BE49-F238E27FC236}">
                <a16:creationId xmlns:a16="http://schemas.microsoft.com/office/drawing/2014/main" id="{A5934315-B7FE-6687-3A43-637C3AC27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792" y="4560490"/>
            <a:ext cx="2934678" cy="195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নেটওয়ার্কের উপাদান (পার্ট ২)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রিসোর্স (Resource): শেয়ার করা সুবিধা 🖨️</a:t>
            </a:r>
          </a:p>
          <a:p>
            <a:r>
              <a:t>ইউজার (User): নেটওয়ার্ক ব্যবহারকারী 👤</a:t>
            </a:r>
          </a:p>
          <a:p>
            <a:r>
              <a:t>প্রটোকল (Protocol): তথ্য আদান-প্রদানের নিয়ম (HTTP) 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ক্লায়েন্ট–সার্ভার ডায়াগ্রাম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প্রক্রিয়া: ক্লায়েন্ট → রিকোয়েস্ট → সার্ভার → রেসপন্স → ক্লায়েন্ট</a:t>
            </a:r>
          </a:p>
        </p:txBody>
      </p:sp>
      <p:pic>
        <p:nvPicPr>
          <p:cNvPr id="4098" name="Picture 2" descr="Computer Networking">
            <a:extLst>
              <a:ext uri="{FF2B5EF4-FFF2-40B4-BE49-F238E27FC236}">
                <a16:creationId xmlns:a16="http://schemas.microsoft.com/office/drawing/2014/main" id="{D336AAA7-2EC4-8649-D36F-FB4EBDE65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093" y="452945"/>
            <a:ext cx="1941216" cy="78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nline Media 3" title="What is Client and Server? How do clients and servers communicate?">
            <a:hlinkClick r:id="" action="ppaction://media"/>
            <a:extLst>
              <a:ext uri="{FF2B5EF4-FFF2-40B4-BE49-F238E27FC236}">
                <a16:creationId xmlns:a16="http://schemas.microsoft.com/office/drawing/2014/main" id="{892FE2AF-4B03-2AB8-9864-C5FDA7098A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060704" y="2743201"/>
            <a:ext cx="6784848" cy="3832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3F83-6ADA-0FA8-ED6A-E43172FF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IN" dirty="0"/>
              <a:t>নেটওয়ার্ক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1C9A24-2938-B1B0-65C4-8665027A2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33" y="1790380"/>
            <a:ext cx="8781076" cy="421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2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বাস্তব জীবনের উদাহরণ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গুগল সার্চ: মোবাইল = ক্লায়েন্ট, গুগল = সার্ভার</a:t>
            </a:r>
          </a:p>
          <a:p>
            <a:r>
              <a:t>ল্যাবের প্রিন্টার: একটি প্রিন্টার সব কম্পিউটারের সাথে যুক্ত</a:t>
            </a:r>
          </a:p>
          <a:p>
            <a:r>
              <a:t>ওয়াই-ফাই: তারবিহীন নেটওয়ার্ক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সারসংক্ষেপ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নেটওয়ার্ক = সংযোগ + তথ্য বিনিময়</a:t>
            </a:r>
          </a:p>
          <a:p>
            <a:r>
              <a:t>সার্ভার সেবা দেয়, ক্লায়েন্ট সেবা নেয়</a:t>
            </a:r>
          </a:p>
          <a:p>
            <a:r>
              <a:t>রিসোর্স শেয়ারিং খরচ কমায়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কুইজ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১. নেটওয়ার্কে সেবা প্রদানকারী কম্পিউটার কোনটি? 🖥️</a:t>
            </a:r>
          </a:p>
          <a:p>
            <a:r>
              <a:t>২. তার ছাড়া কোন মাধ্যমে নেটওয়ার্ক তৈরি হয়? 📶</a:t>
            </a:r>
          </a:p>
          <a:p>
            <a:r>
              <a:t>৩. নেটওয়ার্কের নিয়ম বা ভাষাকে কী বলা হয়? 📜</a:t>
            </a:r>
          </a:p>
          <a:p>
            <a:r>
              <a:t>৪. NIC-এর পূর্ণরূপ কী? 💳</a:t>
            </a:r>
          </a:p>
          <a:p>
            <a:r>
              <a:t>৫. একটি প্রিন্টার সবাই মিলে ব্যবহার করাকে কী বলে? 🖨️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A077-DCCD-4EA7-E4DB-07A11BEE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066362" cy="673723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bn-IN" dirty="0"/>
              <a:t>হোমওয়ার্ক </a:t>
            </a:r>
          </a:p>
          <a:p>
            <a:pPr marL="0" indent="0">
              <a:buNone/>
            </a:pPr>
            <a:endParaRPr lang="bn-IN" dirty="0"/>
          </a:p>
          <a:p>
            <a:pPr marL="0" indent="0">
              <a:buNone/>
            </a:pPr>
            <a:r>
              <a:rPr lang="bn-IN" dirty="0"/>
              <a:t>১. নেটওয়ার্ক তৈরি করতে সর্বনিম্ন কয়টি কম্পিউটার প্রয়োজন?</a:t>
            </a:r>
          </a:p>
          <a:p>
            <a:pPr marL="0" indent="0">
              <a:buNone/>
            </a:pPr>
            <a:r>
              <a:rPr lang="bn-IN" dirty="0"/>
              <a:t>ক) ১টি</a:t>
            </a:r>
          </a:p>
          <a:p>
            <a:pPr marL="0" indent="0">
              <a:buNone/>
            </a:pPr>
            <a:r>
              <a:rPr lang="bn-IN" dirty="0"/>
              <a:t>খ) ২টি</a:t>
            </a:r>
          </a:p>
          <a:p>
            <a:pPr marL="0" indent="0">
              <a:buNone/>
            </a:pPr>
            <a:r>
              <a:rPr lang="bn-IN" dirty="0"/>
              <a:t>গ) ৪টি</a:t>
            </a:r>
          </a:p>
          <a:p>
            <a:pPr marL="0" indent="0">
              <a:buNone/>
            </a:pPr>
            <a:r>
              <a:rPr lang="bn-IN" dirty="0"/>
              <a:t>ঘ) ১০টি</a:t>
            </a:r>
          </a:p>
          <a:p>
            <a:pPr marL="0" indent="0">
              <a:buNone/>
            </a:pPr>
            <a:endParaRPr lang="bn-IN" dirty="0"/>
          </a:p>
          <a:p>
            <a:pPr marL="0" indent="0">
              <a:buNone/>
            </a:pPr>
            <a:r>
              <a:rPr lang="bn-IN" dirty="0"/>
              <a:t>২. ক্লায়েন্টকে বিভিন্ন সেবা প্রদানকারী শক্তিশালী কম্পিউটারকে কী বলা হয়?</a:t>
            </a:r>
          </a:p>
          <a:p>
            <a:pPr marL="0" indent="0">
              <a:buNone/>
            </a:pPr>
            <a:r>
              <a:rPr lang="bn-IN" dirty="0"/>
              <a:t>ক) ইউজার</a:t>
            </a:r>
          </a:p>
          <a:p>
            <a:pPr marL="0" indent="0">
              <a:buNone/>
            </a:pPr>
            <a:r>
              <a:rPr lang="bn-IN" dirty="0"/>
              <a:t>খ) মডেম</a:t>
            </a:r>
          </a:p>
          <a:p>
            <a:pPr marL="0" indent="0">
              <a:buNone/>
            </a:pPr>
            <a:r>
              <a:rPr lang="bn-IN" dirty="0"/>
              <a:t>গ) সার্ভার</a:t>
            </a:r>
          </a:p>
          <a:p>
            <a:pPr marL="0" indent="0">
              <a:buNone/>
            </a:pPr>
            <a:r>
              <a:rPr lang="bn-IN" dirty="0"/>
              <a:t>ঘ) রিসোর্স</a:t>
            </a:r>
          </a:p>
          <a:p>
            <a:pPr marL="0" indent="0">
              <a:buNone/>
            </a:pPr>
            <a:endParaRPr lang="bn-IN" dirty="0"/>
          </a:p>
          <a:p>
            <a:pPr marL="0" indent="0">
              <a:buNone/>
            </a:pPr>
            <a:r>
              <a:rPr lang="bn-IN" dirty="0"/>
              <a:t>৩. নেটওয়ার্কের কম্পিউটারগুলো যে ভাষা বা নিয়ম মেনে চলে তাকে কী বলে?</a:t>
            </a:r>
          </a:p>
          <a:p>
            <a:pPr marL="0" indent="0">
              <a:buNone/>
            </a:pPr>
            <a:r>
              <a:rPr lang="bn-IN" dirty="0"/>
              <a:t>ক) মিডিয়া</a:t>
            </a:r>
          </a:p>
          <a:p>
            <a:pPr marL="0" indent="0">
              <a:buNone/>
            </a:pPr>
            <a:r>
              <a:rPr lang="bn-IN" dirty="0"/>
              <a:t>খ) প্রটোকল</a:t>
            </a:r>
          </a:p>
          <a:p>
            <a:pPr marL="0" indent="0">
              <a:buNone/>
            </a:pPr>
            <a:r>
              <a:rPr lang="bn-IN" dirty="0"/>
              <a:t>গ) অ্যাডাপ্টার</a:t>
            </a:r>
          </a:p>
          <a:p>
            <a:pPr marL="0" indent="0">
              <a:buNone/>
            </a:pPr>
            <a:r>
              <a:rPr lang="bn-IN" dirty="0"/>
              <a:t>ঘ) হাব</a:t>
            </a:r>
          </a:p>
          <a:p>
            <a:pPr marL="0" indent="0">
              <a:buNone/>
            </a:pPr>
            <a:endParaRPr lang="bn-IN" dirty="0"/>
          </a:p>
          <a:p>
            <a:pPr marL="0" indent="0">
              <a:buNone/>
            </a:pPr>
            <a:r>
              <a:rPr lang="bn-IN" dirty="0"/>
              <a:t>৪. একটি কম্পিউটারকে নেটওয়ার্কের সাথে যুক্ত করার জন্য কোনটি অবশ্যই প্রয়োজন?</a:t>
            </a:r>
          </a:p>
          <a:p>
            <a:pPr marL="0" indent="0">
              <a:buNone/>
            </a:pPr>
            <a:r>
              <a:rPr lang="bn-IN" dirty="0"/>
              <a:t>ক) এনআইসি (</a:t>
            </a:r>
            <a:r>
              <a:rPr lang="en-US" dirty="0"/>
              <a:t>NIC)</a:t>
            </a:r>
          </a:p>
          <a:p>
            <a:pPr marL="0" indent="0">
              <a:buNone/>
            </a:pPr>
            <a:r>
              <a:rPr lang="bn-IN" dirty="0"/>
              <a:t>খ) প্রিন্টার</a:t>
            </a:r>
          </a:p>
          <a:p>
            <a:pPr marL="0" indent="0">
              <a:buNone/>
            </a:pPr>
            <a:r>
              <a:rPr lang="bn-IN" dirty="0"/>
              <a:t>গ) স্ক্যানার</a:t>
            </a:r>
          </a:p>
          <a:p>
            <a:pPr marL="0" indent="0">
              <a:buNone/>
            </a:pPr>
            <a:r>
              <a:rPr lang="bn-IN" dirty="0"/>
              <a:t>ঘ) পেনড্রাইভ</a:t>
            </a:r>
          </a:p>
          <a:p>
            <a:pPr marL="0" indent="0">
              <a:buNone/>
            </a:pPr>
            <a:endParaRPr lang="bn-IN" dirty="0"/>
          </a:p>
          <a:p>
            <a:pPr marL="0" indent="0">
              <a:buNone/>
            </a:pPr>
            <a:r>
              <a:rPr lang="bn-IN" dirty="0"/>
              <a:t>৫. নিচের কোনটি নেটওয়ার্কের একটি 'রিসোর্স' হতে পারে?</a:t>
            </a:r>
          </a:p>
          <a:p>
            <a:pPr marL="0" indent="0">
              <a:buNone/>
            </a:pPr>
            <a:r>
              <a:rPr lang="bn-IN" dirty="0"/>
              <a:t>ক) ইন্টারনেট সংযোগ</a:t>
            </a:r>
          </a:p>
          <a:p>
            <a:pPr marL="0" indent="0">
              <a:buNone/>
            </a:pPr>
            <a:r>
              <a:rPr lang="bn-IN" dirty="0"/>
              <a:t>খ) প্রিন্টার</a:t>
            </a:r>
          </a:p>
          <a:p>
            <a:pPr marL="0" indent="0">
              <a:buNone/>
            </a:pPr>
            <a:r>
              <a:rPr lang="bn-IN" dirty="0"/>
              <a:t>গ) কোনো সফটওয়্যার</a:t>
            </a:r>
          </a:p>
          <a:p>
            <a:pPr marL="0" indent="0">
              <a:buNone/>
            </a:pPr>
            <a:r>
              <a:rPr lang="bn-IN" dirty="0"/>
              <a:t>ঘ) উপরের সবকটি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32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648</Words>
  <Application>Microsoft Office PowerPoint</Application>
  <PresentationFormat>On-screen Show (4:3)</PresentationFormat>
  <Paragraphs>105</Paragraphs>
  <Slides>12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কম্পিউটার নেটওয়ার্কের ধারণা 💻</vt:lpstr>
      <vt:lpstr>শিখণফল (Learning Objectives)</vt:lpstr>
      <vt:lpstr>নেটওয়ার্ক কী? (What is a Network?)</vt:lpstr>
      <vt:lpstr>নেটওয়ার্কের প্রয়োজনীয়তা</vt:lpstr>
      <vt:lpstr>নেটওয়ার্কের উপাদান (পার্ট ১)</vt:lpstr>
      <vt:lpstr>নেটওয়ার্কের উপাদান (পার্ট ২)</vt:lpstr>
      <vt:lpstr>ক্লায়েন্ট–সার্ভার ডায়াগ্রাম</vt:lpstr>
      <vt:lpstr>নেটওয়ার্ক </vt:lpstr>
      <vt:lpstr>বাস্তব জীবনের উদাহরণ</vt:lpstr>
      <vt:lpstr>সারসংক্ষেপ (Summary)</vt:lpstr>
      <vt:lpstr>কুইজ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Rezaur Rahman</dc:creator>
  <cp:keywords/>
  <dc:description>generated using python-pptx</dc:description>
  <cp:lastModifiedBy>Rezaur Rahman</cp:lastModifiedBy>
  <cp:revision>2</cp:revision>
  <dcterms:created xsi:type="dcterms:W3CDTF">2013-01-27T09:14:16Z</dcterms:created>
  <dcterms:modified xsi:type="dcterms:W3CDTF">2026-10-14T17:18:28Z</dcterms:modified>
  <cp:category/>
</cp:coreProperties>
</file>