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5143500" type="screen16x9"/>
  <p:notesSz cx="6858000" cy="9144000"/>
  <p:embeddedFontLst>
    <p:embeddedFont>
      <p:font typeface="Hind Siliguri" panose="02000000000000000000" pitchFamily="2" charset="0"/>
      <p:regular r:id="rId12"/>
      <p:bold r:id="rId13"/>
    </p:embeddedFont>
    <p:embeddedFont>
      <p:font typeface="Hind Siliguri SemiBold" panose="02000000000000000000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FDEAD4-995B-40CD-857C-C42DC9B673C7}" v="4" dt="2026-09-15T03:57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zaur Rahman" userId="3a4486d7030a1889" providerId="LiveId" clId="{D1B430C1-0409-411D-B3DE-A0AB3CF13E85}"/>
    <pc:docChg chg="custSel addSld delSld modSld">
      <pc:chgData name="Rezaur Rahman" userId="3a4486d7030a1889" providerId="LiveId" clId="{D1B430C1-0409-411D-B3DE-A0AB3CF13E85}" dt="2026-09-15T04:49:45.559" v="479" actId="20577"/>
      <pc:docMkLst>
        <pc:docMk/>
      </pc:docMkLst>
      <pc:sldChg chg="delSp mod">
        <pc:chgData name="Rezaur Rahman" userId="3a4486d7030a1889" providerId="LiveId" clId="{D1B430C1-0409-411D-B3DE-A0AB3CF13E85}" dt="2026-09-13T19:50:26.136" v="0" actId="478"/>
        <pc:sldMkLst>
          <pc:docMk/>
          <pc:sldMk cId="0" sldId="262"/>
        </pc:sldMkLst>
      </pc:sldChg>
      <pc:sldChg chg="new">
        <pc:chgData name="Rezaur Rahman" userId="3a4486d7030a1889" providerId="LiveId" clId="{D1B430C1-0409-411D-B3DE-A0AB3CF13E85}" dt="2026-09-15T03:52:52.580" v="1" actId="680"/>
        <pc:sldMkLst>
          <pc:docMk/>
          <pc:sldMk cId="3102128515" sldId="263"/>
        </pc:sldMkLst>
      </pc:sldChg>
      <pc:sldChg chg="add del">
        <pc:chgData name="Rezaur Rahman" userId="3a4486d7030a1889" providerId="LiveId" clId="{D1B430C1-0409-411D-B3DE-A0AB3CF13E85}" dt="2026-09-15T03:53:14.193" v="3" actId="47"/>
        <pc:sldMkLst>
          <pc:docMk/>
          <pc:sldMk cId="1181007650" sldId="264"/>
        </pc:sldMkLst>
      </pc:sldChg>
      <pc:sldChg chg="delSp modSp add mod">
        <pc:chgData name="Rezaur Rahman" userId="3a4486d7030a1889" providerId="LiveId" clId="{D1B430C1-0409-411D-B3DE-A0AB3CF13E85}" dt="2026-09-15T04:49:45.559" v="479" actId="20577"/>
        <pc:sldMkLst>
          <pc:docMk/>
          <pc:sldMk cId="1647582628" sldId="264"/>
        </pc:sldMkLst>
        <pc:spChg chg="del">
          <ac:chgData name="Rezaur Rahman" userId="3a4486d7030a1889" providerId="LiveId" clId="{D1B430C1-0409-411D-B3DE-A0AB3CF13E85}" dt="2026-09-15T03:57:22.660" v="445" actId="478"/>
          <ac:spMkLst>
            <pc:docMk/>
            <pc:sldMk cId="1647582628" sldId="264"/>
            <ac:spMk id="275" creationId="{E75237CC-11CD-5F7E-5A66-765BBE8AC39A}"/>
          </ac:spMkLst>
        </pc:spChg>
        <pc:spChg chg="mod">
          <ac:chgData name="Rezaur Rahman" userId="3a4486d7030a1889" providerId="LiveId" clId="{D1B430C1-0409-411D-B3DE-A0AB3CF13E85}" dt="2026-09-15T03:53:38.559" v="29" actId="20577"/>
          <ac:spMkLst>
            <pc:docMk/>
            <pc:sldMk cId="1647582628" sldId="264"/>
            <ac:spMk id="278" creationId="{F498F3C8-A874-C534-E27B-F8BE969D2FDE}"/>
          </ac:spMkLst>
        </pc:spChg>
        <pc:spChg chg="mod topLvl">
          <ac:chgData name="Rezaur Rahman" userId="3a4486d7030a1889" providerId="LiveId" clId="{D1B430C1-0409-411D-B3DE-A0AB3CF13E85}" dt="2026-09-15T04:49:45.559" v="479" actId="20577"/>
          <ac:spMkLst>
            <pc:docMk/>
            <pc:sldMk cId="1647582628" sldId="264"/>
            <ac:spMk id="280" creationId="{6B5AF929-8F71-C426-AD92-7E8D6E2FE529}"/>
          </ac:spMkLst>
        </pc:spChg>
        <pc:spChg chg="del mod topLvl">
          <ac:chgData name="Rezaur Rahman" userId="3a4486d7030a1889" providerId="LiveId" clId="{D1B430C1-0409-411D-B3DE-A0AB3CF13E85}" dt="2026-09-15T03:54:20.482" v="110" actId="478"/>
          <ac:spMkLst>
            <pc:docMk/>
            <pc:sldMk cId="1647582628" sldId="264"/>
            <ac:spMk id="281" creationId="{28B3F65C-4A00-30DF-E15A-32236068E53E}"/>
          </ac:spMkLst>
        </pc:spChg>
        <pc:grpChg chg="del">
          <ac:chgData name="Rezaur Rahman" userId="3a4486d7030a1889" providerId="LiveId" clId="{D1B430C1-0409-411D-B3DE-A0AB3CF13E85}" dt="2026-09-15T03:54:20.482" v="110" actId="478"/>
          <ac:grpSpMkLst>
            <pc:docMk/>
            <pc:sldMk cId="1647582628" sldId="264"/>
            <ac:grpSpMk id="279" creationId="{8F048F1A-4AD0-1364-8326-45835666AB8E}"/>
          </ac:grpSpMkLst>
        </pc:grpChg>
        <pc:grpChg chg="del">
          <ac:chgData name="Rezaur Rahman" userId="3a4486d7030a1889" providerId="LiveId" clId="{D1B430C1-0409-411D-B3DE-A0AB3CF13E85}" dt="2026-09-15T03:57:11.062" v="444" actId="478"/>
          <ac:grpSpMkLst>
            <pc:docMk/>
            <pc:sldMk cId="1647582628" sldId="264"/>
            <ac:grpSpMk id="282" creationId="{3D777C4A-2A05-86A2-7A9D-0E69784CFCF1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42f193b3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42f193b3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42f193b3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b42f193b3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b42f193b3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b42f193b3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b42f193b3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b42f193b3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b42f193b3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b42f193b3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b42f193b3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b42f193b3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b42f193b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b42f193b3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69E9101D-3D6D-40D8-BF1F-EA90ED00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b42f193b3_5_0:notes">
            <a:extLst>
              <a:ext uri="{FF2B5EF4-FFF2-40B4-BE49-F238E27FC236}">
                <a16:creationId xmlns:a16="http://schemas.microsoft.com/office/drawing/2014/main" id="{25982414-41A7-BB40-1AE5-CD5A673AB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b42f193b3_5_0:notes">
            <a:extLst>
              <a:ext uri="{FF2B5EF4-FFF2-40B4-BE49-F238E27FC236}">
                <a16:creationId xmlns:a16="http://schemas.microsoft.com/office/drawing/2014/main" id="{01B5B0A0-6860-35F2-6A10-0A3D88FBF5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8101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b42f193b3_2_0)">
  <p:cSld name="Generated (g3fb42f193b3_2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aliadanga1.netlify.ap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381000" y="381000"/>
            <a:ext cx="476400" cy="476400"/>
            <a:chOff x="0" y="0"/>
            <a:chExt cx="476400" cy="4764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5400" cy="95400"/>
            </a:xfrm>
            <a:prstGeom prst="ellipse">
              <a:avLst/>
            </a:prstGeom>
            <a:solidFill>
              <a:srgbClr val="4361EE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190500" y="0"/>
              <a:ext cx="95400" cy="95400"/>
            </a:xfrm>
            <a:prstGeom prst="ellipse">
              <a:avLst/>
            </a:prstGeom>
            <a:solidFill>
              <a:srgbClr val="4361EE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381000" y="0"/>
              <a:ext cx="95400" cy="95400"/>
            </a:xfrm>
            <a:prstGeom prst="ellipse">
              <a:avLst/>
            </a:prstGeom>
            <a:solidFill>
              <a:srgbClr val="4361EE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0" y="190500"/>
              <a:ext cx="95400" cy="95400"/>
            </a:xfrm>
            <a:prstGeom prst="ellipse">
              <a:avLst/>
            </a:prstGeom>
            <a:solidFill>
              <a:srgbClr val="4361EE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0" name="Google Shape;60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0500" y="190500"/>
              <a:ext cx="954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190500"/>
              <a:ext cx="954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381000"/>
              <a:ext cx="954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0500" y="381000"/>
              <a:ext cx="954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381000"/>
              <a:ext cx="95400" cy="95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" name="Google Shape;65;p14"/>
          <p:cNvGrpSpPr/>
          <p:nvPr/>
        </p:nvGrpSpPr>
        <p:grpSpPr>
          <a:xfrm>
            <a:off x="8286750" y="4286250"/>
            <a:ext cx="476400" cy="476400"/>
            <a:chOff x="0" y="0"/>
            <a:chExt cx="476400" cy="476400"/>
          </a:xfrm>
        </p:grpSpPr>
        <p:sp>
          <p:nvSpPr>
            <p:cNvPr id="66" name="Google Shape;66;p14"/>
            <p:cNvSpPr/>
            <p:nvPr/>
          </p:nvSpPr>
          <p:spPr>
            <a:xfrm>
              <a:off x="0" y="0"/>
              <a:ext cx="95400" cy="95400"/>
            </a:xfrm>
            <a:prstGeom prst="ellipse">
              <a:avLst/>
            </a:prstGeom>
            <a:solidFill>
              <a:srgbClr val="4361EE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190500" y="0"/>
              <a:ext cx="95400" cy="95400"/>
            </a:xfrm>
            <a:prstGeom prst="ellipse">
              <a:avLst/>
            </a:prstGeom>
            <a:solidFill>
              <a:srgbClr val="4361EE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381000" y="0"/>
              <a:ext cx="95400" cy="95400"/>
            </a:xfrm>
            <a:prstGeom prst="ellipse">
              <a:avLst/>
            </a:prstGeom>
            <a:solidFill>
              <a:srgbClr val="4361EE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0" y="190500"/>
              <a:ext cx="95400" cy="95400"/>
            </a:xfrm>
            <a:prstGeom prst="ellipse">
              <a:avLst/>
            </a:prstGeom>
            <a:solidFill>
              <a:srgbClr val="4361EE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0" name="Google Shape;70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0500" y="190500"/>
              <a:ext cx="954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190500"/>
              <a:ext cx="954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381000"/>
              <a:ext cx="954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0500" y="381000"/>
              <a:ext cx="954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381000"/>
              <a:ext cx="95400" cy="95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" name="Google Shape;75;p14"/>
          <p:cNvSpPr/>
          <p:nvPr/>
        </p:nvSpPr>
        <p:spPr>
          <a:xfrm>
            <a:off x="7620000" y="-1524000"/>
            <a:ext cx="3048000" cy="3048000"/>
          </a:xfrm>
          <a:prstGeom prst="ellipse">
            <a:avLst/>
          </a:prstGeom>
          <a:solidFill>
            <a:srgbClr val="4361EE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-2095500" y="3048000"/>
            <a:ext cx="4191000" cy="4191000"/>
          </a:xfrm>
          <a:prstGeom prst="ellipse">
            <a:avLst/>
          </a:prstGeom>
          <a:solidFill>
            <a:srgbClr val="FCA311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" name="Google Shape;77;p14"/>
          <p:cNvGrpSpPr/>
          <p:nvPr/>
        </p:nvGrpSpPr>
        <p:grpSpPr>
          <a:xfrm>
            <a:off x="4381500" y="190500"/>
            <a:ext cx="381000" cy="266700"/>
            <a:chOff x="0" y="0"/>
            <a:chExt cx="381000" cy="266700"/>
          </a:xfrm>
        </p:grpSpPr>
        <p:sp>
          <p:nvSpPr>
            <p:cNvPr id="78" name="Google Shape;78;p14"/>
            <p:cNvSpPr/>
            <p:nvPr/>
          </p:nvSpPr>
          <p:spPr>
            <a:xfrm>
              <a:off x="0" y="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4361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0" y="38100"/>
              <a:ext cx="381000" cy="133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114300" y="57150"/>
              <a:ext cx="152400" cy="152400"/>
            </a:xfrm>
            <a:prstGeom prst="ellipse">
              <a:avLst/>
            </a:prstGeom>
            <a:solidFill>
              <a:srgbClr val="FCA3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14"/>
          <p:cNvSpPr/>
          <p:nvPr/>
        </p:nvSpPr>
        <p:spPr>
          <a:xfrm>
            <a:off x="952500" y="523875"/>
            <a:ext cx="72390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 cap="flat" cmpd="sng">
            <a:solidFill>
              <a:srgbClr val="4361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1047750" y="571500"/>
            <a:ext cx="70485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3A0CA3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ইলেকট্রনিক মেইল (E-mail) ✉️</a:t>
            </a:r>
            <a:endParaRPr sz="3200" b="1">
              <a:solidFill>
                <a:srgbClr val="3A0CA3"/>
              </a:solidFill>
              <a:latin typeface="Hind Siliguri"/>
              <a:ea typeface="Hind Siliguri"/>
              <a:cs typeface="Hind Siliguri"/>
              <a:sym typeface="Hind Siliguri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000" b="0">
                <a:solidFill>
                  <a:srgbClr val="4361EE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rPr>
              <a:t>অষ্টম শ্রেণি — তথ্য ও যোগাযোগ প্রযুক্তি</a:t>
            </a:r>
            <a:endParaRPr sz="2000" b="0">
              <a:solidFill>
                <a:srgbClr val="4361EE"/>
              </a:solidFill>
              <a:latin typeface="Hind Siliguri SemiBold"/>
              <a:ea typeface="Hind Siliguri SemiBold"/>
              <a:cs typeface="Hind Siliguri SemiBold"/>
              <a:sym typeface="Hind Siliguri SemiBold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1924050" y="1876425"/>
            <a:ext cx="5295900" cy="3029100"/>
          </a:xfrm>
          <a:prstGeom prst="roundRect">
            <a:avLst>
              <a:gd name="adj" fmla="val 5031"/>
            </a:avLst>
          </a:prstGeom>
          <a:solidFill>
            <a:srgbClr val="4361EE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14"/>
          <p:cNvPicPr preferRelativeResize="0"/>
          <p:nvPr/>
        </p:nvPicPr>
        <p:blipFill rotWithShape="1">
          <a:blip r:embed="rId4">
            <a:alphaModFix/>
          </a:blip>
          <a:srcRect l="40" r="40"/>
          <a:stretch/>
        </p:blipFill>
        <p:spPr>
          <a:xfrm>
            <a:off x="2000250" y="1952625"/>
            <a:ext cx="514350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0" name="Google Shape;90;p15"/>
            <p:cNvSpPr/>
            <p:nvPr/>
          </p:nvSpPr>
          <p:spPr>
            <a:xfrm>
              <a:off x="0" y="0"/>
              <a:ext cx="4572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4572000" y="0"/>
              <a:ext cx="4572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4361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" name="Google Shape;93;p15"/>
            <p:cNvGrpSpPr/>
            <p:nvPr/>
          </p:nvGrpSpPr>
          <p:grpSpPr>
            <a:xfrm>
              <a:off x="285750" y="209550"/>
              <a:ext cx="342900" cy="247800"/>
              <a:chOff x="0" y="0"/>
              <a:chExt cx="342900" cy="247800"/>
            </a:xfrm>
          </p:grpSpPr>
          <p:sp>
            <p:nvSpPr>
              <p:cNvPr id="94" name="Google Shape;94;p15"/>
              <p:cNvSpPr/>
              <p:nvPr/>
            </p:nvSpPr>
            <p:spPr>
              <a:xfrm>
                <a:off x="0" y="0"/>
                <a:ext cx="342900" cy="247800"/>
              </a:xfrm>
              <a:prstGeom prst="roundRect">
                <a:avLst>
                  <a:gd name="adj" fmla="val 15384"/>
                </a:avLst>
              </a:prstGeom>
              <a:solidFill>
                <a:srgbClr val="4361E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0" y="38100"/>
                <a:ext cx="342900" cy="1239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38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114300" y="66675"/>
                <a:ext cx="114300" cy="114300"/>
              </a:xfrm>
              <a:prstGeom prst="ellipse">
                <a:avLst/>
              </a:prstGeom>
              <a:solidFill>
                <a:srgbClr val="FCA3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" name="Google Shape;97;p15"/>
            <p:cNvGrpSpPr/>
            <p:nvPr/>
          </p:nvGrpSpPr>
          <p:grpSpPr>
            <a:xfrm>
              <a:off x="4010025" y="247650"/>
              <a:ext cx="361950" cy="219075"/>
              <a:chOff x="9525" y="9525"/>
              <a:chExt cx="361950" cy="219075"/>
            </a:xfrm>
          </p:grpSpPr>
          <p:sp>
            <p:nvSpPr>
              <p:cNvPr id="98" name="Google Shape;98;p15"/>
              <p:cNvSpPr/>
              <p:nvPr/>
            </p:nvSpPr>
            <p:spPr>
              <a:xfrm>
                <a:off x="9525" y="9525"/>
                <a:ext cx="76200" cy="76200"/>
              </a:xfrm>
              <a:prstGeom prst="ellipse">
                <a:avLst/>
              </a:prstGeom>
              <a:solidFill>
                <a:srgbClr val="4361EE">
                  <a:alpha val="12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152400" y="9525"/>
                <a:ext cx="76200" cy="76200"/>
              </a:xfrm>
              <a:prstGeom prst="ellipse">
                <a:avLst/>
              </a:prstGeom>
              <a:solidFill>
                <a:srgbClr val="4361EE">
                  <a:alpha val="12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295275" y="9525"/>
                <a:ext cx="76200" cy="76200"/>
              </a:xfrm>
              <a:prstGeom prst="ellipse">
                <a:avLst/>
              </a:prstGeom>
              <a:solidFill>
                <a:srgbClr val="4361EE">
                  <a:alpha val="12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9525" y="152400"/>
                <a:ext cx="76200" cy="76200"/>
              </a:xfrm>
              <a:prstGeom prst="ellipse">
                <a:avLst/>
              </a:prstGeom>
              <a:solidFill>
                <a:srgbClr val="4361EE">
                  <a:alpha val="12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152400" y="152400"/>
                <a:ext cx="76200" cy="76200"/>
              </a:xfrm>
              <a:prstGeom prst="ellipse">
                <a:avLst/>
              </a:prstGeom>
              <a:solidFill>
                <a:srgbClr val="4361EE">
                  <a:alpha val="12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295275" y="152400"/>
                <a:ext cx="76200" cy="76200"/>
              </a:xfrm>
              <a:prstGeom prst="ellipse">
                <a:avLst/>
              </a:prstGeom>
              <a:solidFill>
                <a:srgbClr val="4361EE">
                  <a:alpha val="12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" name="Google Shape;104;p15"/>
            <p:cNvGrpSpPr/>
            <p:nvPr/>
          </p:nvGrpSpPr>
          <p:grpSpPr>
            <a:xfrm>
              <a:off x="4676775" y="4629150"/>
              <a:ext cx="361950" cy="219075"/>
              <a:chOff x="9525" y="9525"/>
              <a:chExt cx="361950" cy="219075"/>
            </a:xfrm>
          </p:grpSpPr>
          <p:sp>
            <p:nvSpPr>
              <p:cNvPr id="105" name="Google Shape;105;p15"/>
              <p:cNvSpPr/>
              <p:nvPr/>
            </p:nvSpPr>
            <p:spPr>
              <a:xfrm>
                <a:off x="9525" y="9525"/>
                <a:ext cx="76200" cy="76200"/>
              </a:xfrm>
              <a:prstGeom prst="ellipse">
                <a:avLst/>
              </a:prstGeom>
              <a:solidFill>
                <a:srgbClr val="4361EE">
                  <a:alpha val="12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152400" y="9525"/>
                <a:ext cx="76200" cy="76200"/>
              </a:xfrm>
              <a:prstGeom prst="ellipse">
                <a:avLst/>
              </a:prstGeom>
              <a:solidFill>
                <a:srgbClr val="4361EE">
                  <a:alpha val="12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295275" y="9525"/>
                <a:ext cx="76200" cy="76200"/>
              </a:xfrm>
              <a:prstGeom prst="ellipse">
                <a:avLst/>
              </a:prstGeom>
              <a:solidFill>
                <a:srgbClr val="4361EE">
                  <a:alpha val="12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9525" y="152400"/>
                <a:ext cx="76200" cy="76200"/>
              </a:xfrm>
              <a:prstGeom prst="ellipse">
                <a:avLst/>
              </a:prstGeom>
              <a:solidFill>
                <a:srgbClr val="4361EE">
                  <a:alpha val="12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152400" y="152400"/>
                <a:ext cx="76200" cy="76200"/>
              </a:xfrm>
              <a:prstGeom prst="ellipse">
                <a:avLst/>
              </a:prstGeom>
              <a:solidFill>
                <a:srgbClr val="4361EE">
                  <a:alpha val="12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295275" y="152400"/>
                <a:ext cx="76200" cy="76200"/>
              </a:xfrm>
              <a:prstGeom prst="ellipse">
                <a:avLst/>
              </a:prstGeom>
              <a:solidFill>
                <a:srgbClr val="4361EE">
                  <a:alpha val="12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1" name="Google Shape;111;p15"/>
          <p:cNvSpPr txBox="1"/>
          <p:nvPr/>
        </p:nvSpPr>
        <p:spPr>
          <a:xfrm>
            <a:off x="714375" y="152400"/>
            <a:ext cx="81438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3A0CA3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ই-মেইল (E-mail) : ডিজিটাল যোগাযোগ মাধ্যম</a:t>
            </a:r>
            <a:endParaRPr sz="2200" b="1">
              <a:solidFill>
                <a:srgbClr val="3A0CA3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grpSp>
        <p:nvGrpSpPr>
          <p:cNvPr id="112" name="Google Shape;112;p15"/>
          <p:cNvGrpSpPr/>
          <p:nvPr/>
        </p:nvGrpSpPr>
        <p:grpSpPr>
          <a:xfrm>
            <a:off x="285750" y="714375"/>
            <a:ext cx="4038600" cy="4134000"/>
            <a:chOff x="0" y="0"/>
            <a:chExt cx="4038600" cy="4134000"/>
          </a:xfrm>
        </p:grpSpPr>
        <p:sp>
          <p:nvSpPr>
            <p:cNvPr id="113" name="Google Shape;113;p15"/>
            <p:cNvSpPr/>
            <p:nvPr/>
          </p:nvSpPr>
          <p:spPr>
            <a:xfrm>
              <a:off x="38100" y="38100"/>
              <a:ext cx="4000500" cy="4095900"/>
            </a:xfrm>
            <a:prstGeom prst="roundRect">
              <a:avLst>
                <a:gd name="adj" fmla="val 3333"/>
              </a:avLst>
            </a:prstGeom>
            <a:solidFill>
              <a:srgbClr val="3A0CA3">
                <a:alpha val="6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0" y="0"/>
              <a:ext cx="4000500" cy="40959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0" y="0"/>
              <a:ext cx="4000500" cy="133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cubicBezTo>
                    <a:pt x="0" y="51429"/>
                    <a:pt x="1714" y="0"/>
                    <a:pt x="4000" y="0"/>
                  </a:cubicBezTo>
                  <a:lnTo>
                    <a:pt x="116000" y="0"/>
                  </a:lnTo>
                  <a:cubicBezTo>
                    <a:pt x="118286" y="0"/>
                    <a:pt x="120000" y="51429"/>
                    <a:pt x="120000" y="120000"/>
                  </a:cubicBezTo>
                  <a:lnTo>
                    <a:pt x="120000" y="68571"/>
                  </a:lnTo>
                  <a:lnTo>
                    <a:pt x="0" y="68571"/>
                  </a:lnTo>
                  <a:close/>
                </a:path>
              </a:pathLst>
            </a:custGeom>
            <a:solidFill>
              <a:srgbClr val="4361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228600" y="228600"/>
              <a:ext cx="3543300" cy="36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ই-মেইল এর ধারণা ও গুরুত্ব</a:t>
              </a:r>
              <a:endParaRPr sz="1700" b="1">
                <a:solidFill>
                  <a:srgbClr val="3A0CA3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4361EE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ই-মেইল (Electronic Mail)</a:t>
              </a:r>
              <a:r>
                <a:rPr lang="en" sz="135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 হলো ইন্টারনেটের মাধ্যমে খুব দ্রুত ও নিরাপদে বার্তা, ছবি বা যেকোনো ডিজিটাল ফাইল পাঠানোর একটি আধুনিক মাধ্যম।</a:t>
              </a:r>
              <a:endParaRPr sz="1350" b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250" b="0">
                  <a:solidFill>
                    <a:srgbClr val="2B2D42"/>
                  </a:solidFill>
                  <a:highlight>
                    <a:srgbClr val="F8F9FA"/>
                  </a:highlight>
                  <a:latin typeface="Hind Siliguri"/>
                  <a:ea typeface="Hind Siliguri"/>
                  <a:cs typeface="Hind Siliguri"/>
                  <a:sym typeface="Hind Siliguri"/>
                </a:rPr>
                <a:t>আগের দিনে চিঠি পাঠাতে ডাকঘরের প্রয়োজন হতো, বর্তমান যুগে ই-মেইল হলো সেই </a:t>
              </a:r>
              <a:r>
                <a:rPr lang="en" sz="1250" b="1">
                  <a:solidFill>
                    <a:srgbClr val="3A0CA3"/>
                  </a:solidFill>
                  <a:highlight>
                    <a:srgbClr val="F8F9FA"/>
                  </a:highlight>
                  <a:latin typeface="Hind Siliguri"/>
                  <a:ea typeface="Hind Siliguri"/>
                  <a:cs typeface="Hind Siliguri"/>
                  <a:sym typeface="Hind Siliguri"/>
                </a:rPr>
                <a:t>ডিজিটাল ডাকঘর</a:t>
              </a:r>
              <a:r>
                <a:rPr lang="en" sz="1250" b="0">
                  <a:solidFill>
                    <a:srgbClr val="2B2D42"/>
                  </a:solidFill>
                  <a:highlight>
                    <a:srgbClr val="F8F9FA"/>
                  </a:highlight>
                  <a:latin typeface="Hind Siliguri"/>
                  <a:ea typeface="Hind Siliguri"/>
                  <a:cs typeface="Hind Siliguri"/>
                  <a:sym typeface="Hind Siliguri"/>
                </a:rPr>
                <a:t> যা মুহূর্তেই তথ্য পৌঁছে দেয়।</a:t>
              </a:r>
              <a:endParaRPr sz="1250" b="0">
                <a:solidFill>
                  <a:srgbClr val="2B2D42"/>
                </a:solidFill>
                <a:highlight>
                  <a:srgbClr val="F8F9FA"/>
                </a:highlight>
                <a:latin typeface="Hind Siliguri"/>
                <a:ea typeface="Hind Siliguri"/>
                <a:cs typeface="Hind Siliguri"/>
                <a:sym typeface="Hind Siliguri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35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বর্তমানে ই-মেইল ঠিকানা কেবল যোগাযোগের মাধ্যম নয়, এটি আমাদের </a:t>
              </a:r>
              <a:r>
                <a:rPr lang="en" sz="1350" b="1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ব্যক্তিগত পরিচয়ের অংশ</a:t>
              </a:r>
              <a:r>
                <a:rPr lang="en" sz="135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। যেকোনো শিক্ষাপ্রতিষ্ঠান, ব্যাংক, চাকরির আবেদন বা সোশ্যাল মিডিয়া অ্যাকাউন্ট খুলতে ই-মেইল অপরিহার্য।</a:t>
              </a:r>
              <a:endParaRPr sz="1350" b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4667250" y="714375"/>
            <a:ext cx="4191000" cy="3543450"/>
            <a:chOff x="0" y="0"/>
            <a:chExt cx="4191000" cy="3543450"/>
          </a:xfrm>
        </p:grpSpPr>
        <p:sp>
          <p:nvSpPr>
            <p:cNvPr id="118" name="Google Shape;118;p15"/>
            <p:cNvSpPr txBox="1"/>
            <p:nvPr/>
          </p:nvSpPr>
          <p:spPr>
            <a:xfrm>
              <a:off x="0" y="0"/>
              <a:ext cx="4191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ই-মেইল আদান-প্রদান প্রক্রিয়া (Flowchart)</a:t>
              </a:r>
              <a:endParaRPr sz="1800" b="1">
                <a:solidFill>
                  <a:srgbClr val="3A0CA3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  <p:grpSp>
          <p:nvGrpSpPr>
            <p:cNvPr id="119" name="Google Shape;119;p15"/>
            <p:cNvGrpSpPr/>
            <p:nvPr/>
          </p:nvGrpSpPr>
          <p:grpSpPr>
            <a:xfrm>
              <a:off x="0" y="400050"/>
              <a:ext cx="4191000" cy="857400"/>
              <a:chOff x="0" y="0"/>
              <a:chExt cx="4191000" cy="857400"/>
            </a:xfrm>
          </p:grpSpPr>
          <p:sp>
            <p:nvSpPr>
              <p:cNvPr id="120" name="Google Shape;120;p15"/>
              <p:cNvSpPr/>
              <p:nvPr/>
            </p:nvSpPr>
            <p:spPr>
              <a:xfrm>
                <a:off x="0" y="0"/>
                <a:ext cx="4191000" cy="8574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9050" cap="flat" cmpd="sng">
                <a:solidFill>
                  <a:srgbClr val="4361E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180975" y="180975"/>
                <a:ext cx="495300" cy="495300"/>
              </a:xfrm>
              <a:prstGeom prst="ellipse">
                <a:avLst/>
              </a:prstGeom>
              <a:solidFill>
                <a:srgbClr val="4361E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2" name="Google Shape;122;p15"/>
              <p:cNvGrpSpPr/>
              <p:nvPr/>
            </p:nvGrpSpPr>
            <p:grpSpPr>
              <a:xfrm>
                <a:off x="285750" y="352425"/>
                <a:ext cx="285900" cy="161925"/>
                <a:chOff x="9525" y="57150"/>
                <a:chExt cx="285900" cy="161925"/>
              </a:xfrm>
            </p:grpSpPr>
            <p:sp>
              <p:nvSpPr>
                <p:cNvPr id="123" name="Google Shape;123;p15"/>
                <p:cNvSpPr/>
                <p:nvPr/>
              </p:nvSpPr>
              <p:spPr>
                <a:xfrm>
                  <a:off x="38100" y="57150"/>
                  <a:ext cx="228600" cy="1428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00000">
                    <a:alpha val="0"/>
                  </a:srgbClr>
                </a:solidFill>
                <a:ln w="1905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124;p15"/>
                <p:cNvSpPr/>
                <p:nvPr/>
              </p:nvSpPr>
              <p:spPr>
                <a:xfrm>
                  <a:off x="9525" y="219075"/>
                  <a:ext cx="28590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fill="none" extrusionOk="0">
                      <a:moveTo>
                        <a:pt x="0" y="0"/>
                      </a:moveTo>
                      <a:lnTo>
                        <a:pt x="120000" y="0"/>
                      </a:lnTo>
                    </a:path>
                  </a:pathLst>
                </a:custGeom>
                <a:solidFill>
                  <a:srgbClr val="FFFFFF"/>
                </a:solidFill>
                <a:ln w="2382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15"/>
                <p:cNvSpPr/>
                <p:nvPr/>
              </p:nvSpPr>
              <p:spPr>
                <a:xfrm>
                  <a:off x="95250" y="123825"/>
                  <a:ext cx="1143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60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4300" cap="flat" cmpd="sng">
                  <a:solidFill>
                    <a:srgbClr val="FCA31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6" name="Google Shape;126;p15"/>
              <p:cNvSpPr txBox="1"/>
              <p:nvPr/>
            </p:nvSpPr>
            <p:spPr>
              <a:xfrm>
                <a:off x="809625" y="142875"/>
                <a:ext cx="3238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 b="1">
                    <a:solidFill>
                      <a:srgbClr val="4361EE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১. প্রেরক (Sender)</a:t>
                </a:r>
                <a:endParaRPr sz="1500" b="1">
                  <a:solidFill>
                    <a:srgbClr val="4361EE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2B2D42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ইন্টারনেট ব্যবহার করে বার্তা বা ফাইল তৈরি করে পাঠান</a:t>
                </a:r>
                <a:endParaRPr sz="12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</p:grpSp>
        <p:grpSp>
          <p:nvGrpSpPr>
            <p:cNvPr id="127" name="Google Shape;127;p15"/>
            <p:cNvGrpSpPr/>
            <p:nvPr/>
          </p:nvGrpSpPr>
          <p:grpSpPr>
            <a:xfrm>
              <a:off x="2038350" y="1257300"/>
              <a:ext cx="114300" cy="247650"/>
              <a:chOff x="-57150" y="0"/>
              <a:chExt cx="114300" cy="247650"/>
            </a:xfrm>
          </p:grpSpPr>
          <p:pic>
            <p:nvPicPr>
              <p:cNvPr id="128" name="Google Shape;128;p1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-14287" y="0"/>
                <a:ext cx="285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" name="Google Shape;129;p15"/>
              <p:cNvSpPr/>
              <p:nvPr/>
            </p:nvSpPr>
            <p:spPr>
              <a:xfrm>
                <a:off x="-57150" y="1714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4361E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15"/>
            <p:cNvGrpSpPr/>
            <p:nvPr/>
          </p:nvGrpSpPr>
          <p:grpSpPr>
            <a:xfrm>
              <a:off x="0" y="1543050"/>
              <a:ext cx="4191000" cy="857400"/>
              <a:chOff x="0" y="0"/>
              <a:chExt cx="4191000" cy="857400"/>
            </a:xfrm>
          </p:grpSpPr>
          <p:sp>
            <p:nvSpPr>
              <p:cNvPr id="131" name="Google Shape;131;p15"/>
              <p:cNvSpPr/>
              <p:nvPr/>
            </p:nvSpPr>
            <p:spPr>
              <a:xfrm>
                <a:off x="0" y="0"/>
                <a:ext cx="4191000" cy="857400"/>
              </a:xfrm>
              <a:prstGeom prst="roundRect">
                <a:avLst>
                  <a:gd name="adj" fmla="val 13333"/>
                </a:avLst>
              </a:prstGeom>
              <a:solidFill>
                <a:srgbClr val="4361E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180975" y="180975"/>
                <a:ext cx="495300" cy="495300"/>
              </a:xfrm>
              <a:prstGeom prst="ellipse">
                <a:avLst/>
              </a:prstGeom>
              <a:solidFill>
                <a:srgbClr val="FCA3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3" name="Google Shape;133;p15"/>
              <p:cNvGrpSpPr/>
              <p:nvPr/>
            </p:nvGrpSpPr>
            <p:grpSpPr>
              <a:xfrm>
                <a:off x="314325" y="314325"/>
                <a:ext cx="228600" cy="228600"/>
                <a:chOff x="38100" y="38100"/>
                <a:chExt cx="228600" cy="228600"/>
              </a:xfrm>
            </p:grpSpPr>
            <p:sp>
              <p:nvSpPr>
                <p:cNvPr id="134" name="Google Shape;134;p15"/>
                <p:cNvSpPr/>
                <p:nvPr/>
              </p:nvSpPr>
              <p:spPr>
                <a:xfrm>
                  <a:off x="38100" y="38100"/>
                  <a:ext cx="228600" cy="228600"/>
                </a:xfrm>
                <a:prstGeom prst="ellipse">
                  <a:avLst/>
                </a:prstGeom>
                <a:solidFill>
                  <a:srgbClr val="000000">
                    <a:alpha val="0"/>
                  </a:srgbClr>
                </a:solidFill>
                <a:ln w="1905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" name="Google Shape;135;p15"/>
                <p:cNvSpPr/>
                <p:nvPr/>
              </p:nvSpPr>
              <p:spPr>
                <a:xfrm>
                  <a:off x="38100" y="152400"/>
                  <a:ext cx="22860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fill="none" extrusionOk="0">
                      <a:moveTo>
                        <a:pt x="0" y="0"/>
                      </a:moveTo>
                      <a:lnTo>
                        <a:pt x="120000" y="0"/>
                      </a:lnTo>
                    </a:path>
                  </a:pathLst>
                </a:custGeom>
                <a:solidFill>
                  <a:srgbClr val="FFFFFF"/>
                </a:solidFill>
                <a:ln w="143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" name="Google Shape;136;p15"/>
                <p:cNvSpPr/>
                <p:nvPr/>
              </p:nvSpPr>
              <p:spPr>
                <a:xfrm>
                  <a:off x="104775" y="38100"/>
                  <a:ext cx="954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60000" y="0"/>
                      </a:moveTo>
                      <a:cubicBezTo>
                        <a:pt x="120000" y="20000"/>
                        <a:pt x="120000" y="100000"/>
                        <a:pt x="60000" y="120000"/>
                      </a:cubicBezTo>
                      <a:cubicBezTo>
                        <a:pt x="0" y="100000"/>
                        <a:pt x="0" y="20000"/>
                        <a:pt x="6000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43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7" name="Google Shape;137;p15"/>
              <p:cNvSpPr txBox="1"/>
              <p:nvPr/>
            </p:nvSpPr>
            <p:spPr>
              <a:xfrm>
                <a:off x="809625" y="142875"/>
                <a:ext cx="3238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 b="1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২. ইন্টারনেট (Internet)</a:t>
                </a:r>
                <a:endParaRPr sz="1500" b="1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F8F9FA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ডিজিটাল নেটওয়ার্কের মাধ্যমে দ্রুত ডেটা স্থানান্তর করে</a:t>
                </a:r>
                <a:endParaRPr sz="1200" b="0">
                  <a:solidFill>
                    <a:srgbClr val="F8F9FA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</p:grpSp>
        <p:grpSp>
          <p:nvGrpSpPr>
            <p:cNvPr id="138" name="Google Shape;138;p15"/>
            <p:cNvGrpSpPr/>
            <p:nvPr/>
          </p:nvGrpSpPr>
          <p:grpSpPr>
            <a:xfrm>
              <a:off x="2038350" y="2400300"/>
              <a:ext cx="114300" cy="247650"/>
              <a:chOff x="-57150" y="0"/>
              <a:chExt cx="114300" cy="247650"/>
            </a:xfrm>
          </p:grpSpPr>
          <p:pic>
            <p:nvPicPr>
              <p:cNvPr id="139" name="Google Shape;139;p1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4287" y="0"/>
                <a:ext cx="285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0" name="Google Shape;140;p15"/>
              <p:cNvSpPr/>
              <p:nvPr/>
            </p:nvSpPr>
            <p:spPr>
              <a:xfrm>
                <a:off x="-57150" y="1714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2DC65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" name="Google Shape;141;p15"/>
            <p:cNvGrpSpPr/>
            <p:nvPr/>
          </p:nvGrpSpPr>
          <p:grpSpPr>
            <a:xfrm>
              <a:off x="0" y="2686050"/>
              <a:ext cx="4191000" cy="857400"/>
              <a:chOff x="0" y="0"/>
              <a:chExt cx="4191000" cy="857400"/>
            </a:xfrm>
          </p:grpSpPr>
          <p:sp>
            <p:nvSpPr>
              <p:cNvPr id="142" name="Google Shape;142;p15"/>
              <p:cNvSpPr/>
              <p:nvPr/>
            </p:nvSpPr>
            <p:spPr>
              <a:xfrm>
                <a:off x="0" y="0"/>
                <a:ext cx="4191000" cy="8574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9050" cap="flat" cmpd="sng">
                <a:solidFill>
                  <a:srgbClr val="2DC65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180975" y="180975"/>
                <a:ext cx="495300" cy="495300"/>
              </a:xfrm>
              <a:prstGeom prst="ellipse">
                <a:avLst/>
              </a:prstGeom>
              <a:solidFill>
                <a:srgbClr val="2DC65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4" name="Google Shape;144;p15"/>
              <p:cNvGrpSpPr/>
              <p:nvPr/>
            </p:nvGrpSpPr>
            <p:grpSpPr>
              <a:xfrm>
                <a:off x="352425" y="314325"/>
                <a:ext cx="152400" cy="228600"/>
                <a:chOff x="76200" y="38100"/>
                <a:chExt cx="152400" cy="228600"/>
              </a:xfrm>
            </p:grpSpPr>
            <p:sp>
              <p:nvSpPr>
                <p:cNvPr id="145" name="Google Shape;145;p15"/>
                <p:cNvSpPr/>
                <p:nvPr/>
              </p:nvSpPr>
              <p:spPr>
                <a:xfrm>
                  <a:off x="76200" y="38100"/>
                  <a:ext cx="152400" cy="228600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000000">
                    <a:alpha val="0"/>
                  </a:srgbClr>
                </a:solidFill>
                <a:ln w="1905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146;p15"/>
                <p:cNvSpPr/>
                <p:nvPr/>
              </p:nvSpPr>
              <p:spPr>
                <a:xfrm>
                  <a:off x="142875" y="219075"/>
                  <a:ext cx="19200" cy="192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" name="Google Shape;147;p15"/>
                <p:cNvSpPr/>
                <p:nvPr/>
              </p:nvSpPr>
              <p:spPr>
                <a:xfrm>
                  <a:off x="104775" y="95250"/>
                  <a:ext cx="954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fill="none" extrusionOk="0">
                      <a:moveTo>
                        <a:pt x="0" y="0"/>
                      </a:moveTo>
                      <a:lnTo>
                        <a:pt x="120000" y="0"/>
                      </a:lnTo>
                      <a:moveTo>
                        <a:pt x="0" y="120000"/>
                      </a:moveTo>
                      <a:lnTo>
                        <a:pt x="84000" y="120000"/>
                      </a:lnTo>
                    </a:path>
                  </a:pathLst>
                </a:custGeom>
                <a:solidFill>
                  <a:srgbClr val="FFFFFF"/>
                </a:solidFill>
                <a:ln w="143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8" name="Google Shape;148;p15"/>
              <p:cNvSpPr txBox="1"/>
              <p:nvPr/>
            </p:nvSpPr>
            <p:spPr>
              <a:xfrm>
                <a:off x="809625" y="142875"/>
                <a:ext cx="3238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 b="1" dirty="0">
                    <a:solidFill>
                      <a:srgbClr val="2DC653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৩. প্রাপক (Receiver)</a:t>
                </a:r>
                <a:endParaRPr sz="1500" b="1" dirty="0">
                  <a:solidFill>
                    <a:srgbClr val="2DC653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1200" b="0" dirty="0">
                    <a:solidFill>
                      <a:srgbClr val="2B2D42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মুহূর্তের মধ্যেই ইনবক্সে বার্তা বা তথ্য গ্রহণ করেন</a:t>
                </a:r>
                <a:endParaRPr sz="1200" b="0" dirty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</p:grpSp>
      </p:grpSp>
      <p:grpSp>
        <p:nvGrpSpPr>
          <p:cNvPr id="149" name="Google Shape;149;p15"/>
          <p:cNvGrpSpPr/>
          <p:nvPr/>
        </p:nvGrpSpPr>
        <p:grpSpPr>
          <a:xfrm rot="720000">
            <a:off x="8454532" y="263769"/>
            <a:ext cx="266700" cy="190500"/>
            <a:chOff x="0" y="0"/>
            <a:chExt cx="266700" cy="190500"/>
          </a:xfrm>
        </p:grpSpPr>
        <p:sp>
          <p:nvSpPr>
            <p:cNvPr id="150" name="Google Shape;150;p15"/>
            <p:cNvSpPr/>
            <p:nvPr/>
          </p:nvSpPr>
          <p:spPr>
            <a:xfrm>
              <a:off x="0" y="0"/>
              <a:ext cx="266700" cy="190500"/>
            </a:xfrm>
            <a:prstGeom prst="roundRect">
              <a:avLst>
                <a:gd name="adj" fmla="val 15000"/>
              </a:avLst>
            </a:prstGeom>
            <a:solidFill>
              <a:srgbClr val="4361EE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0" y="28575"/>
              <a:ext cx="266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2;p15"/>
          <p:cNvGrpSpPr/>
          <p:nvPr/>
        </p:nvGrpSpPr>
        <p:grpSpPr>
          <a:xfrm>
            <a:off x="110490" y="4587240"/>
            <a:ext cx="323850" cy="323850"/>
            <a:chOff x="-38100" y="-38100"/>
            <a:chExt cx="381000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-38100" y="-38100"/>
              <a:ext cx="381000" cy="381000"/>
            </a:xfrm>
            <a:prstGeom prst="ellipse">
              <a:avLst/>
            </a:prstGeom>
            <a:solidFill>
              <a:srgbClr val="4361EE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4" name="Google Shape;154;p15"/>
            <p:cNvGrpSpPr/>
            <p:nvPr/>
          </p:nvGrpSpPr>
          <p:grpSpPr>
            <a:xfrm>
              <a:off x="9525" y="57150"/>
              <a:ext cx="285900" cy="161925"/>
              <a:chOff x="9525" y="57150"/>
              <a:chExt cx="285900" cy="161925"/>
            </a:xfrm>
          </p:grpSpPr>
          <p:sp>
            <p:nvSpPr>
              <p:cNvPr id="155" name="Google Shape;155;p15"/>
              <p:cNvSpPr/>
              <p:nvPr/>
            </p:nvSpPr>
            <p:spPr>
              <a:xfrm>
                <a:off x="38100" y="57150"/>
                <a:ext cx="228600" cy="142800"/>
              </a:xfrm>
              <a:prstGeom prst="roundRect">
                <a:avLst>
                  <a:gd name="adj" fmla="val 13333"/>
                </a:avLst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5"/>
              <p:cNvSpPr/>
              <p:nvPr/>
            </p:nvSpPr>
            <p:spPr>
              <a:xfrm>
                <a:off x="9525" y="219075"/>
                <a:ext cx="2859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fill="none" extrusionOk="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FFFFFF"/>
              </a:solidFill>
              <a:ln w="238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5"/>
              <p:cNvSpPr/>
              <p:nvPr/>
            </p:nvSpPr>
            <p:spPr>
              <a:xfrm>
                <a:off x="95250" y="123825"/>
                <a:ext cx="1143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FCA3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8" name="Google Shape;158;p15"/>
          <p:cNvGrpSpPr/>
          <p:nvPr/>
        </p:nvGrpSpPr>
        <p:grpSpPr>
          <a:xfrm>
            <a:off x="8540115" y="4491990"/>
            <a:ext cx="323850" cy="323850"/>
            <a:chOff x="-38100" y="-38100"/>
            <a:chExt cx="381000" cy="381000"/>
          </a:xfrm>
        </p:grpSpPr>
        <p:sp>
          <p:nvSpPr>
            <p:cNvPr id="159" name="Google Shape;159;p15"/>
            <p:cNvSpPr/>
            <p:nvPr/>
          </p:nvSpPr>
          <p:spPr>
            <a:xfrm>
              <a:off x="-38100" y="-38100"/>
              <a:ext cx="381000" cy="381000"/>
            </a:xfrm>
            <a:prstGeom prst="ellipse">
              <a:avLst/>
            </a:prstGeom>
            <a:solidFill>
              <a:srgbClr val="2DC653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" name="Google Shape;160;p15"/>
            <p:cNvGrpSpPr/>
            <p:nvPr/>
          </p:nvGrpSpPr>
          <p:grpSpPr>
            <a:xfrm>
              <a:off x="76200" y="38100"/>
              <a:ext cx="152400" cy="228600"/>
              <a:chOff x="76200" y="38100"/>
              <a:chExt cx="152400" cy="228600"/>
            </a:xfrm>
          </p:grpSpPr>
          <p:sp>
            <p:nvSpPr>
              <p:cNvPr id="161" name="Google Shape;161;p15"/>
              <p:cNvSpPr/>
              <p:nvPr/>
            </p:nvSpPr>
            <p:spPr>
              <a:xfrm>
                <a:off x="76200" y="38100"/>
                <a:ext cx="152400" cy="228600"/>
              </a:xfrm>
              <a:prstGeom prst="roundRect">
                <a:avLst>
                  <a:gd name="adj" fmla="val 18750"/>
                </a:avLst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5"/>
              <p:cNvSpPr/>
              <p:nvPr/>
            </p:nvSpPr>
            <p:spPr>
              <a:xfrm>
                <a:off x="142875" y="219075"/>
                <a:ext cx="19200" cy="19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5"/>
              <p:cNvSpPr/>
              <p:nvPr/>
            </p:nvSpPr>
            <p:spPr>
              <a:xfrm>
                <a:off x="104775" y="95250"/>
                <a:ext cx="954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fill="none" extrusionOk="0">
                    <a:moveTo>
                      <a:pt x="0" y="0"/>
                    </a:moveTo>
                    <a:lnTo>
                      <a:pt x="120000" y="0"/>
                    </a:lnTo>
                    <a:moveTo>
                      <a:pt x="0" y="120000"/>
                    </a:moveTo>
                    <a:lnTo>
                      <a:pt x="84000" y="120000"/>
                    </a:lnTo>
                  </a:path>
                </a:pathLst>
              </a:custGeom>
              <a:solidFill>
                <a:srgbClr val="FFFFFF"/>
              </a:solidFill>
              <a:ln w="143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4" name="Google Shape;164;p15"/>
          <p:cNvGrpSpPr/>
          <p:nvPr/>
        </p:nvGrpSpPr>
        <p:grpSpPr>
          <a:xfrm>
            <a:off x="4391025" y="4543425"/>
            <a:ext cx="285750" cy="285750"/>
            <a:chOff x="-38100" y="-38100"/>
            <a:chExt cx="381000" cy="381000"/>
          </a:xfrm>
        </p:grpSpPr>
        <p:sp>
          <p:nvSpPr>
            <p:cNvPr id="165" name="Google Shape;165;p15"/>
            <p:cNvSpPr/>
            <p:nvPr/>
          </p:nvSpPr>
          <p:spPr>
            <a:xfrm>
              <a:off x="-38100" y="-38100"/>
              <a:ext cx="381000" cy="381000"/>
            </a:xfrm>
            <a:prstGeom prst="ellipse">
              <a:avLst/>
            </a:prstGeom>
            <a:solidFill>
              <a:srgbClr val="FCA311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6" name="Google Shape;166;p15"/>
            <p:cNvGrpSpPr/>
            <p:nvPr/>
          </p:nvGrpSpPr>
          <p:grpSpPr>
            <a:xfrm>
              <a:off x="38100" y="38100"/>
              <a:ext cx="228600" cy="228600"/>
              <a:chOff x="38100" y="38100"/>
              <a:chExt cx="228600" cy="228600"/>
            </a:xfrm>
          </p:grpSpPr>
          <p:sp>
            <p:nvSpPr>
              <p:cNvPr id="167" name="Google Shape;167;p15"/>
              <p:cNvSpPr/>
              <p:nvPr/>
            </p:nvSpPr>
            <p:spPr>
              <a:xfrm>
                <a:off x="38100" y="38100"/>
                <a:ext cx="228600" cy="2286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38100" y="152400"/>
                <a:ext cx="2286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fill="none" extrusionOk="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FFFFFF"/>
              </a:solidFill>
              <a:ln w="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104775" y="38100"/>
                <a:ext cx="954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cubicBezTo>
                      <a:pt x="120000" y="20000"/>
                      <a:pt x="120000" y="100000"/>
                      <a:pt x="60000" y="120000"/>
                    </a:cubicBezTo>
                    <a:cubicBezTo>
                      <a:pt x="0" y="100000"/>
                      <a:pt x="0" y="20000"/>
                      <a:pt x="600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6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175" name="Google Shape;175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4361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" name="Google Shape;177;p16"/>
            <p:cNvGrpSpPr/>
            <p:nvPr/>
          </p:nvGrpSpPr>
          <p:grpSpPr>
            <a:xfrm>
              <a:off x="285750" y="247650"/>
              <a:ext cx="381000" cy="266700"/>
              <a:chOff x="0" y="0"/>
              <a:chExt cx="381000" cy="266700"/>
            </a:xfrm>
          </p:grpSpPr>
          <p:sp>
            <p:nvSpPr>
              <p:cNvPr id="178" name="Google Shape;178;p16"/>
              <p:cNvSpPr/>
              <p:nvPr/>
            </p:nvSpPr>
            <p:spPr>
              <a:xfrm>
                <a:off x="0" y="0"/>
                <a:ext cx="3810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4361E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6"/>
              <p:cNvSpPr/>
              <p:nvPr/>
            </p:nvSpPr>
            <p:spPr>
              <a:xfrm>
                <a:off x="0" y="38100"/>
                <a:ext cx="381000" cy="133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6"/>
              <p:cNvSpPr/>
              <p:nvPr/>
            </p:nvSpPr>
            <p:spPr>
              <a:xfrm>
                <a:off x="114300" y="57150"/>
                <a:ext cx="152400" cy="152400"/>
              </a:xfrm>
              <a:prstGeom prst="ellipse">
                <a:avLst/>
              </a:prstGeom>
              <a:solidFill>
                <a:srgbClr val="FCA3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1" name="Google Shape;181;p16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0" y="5048250"/>
              <a:ext cx="1428900" cy="95400"/>
            </a:xfrm>
            <a:prstGeom prst="rect">
              <a:avLst/>
            </a:prstGeom>
            <a:solidFill>
              <a:srgbClr val="FCA3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16"/>
          <p:cNvSpPr txBox="1"/>
          <p:nvPr/>
        </p:nvSpPr>
        <p:spPr>
          <a:xfrm>
            <a:off x="809625" y="171450"/>
            <a:ext cx="8001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ই-মেইল এড্রেসের গঠনপ্রকৃতি</a:t>
            </a:r>
            <a:endParaRPr sz="2000" b="1">
              <a:solidFill>
                <a:srgbClr val="FFFFFF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grpSp>
        <p:nvGrpSpPr>
          <p:cNvPr id="184" name="Google Shape;184;p16"/>
          <p:cNvGrpSpPr/>
          <p:nvPr/>
        </p:nvGrpSpPr>
        <p:grpSpPr>
          <a:xfrm>
            <a:off x="1619250" y="904875"/>
            <a:ext cx="5048250" cy="904950"/>
            <a:chOff x="0" y="0"/>
            <a:chExt cx="5048250" cy="904950"/>
          </a:xfrm>
        </p:grpSpPr>
        <p:sp>
          <p:nvSpPr>
            <p:cNvPr id="185" name="Google Shape;185;p16"/>
            <p:cNvSpPr/>
            <p:nvPr/>
          </p:nvSpPr>
          <p:spPr>
            <a:xfrm>
              <a:off x="0" y="0"/>
              <a:ext cx="2000100" cy="619200"/>
            </a:xfrm>
            <a:prstGeom prst="roundRect">
              <a:avLst>
                <a:gd name="adj" fmla="val 15384"/>
              </a:avLst>
            </a:prstGeom>
            <a:solidFill>
              <a:srgbClr val="4361EE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0" y="0"/>
              <a:ext cx="2000100" cy="619200"/>
            </a:xfrm>
            <a:prstGeom prst="roundRect">
              <a:avLst>
                <a:gd name="adj" fmla="val 15384"/>
              </a:avLst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4361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6"/>
            <p:cNvSpPr txBox="1"/>
            <p:nvPr/>
          </p:nvSpPr>
          <p:spPr>
            <a:xfrm>
              <a:off x="0" y="0"/>
              <a:ext cx="20001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[username]</a:t>
              </a:r>
              <a:endParaRPr sz="1800" b="1">
                <a:solidFill>
                  <a:srgbClr val="3A0CA3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  <p:sp>
          <p:nvSpPr>
            <p:cNvPr id="188" name="Google Shape;188;p16"/>
            <p:cNvSpPr txBox="1"/>
            <p:nvPr/>
          </p:nvSpPr>
          <p:spPr>
            <a:xfrm>
              <a:off x="0" y="666750"/>
              <a:ext cx="20001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4361EE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ইউজারনেম</a:t>
              </a:r>
              <a:endParaRPr sz="1400" b="1">
                <a:solidFill>
                  <a:srgbClr val="4361EE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2171700" y="4763"/>
              <a:ext cx="609600" cy="609600"/>
            </a:xfrm>
            <a:prstGeom prst="ellipse">
              <a:avLst/>
            </a:prstGeom>
            <a:solidFill>
              <a:srgbClr val="FCA3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6"/>
            <p:cNvSpPr txBox="1"/>
            <p:nvPr/>
          </p:nvSpPr>
          <p:spPr>
            <a:xfrm>
              <a:off x="2190750" y="23813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@</a:t>
              </a:r>
              <a:endParaRPr sz="2800" b="1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  <p:sp>
          <p:nvSpPr>
            <p:cNvPr id="191" name="Google Shape;191;p16"/>
            <p:cNvSpPr txBox="1"/>
            <p:nvPr/>
          </p:nvSpPr>
          <p:spPr>
            <a:xfrm>
              <a:off x="2000250" y="66675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5" b="1">
                  <a:solidFill>
                    <a:srgbClr val="FCA31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অ্যাট (@) চিহ্ন</a:t>
              </a:r>
              <a:endParaRPr sz="1295" b="1">
                <a:solidFill>
                  <a:srgbClr val="FCA311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  <p:sp>
          <p:nvSpPr>
            <p:cNvPr id="192" name="Google Shape;192;p16"/>
            <p:cNvSpPr/>
            <p:nvPr/>
          </p:nvSpPr>
          <p:spPr>
            <a:xfrm>
              <a:off x="2952750" y="0"/>
              <a:ext cx="2095500" cy="619200"/>
            </a:xfrm>
            <a:prstGeom prst="roundRect">
              <a:avLst>
                <a:gd name="adj" fmla="val 15384"/>
              </a:avLst>
            </a:prstGeom>
            <a:solidFill>
              <a:srgbClr val="2DC653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6"/>
            <p:cNvSpPr/>
            <p:nvPr/>
          </p:nvSpPr>
          <p:spPr>
            <a:xfrm>
              <a:off x="2952750" y="0"/>
              <a:ext cx="2095500" cy="619200"/>
            </a:xfrm>
            <a:prstGeom prst="roundRect">
              <a:avLst>
                <a:gd name="adj" fmla="val 15384"/>
              </a:avLst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2DC6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6"/>
            <p:cNvSpPr txBox="1"/>
            <p:nvPr/>
          </p:nvSpPr>
          <p:spPr>
            <a:xfrm>
              <a:off x="2952750" y="0"/>
              <a:ext cx="2095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2DC653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[domain.com]</a:t>
              </a:r>
              <a:endParaRPr sz="1800" b="1">
                <a:solidFill>
                  <a:srgbClr val="2DC653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  <p:sp>
          <p:nvSpPr>
            <p:cNvPr id="195" name="Google Shape;195;p16"/>
            <p:cNvSpPr txBox="1"/>
            <p:nvPr/>
          </p:nvSpPr>
          <p:spPr>
            <a:xfrm>
              <a:off x="2952750" y="666750"/>
              <a:ext cx="2095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2DC653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ডোমেইন নেম</a:t>
              </a:r>
              <a:endParaRPr sz="1400" b="1">
                <a:solidFill>
                  <a:srgbClr val="2DC653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</p:grpSp>
      <p:grpSp>
        <p:nvGrpSpPr>
          <p:cNvPr id="196" name="Google Shape;196;p16"/>
          <p:cNvGrpSpPr/>
          <p:nvPr/>
        </p:nvGrpSpPr>
        <p:grpSpPr>
          <a:xfrm>
            <a:off x="381000" y="1952625"/>
            <a:ext cx="8382150" cy="2047800"/>
            <a:chOff x="381000" y="1952625"/>
            <a:chExt cx="8382150" cy="2047800"/>
          </a:xfrm>
        </p:grpSpPr>
        <p:grpSp>
          <p:nvGrpSpPr>
            <p:cNvPr id="197" name="Google Shape;197;p16"/>
            <p:cNvGrpSpPr/>
            <p:nvPr/>
          </p:nvGrpSpPr>
          <p:grpSpPr>
            <a:xfrm>
              <a:off x="381000" y="1952625"/>
              <a:ext cx="2571900" cy="2047800"/>
              <a:chOff x="0" y="0"/>
              <a:chExt cx="2571900" cy="2047800"/>
            </a:xfrm>
          </p:grpSpPr>
          <p:sp>
            <p:nvSpPr>
              <p:cNvPr id="198" name="Google Shape;198;p16"/>
              <p:cNvSpPr/>
              <p:nvPr/>
            </p:nvSpPr>
            <p:spPr>
              <a:xfrm>
                <a:off x="0" y="0"/>
                <a:ext cx="2571900" cy="2047800"/>
              </a:xfrm>
              <a:prstGeom prst="roundRect">
                <a:avLst>
                  <a:gd name="adj" fmla="val 4651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16"/>
              <p:cNvSpPr/>
              <p:nvPr/>
            </p:nvSpPr>
            <p:spPr>
              <a:xfrm>
                <a:off x="0" y="0"/>
                <a:ext cx="25719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4361E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6"/>
              <p:cNvSpPr txBox="1"/>
              <p:nvPr/>
            </p:nvSpPr>
            <p:spPr>
              <a:xfrm>
                <a:off x="152400" y="152400"/>
                <a:ext cx="2267100" cy="17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solidFill>
                      <a:srgbClr val="3A0CA3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১. Username</a:t>
                </a:r>
                <a:endParaRPr sz="16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2B2D42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এটি ব্যবহারকারীর নিজস্ব নাম বা পছন্দমতো একটি পরিচিতি যা তাকে অন্যদের থেকে আলাদা করে। এটি সাধারণত ব্যবহারকারী নিজেই নির্বাচন করে।</a:t>
                </a:r>
                <a:endParaRPr sz="12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</p:grpSp>
        <p:grpSp>
          <p:nvGrpSpPr>
            <p:cNvPr id="201" name="Google Shape;201;p16"/>
            <p:cNvGrpSpPr/>
            <p:nvPr/>
          </p:nvGrpSpPr>
          <p:grpSpPr>
            <a:xfrm>
              <a:off x="3286125" y="1952625"/>
              <a:ext cx="2571900" cy="2047800"/>
              <a:chOff x="0" y="0"/>
              <a:chExt cx="2571900" cy="2047800"/>
            </a:xfrm>
          </p:grpSpPr>
          <p:sp>
            <p:nvSpPr>
              <p:cNvPr id="202" name="Google Shape;202;p16"/>
              <p:cNvSpPr/>
              <p:nvPr/>
            </p:nvSpPr>
            <p:spPr>
              <a:xfrm>
                <a:off x="0" y="0"/>
                <a:ext cx="2571900" cy="2047800"/>
              </a:xfrm>
              <a:prstGeom prst="roundRect">
                <a:avLst>
                  <a:gd name="adj" fmla="val 4651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6"/>
              <p:cNvSpPr/>
              <p:nvPr/>
            </p:nvSpPr>
            <p:spPr>
              <a:xfrm>
                <a:off x="0" y="0"/>
                <a:ext cx="25719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FCA3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6"/>
              <p:cNvSpPr txBox="1"/>
              <p:nvPr/>
            </p:nvSpPr>
            <p:spPr>
              <a:xfrm>
                <a:off x="152400" y="152400"/>
                <a:ext cx="2267100" cy="17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solidFill>
                      <a:srgbClr val="3A0CA3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২. @ (At sign)</a:t>
                </a:r>
                <a:endParaRPr sz="16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2B2D42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এটি ই-মেইল ঠিকানার সবচেয়ে গুরুত্বপূর্ণ প্রতীক, যা ইউজারনেম এবং ডোমেইনকে যুক্ত করে। এটি ছাড়া কোনো ই-মেইল ঠিকানা সম্পন্ন হয় না।</a:t>
                </a:r>
                <a:endParaRPr sz="12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</p:grpSp>
        <p:grpSp>
          <p:nvGrpSpPr>
            <p:cNvPr id="205" name="Google Shape;205;p16"/>
            <p:cNvGrpSpPr/>
            <p:nvPr/>
          </p:nvGrpSpPr>
          <p:grpSpPr>
            <a:xfrm>
              <a:off x="6191250" y="1952625"/>
              <a:ext cx="2571900" cy="2047800"/>
              <a:chOff x="0" y="0"/>
              <a:chExt cx="2571900" cy="2047800"/>
            </a:xfrm>
          </p:grpSpPr>
          <p:sp>
            <p:nvSpPr>
              <p:cNvPr id="206" name="Google Shape;206;p16"/>
              <p:cNvSpPr/>
              <p:nvPr/>
            </p:nvSpPr>
            <p:spPr>
              <a:xfrm>
                <a:off x="0" y="0"/>
                <a:ext cx="2571900" cy="2047800"/>
              </a:xfrm>
              <a:prstGeom prst="roundRect">
                <a:avLst>
                  <a:gd name="adj" fmla="val 4651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6"/>
              <p:cNvSpPr/>
              <p:nvPr/>
            </p:nvSpPr>
            <p:spPr>
              <a:xfrm>
                <a:off x="0" y="0"/>
                <a:ext cx="25719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2DC65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6"/>
              <p:cNvSpPr txBox="1"/>
              <p:nvPr/>
            </p:nvSpPr>
            <p:spPr>
              <a:xfrm>
                <a:off x="152400" y="152400"/>
                <a:ext cx="2267100" cy="17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solidFill>
                      <a:srgbClr val="3A0CA3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৩. Domain</a:t>
                </a:r>
                <a:endParaRPr sz="16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2B2D42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এটি হলো ই-মেইল সেবাদানকারী প্রতিষ্ঠানের নাম (যেমন- gmail.com, yahoo.com, outlook.com)। এটি নির্দেশ করে কোন সার্ভারে ই-মেইলটি সংরক্ষিত আছে।</a:t>
                </a:r>
                <a:endParaRPr sz="12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</p:grpSp>
      </p:grpSp>
      <p:grpSp>
        <p:nvGrpSpPr>
          <p:cNvPr id="209" name="Google Shape;209;p16"/>
          <p:cNvGrpSpPr/>
          <p:nvPr/>
        </p:nvGrpSpPr>
        <p:grpSpPr>
          <a:xfrm>
            <a:off x="371475" y="4162425"/>
            <a:ext cx="8401200" cy="638100"/>
            <a:chOff x="-9525" y="-9525"/>
            <a:chExt cx="8401200" cy="638100"/>
          </a:xfrm>
        </p:grpSpPr>
        <p:pic>
          <p:nvPicPr>
            <p:cNvPr id="210" name="Google Shape;210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9525" y="-9525"/>
              <a:ext cx="8401200" cy="6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16"/>
            <p:cNvSpPr/>
            <p:nvPr/>
          </p:nvSpPr>
          <p:spPr>
            <a:xfrm>
              <a:off x="142875" y="142875"/>
              <a:ext cx="952500" cy="333300"/>
            </a:xfrm>
            <a:prstGeom prst="roundRect">
              <a:avLst>
                <a:gd name="adj" fmla="val 17142"/>
              </a:avLst>
            </a:prstGeom>
            <a:solidFill>
              <a:srgbClr val="3A0CA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6"/>
            <p:cNvSpPr txBox="1"/>
            <p:nvPr/>
          </p:nvSpPr>
          <p:spPr>
            <a:xfrm>
              <a:off x="142875" y="142875"/>
              <a:ext cx="952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উদাহরণ</a:t>
              </a:r>
              <a:endParaRPr sz="1300" b="1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1238250" y="142875"/>
              <a:ext cx="70008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4361EE"/>
                  </a:solidFill>
                  <a:latin typeface="Hind Siliguri SemiBold"/>
                  <a:ea typeface="Hind Siliguri SemiBold"/>
                  <a:cs typeface="Hind Siliguri SemiBold"/>
                  <a:sym typeface="Hind Siliguri SemiBold"/>
                </a:rPr>
                <a:t>• example@gmail.com</a:t>
              </a:r>
              <a:r>
                <a:rPr lang="en" sz="1400" b="0">
                  <a:solidFill>
                    <a:srgbClr val="2B2D42"/>
                  </a:solidFill>
                  <a:latin typeface="Hind Siliguri SemiBold"/>
                  <a:ea typeface="Hind Siliguri SemiBold"/>
                  <a:cs typeface="Hind Siliguri SemiBold"/>
                  <a:sym typeface="Hind Siliguri SemiBold"/>
                </a:rPr>
                <a:t> </a:t>
              </a:r>
              <a:r>
                <a:rPr lang="en" sz="1400" b="0">
                  <a:solidFill>
                    <a:srgbClr val="8D99AE"/>
                  </a:solidFill>
                  <a:latin typeface="Hind Siliguri SemiBold"/>
                  <a:ea typeface="Hind Siliguri SemiBold"/>
                  <a:cs typeface="Hind Siliguri SemiBold"/>
                  <a:sym typeface="Hind Siliguri SemiBold"/>
                </a:rPr>
                <a:t>|</a:t>
              </a:r>
              <a:r>
                <a:rPr lang="en" sz="1400" b="0">
                  <a:solidFill>
                    <a:srgbClr val="2B2D42"/>
                  </a:solidFill>
                  <a:latin typeface="Hind Siliguri SemiBold"/>
                  <a:ea typeface="Hind Siliguri SemiBold"/>
                  <a:cs typeface="Hind Siliguri SemiBold"/>
                  <a:sym typeface="Hind Siliguri SemiBold"/>
                </a:rPr>
                <a:t> </a:t>
              </a:r>
              <a:r>
                <a:rPr lang="en" sz="1400" b="0">
                  <a:solidFill>
                    <a:srgbClr val="2DC653"/>
                  </a:solidFill>
                  <a:latin typeface="Hind Siliguri SemiBold"/>
                  <a:ea typeface="Hind Siliguri SemiBold"/>
                  <a:cs typeface="Hind Siliguri SemiBold"/>
                  <a:sym typeface="Hind Siliguri SemiBold"/>
                </a:rPr>
                <a:t>• student123@school.com</a:t>
              </a:r>
              <a:endParaRPr sz="1400" b="0">
                <a:solidFill>
                  <a:srgbClr val="2B2D42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17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219" name="Google Shape;219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4361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1" name="Google Shape;221;p17"/>
            <p:cNvGrpSpPr/>
            <p:nvPr/>
          </p:nvGrpSpPr>
          <p:grpSpPr>
            <a:xfrm>
              <a:off x="285750" y="247650"/>
              <a:ext cx="381000" cy="266700"/>
              <a:chOff x="0" y="0"/>
              <a:chExt cx="381000" cy="266700"/>
            </a:xfrm>
          </p:grpSpPr>
          <p:sp>
            <p:nvSpPr>
              <p:cNvPr id="222" name="Google Shape;222;p17"/>
              <p:cNvSpPr/>
              <p:nvPr/>
            </p:nvSpPr>
            <p:spPr>
              <a:xfrm>
                <a:off x="0" y="0"/>
                <a:ext cx="3810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4361E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0" y="38100"/>
                <a:ext cx="381000" cy="133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7"/>
              <p:cNvSpPr/>
              <p:nvPr/>
            </p:nvSpPr>
            <p:spPr>
              <a:xfrm>
                <a:off x="114300" y="57150"/>
                <a:ext cx="152400" cy="152400"/>
              </a:xfrm>
              <a:prstGeom prst="ellipse">
                <a:avLst/>
              </a:prstGeom>
              <a:solidFill>
                <a:srgbClr val="FCA3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5" name="Google Shape;225;p17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0" y="5048250"/>
              <a:ext cx="1428900" cy="95400"/>
            </a:xfrm>
            <a:prstGeom prst="rect">
              <a:avLst/>
            </a:prstGeom>
            <a:solidFill>
              <a:srgbClr val="FCA3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" name="Google Shape;227;p17"/>
          <p:cNvSpPr txBox="1"/>
          <p:nvPr/>
        </p:nvSpPr>
        <p:spPr>
          <a:xfrm>
            <a:off x="762000" y="171450"/>
            <a:ext cx="80964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ব্যবসা-বাণিজ্যে ই-মেইলের ভূমিকা ও সুবিধা</a:t>
            </a:r>
            <a:endParaRPr sz="2000" b="1">
              <a:solidFill>
                <a:srgbClr val="FFFFFF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grpSp>
        <p:nvGrpSpPr>
          <p:cNvPr id="228" name="Google Shape;228;p17"/>
          <p:cNvGrpSpPr/>
          <p:nvPr/>
        </p:nvGrpSpPr>
        <p:grpSpPr>
          <a:xfrm>
            <a:off x="381000" y="904875"/>
            <a:ext cx="8382000" cy="1047900"/>
            <a:chOff x="0" y="0"/>
            <a:chExt cx="8382000" cy="1047900"/>
          </a:xfrm>
        </p:grpSpPr>
        <p:sp>
          <p:nvSpPr>
            <p:cNvPr id="229" name="Google Shape;229;p17"/>
            <p:cNvSpPr/>
            <p:nvPr/>
          </p:nvSpPr>
          <p:spPr>
            <a:xfrm>
              <a:off x="0" y="0"/>
              <a:ext cx="8382000" cy="1047900"/>
            </a:xfrm>
            <a:prstGeom prst="roundRect">
              <a:avLst>
                <a:gd name="adj" fmla="val 9090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0" name="Google Shape;230;p17"/>
            <p:cNvGrpSpPr/>
            <p:nvPr/>
          </p:nvGrpSpPr>
          <p:grpSpPr>
            <a:xfrm>
              <a:off x="238125" y="190500"/>
              <a:ext cx="2095500" cy="666900"/>
              <a:chOff x="0" y="0"/>
              <a:chExt cx="2095500" cy="666900"/>
            </a:xfrm>
          </p:grpSpPr>
          <p:sp>
            <p:nvSpPr>
              <p:cNvPr id="231" name="Google Shape;231;p17"/>
              <p:cNvSpPr/>
              <p:nvPr/>
            </p:nvSpPr>
            <p:spPr>
              <a:xfrm>
                <a:off x="0" y="0"/>
                <a:ext cx="2095500" cy="666900"/>
              </a:xfrm>
              <a:prstGeom prst="roundRect">
                <a:avLst>
                  <a:gd name="adj" fmla="val 11428"/>
                </a:avLst>
              </a:prstGeom>
              <a:solidFill>
                <a:srgbClr val="FFFFFF"/>
              </a:solidFill>
              <a:ln w="19050" cap="flat" cmpd="sng">
                <a:solidFill>
                  <a:srgbClr val="3A0C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7"/>
              <p:cNvSpPr txBox="1"/>
              <p:nvPr/>
            </p:nvSpPr>
            <p:spPr>
              <a:xfrm>
                <a:off x="333375" y="232410"/>
                <a:ext cx="258900" cy="3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26">
                    <a:latin typeface="Arial"/>
                    <a:ea typeface="Arial"/>
                    <a:cs typeface="Arial"/>
                    <a:sym typeface="Arial"/>
                  </a:rPr>
                  <a:t>🏢</a:t>
                </a:r>
                <a:endParaRPr sz="1526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7"/>
              <p:cNvSpPr txBox="1"/>
              <p:nvPr/>
            </p:nvSpPr>
            <p:spPr>
              <a:xfrm>
                <a:off x="619125" y="0"/>
                <a:ext cx="13812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solidFill>
                      <a:srgbClr val="3A0CA3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বিক্রেতা (Seller)</a:t>
                </a:r>
                <a:endParaRPr sz="16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</p:grpSp>
        <p:grpSp>
          <p:nvGrpSpPr>
            <p:cNvPr id="234" name="Google Shape;234;p17"/>
            <p:cNvGrpSpPr/>
            <p:nvPr/>
          </p:nvGrpSpPr>
          <p:grpSpPr>
            <a:xfrm>
              <a:off x="2428875" y="438150"/>
              <a:ext cx="409500" cy="171600"/>
              <a:chOff x="0" y="28575"/>
              <a:chExt cx="409500" cy="171600"/>
            </a:xfrm>
          </p:grpSpPr>
          <p:sp>
            <p:nvSpPr>
              <p:cNvPr id="235" name="Google Shape;235;p17"/>
              <p:cNvSpPr/>
              <p:nvPr/>
            </p:nvSpPr>
            <p:spPr>
              <a:xfrm>
                <a:off x="0" y="114300"/>
                <a:ext cx="3810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fill="none" extrusionOk="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FFFFFF"/>
              </a:solidFill>
              <a:ln w="28575" cap="rnd" cmpd="sng">
                <a:solidFill>
                  <a:srgbClr val="4361E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7"/>
              <p:cNvSpPr/>
              <p:nvPr/>
            </p:nvSpPr>
            <p:spPr>
              <a:xfrm>
                <a:off x="304800" y="28575"/>
                <a:ext cx="104700" cy="171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4361E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" name="Google Shape;237;p17"/>
            <p:cNvGrpSpPr/>
            <p:nvPr/>
          </p:nvGrpSpPr>
          <p:grpSpPr>
            <a:xfrm>
              <a:off x="2952750" y="190500"/>
              <a:ext cx="2476500" cy="666900"/>
              <a:chOff x="0" y="0"/>
              <a:chExt cx="2476500" cy="666900"/>
            </a:xfrm>
          </p:grpSpPr>
          <p:sp>
            <p:nvSpPr>
              <p:cNvPr id="238" name="Google Shape;238;p17"/>
              <p:cNvSpPr/>
              <p:nvPr/>
            </p:nvSpPr>
            <p:spPr>
              <a:xfrm>
                <a:off x="0" y="0"/>
                <a:ext cx="2476500" cy="666900"/>
              </a:xfrm>
              <a:prstGeom prst="roundRect">
                <a:avLst>
                  <a:gd name="adj" fmla="val 11428"/>
                </a:avLst>
              </a:prstGeom>
              <a:solidFill>
                <a:srgbClr val="4361E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7"/>
              <p:cNvSpPr txBox="1"/>
              <p:nvPr/>
            </p:nvSpPr>
            <p:spPr>
              <a:xfrm>
                <a:off x="142875" y="0"/>
                <a:ext cx="2190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ই-মেইল মাধ্যম (Email)</a:t>
                </a:r>
                <a:endParaRPr sz="1600" b="1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</p:grpSp>
        <p:grpSp>
          <p:nvGrpSpPr>
            <p:cNvPr id="240" name="Google Shape;240;p17"/>
            <p:cNvGrpSpPr/>
            <p:nvPr/>
          </p:nvGrpSpPr>
          <p:grpSpPr>
            <a:xfrm>
              <a:off x="5524500" y="438150"/>
              <a:ext cx="409500" cy="171600"/>
              <a:chOff x="0" y="28575"/>
              <a:chExt cx="409500" cy="171600"/>
            </a:xfrm>
          </p:grpSpPr>
          <p:sp>
            <p:nvSpPr>
              <p:cNvPr id="241" name="Google Shape;241;p17"/>
              <p:cNvSpPr/>
              <p:nvPr/>
            </p:nvSpPr>
            <p:spPr>
              <a:xfrm>
                <a:off x="0" y="114300"/>
                <a:ext cx="3810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fill="none" extrusionOk="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FFFFFF"/>
              </a:solidFill>
              <a:ln w="28575" cap="rnd" cmpd="sng">
                <a:solidFill>
                  <a:srgbClr val="4361E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7"/>
              <p:cNvSpPr/>
              <p:nvPr/>
            </p:nvSpPr>
            <p:spPr>
              <a:xfrm>
                <a:off x="304800" y="28575"/>
                <a:ext cx="104700" cy="171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4361E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7"/>
            <p:cNvGrpSpPr/>
            <p:nvPr/>
          </p:nvGrpSpPr>
          <p:grpSpPr>
            <a:xfrm>
              <a:off x="6048375" y="190500"/>
              <a:ext cx="2095500" cy="666900"/>
              <a:chOff x="0" y="0"/>
              <a:chExt cx="2095500" cy="666900"/>
            </a:xfrm>
          </p:grpSpPr>
          <p:sp>
            <p:nvSpPr>
              <p:cNvPr id="244" name="Google Shape;244;p17"/>
              <p:cNvSpPr/>
              <p:nvPr/>
            </p:nvSpPr>
            <p:spPr>
              <a:xfrm>
                <a:off x="0" y="0"/>
                <a:ext cx="2095500" cy="666900"/>
              </a:xfrm>
              <a:prstGeom prst="roundRect">
                <a:avLst>
                  <a:gd name="adj" fmla="val 11428"/>
                </a:avLst>
              </a:prstGeom>
              <a:solidFill>
                <a:srgbClr val="FFFFFF"/>
              </a:solidFill>
              <a:ln w="19050" cap="flat" cmpd="sng">
                <a:solidFill>
                  <a:srgbClr val="3A0C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7"/>
              <p:cNvSpPr txBox="1"/>
              <p:nvPr/>
            </p:nvSpPr>
            <p:spPr>
              <a:xfrm>
                <a:off x="285750" y="232410"/>
                <a:ext cx="258900" cy="3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26">
                    <a:latin typeface="Arial"/>
                    <a:ea typeface="Arial"/>
                    <a:cs typeface="Arial"/>
                    <a:sym typeface="Arial"/>
                  </a:rPr>
                  <a:t>📦</a:t>
                </a:r>
                <a:endParaRPr sz="1526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7"/>
              <p:cNvSpPr txBox="1"/>
              <p:nvPr/>
            </p:nvSpPr>
            <p:spPr>
              <a:xfrm>
                <a:off x="619125" y="0"/>
                <a:ext cx="13812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solidFill>
                      <a:srgbClr val="3A0CA3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ক্রেতা (Buyer)</a:t>
                </a:r>
                <a:endParaRPr sz="16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</p:grpSp>
      </p:grpSp>
      <p:grpSp>
        <p:nvGrpSpPr>
          <p:cNvPr id="247" name="Google Shape;247;p17"/>
          <p:cNvGrpSpPr/>
          <p:nvPr/>
        </p:nvGrpSpPr>
        <p:grpSpPr>
          <a:xfrm>
            <a:off x="381000" y="2143125"/>
            <a:ext cx="8382000" cy="2667000"/>
            <a:chOff x="0" y="0"/>
            <a:chExt cx="8382000" cy="2667000"/>
          </a:xfrm>
        </p:grpSpPr>
        <p:grpSp>
          <p:nvGrpSpPr>
            <p:cNvPr id="248" name="Google Shape;248;p17"/>
            <p:cNvGrpSpPr/>
            <p:nvPr/>
          </p:nvGrpSpPr>
          <p:grpSpPr>
            <a:xfrm>
              <a:off x="0" y="0"/>
              <a:ext cx="2667000" cy="2667000"/>
              <a:chOff x="0" y="0"/>
              <a:chExt cx="2667000" cy="2667000"/>
            </a:xfrm>
          </p:grpSpPr>
          <p:sp>
            <p:nvSpPr>
              <p:cNvPr id="249" name="Google Shape;249;p17"/>
              <p:cNvSpPr/>
              <p:nvPr/>
            </p:nvSpPr>
            <p:spPr>
              <a:xfrm>
                <a:off x="0" y="0"/>
                <a:ext cx="2667000" cy="2667000"/>
              </a:xfrm>
              <a:prstGeom prst="roundRect">
                <a:avLst>
                  <a:gd name="adj" fmla="val 3571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7"/>
              <p:cNvSpPr/>
              <p:nvPr/>
            </p:nvSpPr>
            <p:spPr>
              <a:xfrm>
                <a:off x="0" y="0"/>
                <a:ext cx="26670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4361E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7"/>
              <p:cNvSpPr/>
              <p:nvPr/>
            </p:nvSpPr>
            <p:spPr>
              <a:xfrm>
                <a:off x="219075" y="219075"/>
                <a:ext cx="419100" cy="419100"/>
              </a:xfrm>
              <a:prstGeom prst="ellipse">
                <a:avLst/>
              </a:prstGeom>
              <a:solidFill>
                <a:srgbClr val="4361EE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7"/>
              <p:cNvSpPr txBox="1"/>
              <p:nvPr/>
            </p:nvSpPr>
            <p:spPr>
              <a:xfrm>
                <a:off x="314325" y="342900"/>
                <a:ext cx="238200" cy="308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0" i="0" u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⚡</a:t>
                </a:r>
                <a:endParaRPr sz="1400" b="0" i="0" u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7"/>
              <p:cNvSpPr txBox="1"/>
              <p:nvPr/>
            </p:nvSpPr>
            <p:spPr>
              <a:xfrm>
                <a:off x="190500" y="762000"/>
                <a:ext cx="2286000" cy="17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3A0CA3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১. দ্রুত যোগাযোগ</a:t>
                </a:r>
                <a:endParaRPr sz="18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400" b="0">
                    <a:solidFill>
                      <a:srgbClr val="2B2D42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ক্রেতা এবং বিক্রেতার মধ্যে মুহূর্তের মধ্যে যোগাযোগ স্থাপন করা সম্ভব হয়, যা সময় এবং খরচ উভয়ই বাঁচায়।</a:t>
                </a:r>
                <a:endParaRPr sz="14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</p:grpSp>
        <p:grpSp>
          <p:nvGrpSpPr>
            <p:cNvPr id="254" name="Google Shape;254;p17"/>
            <p:cNvGrpSpPr/>
            <p:nvPr/>
          </p:nvGrpSpPr>
          <p:grpSpPr>
            <a:xfrm>
              <a:off x="2857500" y="0"/>
              <a:ext cx="2667000" cy="2667000"/>
              <a:chOff x="0" y="0"/>
              <a:chExt cx="2667000" cy="2667000"/>
            </a:xfrm>
          </p:grpSpPr>
          <p:sp>
            <p:nvSpPr>
              <p:cNvPr id="255" name="Google Shape;255;p17"/>
              <p:cNvSpPr/>
              <p:nvPr/>
            </p:nvSpPr>
            <p:spPr>
              <a:xfrm>
                <a:off x="0" y="0"/>
                <a:ext cx="2667000" cy="2667000"/>
              </a:xfrm>
              <a:prstGeom prst="roundRect">
                <a:avLst>
                  <a:gd name="adj" fmla="val 3571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7"/>
              <p:cNvSpPr/>
              <p:nvPr/>
            </p:nvSpPr>
            <p:spPr>
              <a:xfrm>
                <a:off x="0" y="0"/>
                <a:ext cx="26670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FCA3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7"/>
              <p:cNvSpPr/>
              <p:nvPr/>
            </p:nvSpPr>
            <p:spPr>
              <a:xfrm>
                <a:off x="219075" y="219075"/>
                <a:ext cx="419100" cy="419100"/>
              </a:xfrm>
              <a:prstGeom prst="ellipse">
                <a:avLst/>
              </a:prstGeom>
              <a:solidFill>
                <a:srgbClr val="FCA311">
                  <a:alpha val="1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7"/>
              <p:cNvSpPr txBox="1"/>
              <p:nvPr/>
            </p:nvSpPr>
            <p:spPr>
              <a:xfrm>
                <a:off x="314325" y="342900"/>
                <a:ext cx="235500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88">
                    <a:latin typeface="Arial"/>
                    <a:ea typeface="Arial"/>
                    <a:cs typeface="Arial"/>
                    <a:sym typeface="Arial"/>
                  </a:rPr>
                  <a:t>🔗</a:t>
                </a:r>
                <a:endParaRPr sz="1388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17"/>
              <p:cNvSpPr txBox="1"/>
              <p:nvPr/>
            </p:nvSpPr>
            <p:spPr>
              <a:xfrm>
                <a:off x="190500" y="762000"/>
                <a:ext cx="2286000" cy="17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3A0CA3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২. পণ্যের ছবি ও লিংক</a:t>
                </a:r>
                <a:endParaRPr sz="18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400" b="0">
                    <a:solidFill>
                      <a:srgbClr val="2B2D42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নতুন পণ্যের ক্যাটালগ, ছবি বা ওয়েবসাইটের লিংক খুব সহজেই ই-মেইলের মাধ্যমে গ্রাহকদের কাছে পাঠানো যায়।</a:t>
                </a:r>
                <a:endParaRPr sz="14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</p:grpSp>
        <p:grpSp>
          <p:nvGrpSpPr>
            <p:cNvPr id="260" name="Google Shape;260;p17"/>
            <p:cNvGrpSpPr/>
            <p:nvPr/>
          </p:nvGrpSpPr>
          <p:grpSpPr>
            <a:xfrm>
              <a:off x="5715000" y="0"/>
              <a:ext cx="2667000" cy="2667000"/>
              <a:chOff x="0" y="0"/>
              <a:chExt cx="2667000" cy="2667000"/>
            </a:xfrm>
          </p:grpSpPr>
          <p:sp>
            <p:nvSpPr>
              <p:cNvPr id="261" name="Google Shape;261;p17"/>
              <p:cNvSpPr/>
              <p:nvPr/>
            </p:nvSpPr>
            <p:spPr>
              <a:xfrm>
                <a:off x="0" y="0"/>
                <a:ext cx="2667000" cy="2667000"/>
              </a:xfrm>
              <a:prstGeom prst="roundRect">
                <a:avLst>
                  <a:gd name="adj" fmla="val 3571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7"/>
              <p:cNvSpPr/>
              <p:nvPr/>
            </p:nvSpPr>
            <p:spPr>
              <a:xfrm>
                <a:off x="0" y="0"/>
                <a:ext cx="26670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2DC65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7"/>
              <p:cNvSpPr/>
              <p:nvPr/>
            </p:nvSpPr>
            <p:spPr>
              <a:xfrm>
                <a:off x="219075" y="219075"/>
                <a:ext cx="419100" cy="419100"/>
              </a:xfrm>
              <a:prstGeom prst="ellipse">
                <a:avLst/>
              </a:prstGeom>
              <a:solidFill>
                <a:srgbClr val="2DC653">
                  <a:alpha val="1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7"/>
              <p:cNvSpPr txBox="1"/>
              <p:nvPr/>
            </p:nvSpPr>
            <p:spPr>
              <a:xfrm>
                <a:off x="323850" y="342900"/>
                <a:ext cx="235500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88">
                    <a:latin typeface="Arial"/>
                    <a:ea typeface="Arial"/>
                    <a:cs typeface="Arial"/>
                    <a:sym typeface="Arial"/>
                  </a:rPr>
                  <a:t>📄</a:t>
                </a:r>
                <a:endParaRPr sz="1388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17"/>
              <p:cNvSpPr txBox="1"/>
              <p:nvPr/>
            </p:nvSpPr>
            <p:spPr>
              <a:xfrm>
                <a:off x="190500" y="762000"/>
                <a:ext cx="2286000" cy="17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3A0CA3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৩. অফিসিয়াল নথি</a:t>
                </a:r>
                <a:endParaRPr sz="18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400" b="0">
                    <a:solidFill>
                      <a:srgbClr val="2B2D42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চুক্তিপত্র, ইনভয়েস বা বিলের মতো গুরুত্বপূর্ণ এবং গোপনীয় ব্যবসায়িক নথি নিরাপদে আদান-প্রদান করা যায়।</a:t>
                </a:r>
                <a:endParaRPr sz="14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71" name="Google Shape;271;p18"/>
            <p:cNvSpPr/>
            <p:nvPr/>
          </p:nvSpPr>
          <p:spPr>
            <a:xfrm>
              <a:off x="0" y="0"/>
              <a:ext cx="4572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4572000" y="0"/>
              <a:ext cx="4572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4361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4" name="Google Shape;274;p18"/>
            <p:cNvGrpSpPr/>
            <p:nvPr/>
          </p:nvGrpSpPr>
          <p:grpSpPr>
            <a:xfrm>
              <a:off x="285750" y="285750"/>
              <a:ext cx="381000" cy="266700"/>
              <a:chOff x="0" y="0"/>
              <a:chExt cx="381000" cy="266700"/>
            </a:xfrm>
          </p:grpSpPr>
          <p:sp>
            <p:nvSpPr>
              <p:cNvPr id="275" name="Google Shape;275;p18"/>
              <p:cNvSpPr/>
              <p:nvPr/>
            </p:nvSpPr>
            <p:spPr>
              <a:xfrm>
                <a:off x="0" y="0"/>
                <a:ext cx="3810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4361E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0" y="38100"/>
                <a:ext cx="381000" cy="133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8"/>
              <p:cNvSpPr/>
              <p:nvPr/>
            </p:nvSpPr>
            <p:spPr>
              <a:xfrm>
                <a:off x="114300" y="57150"/>
                <a:ext cx="152400" cy="152400"/>
              </a:xfrm>
              <a:prstGeom prst="ellipse">
                <a:avLst/>
              </a:prstGeom>
              <a:solidFill>
                <a:srgbClr val="FCA3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8" name="Google Shape;278;p18"/>
          <p:cNvSpPr txBox="1"/>
          <p:nvPr/>
        </p:nvSpPr>
        <p:spPr>
          <a:xfrm>
            <a:off x="762000" y="190500"/>
            <a:ext cx="80964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solidFill>
                  <a:srgbClr val="4361EE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rPr>
              <a:t>ই-মেইল অ্যাকাউন্ট সুরক্ষিত রাখার উপায়</a:t>
            </a:r>
            <a:endParaRPr sz="2400" b="0">
              <a:solidFill>
                <a:srgbClr val="4361EE"/>
              </a:solidFill>
              <a:latin typeface="Hind Siliguri SemiBold"/>
              <a:ea typeface="Hind Siliguri SemiBold"/>
              <a:cs typeface="Hind Siliguri SemiBold"/>
              <a:sym typeface="Hind Siliguri SemiBold"/>
            </a:endParaRPr>
          </a:p>
        </p:txBody>
      </p:sp>
      <p:grpSp>
        <p:nvGrpSpPr>
          <p:cNvPr id="279" name="Google Shape;279;p18"/>
          <p:cNvGrpSpPr/>
          <p:nvPr/>
        </p:nvGrpSpPr>
        <p:grpSpPr>
          <a:xfrm>
            <a:off x="285750" y="762000"/>
            <a:ext cx="4095900" cy="4238625"/>
            <a:chOff x="0" y="0"/>
            <a:chExt cx="4095900" cy="4238625"/>
          </a:xfrm>
        </p:grpSpPr>
        <p:sp>
          <p:nvSpPr>
            <p:cNvPr id="280" name="Google Shape;280;p18"/>
            <p:cNvSpPr txBox="1"/>
            <p:nvPr/>
          </p:nvSpPr>
          <p:spPr>
            <a:xfrm>
              <a:off x="0" y="0"/>
              <a:ext cx="4000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3" b="0" i="0" u="none" strike="noStrike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ই-মেইল অ্যাকাউন্ট সুরক্ষিত রাখতে একটি শক্তিশালী পাসওয়ার্ড অত্যন্ত জরুরি। দুর্বল পাসওয়ার্ড হ্যাকারদের কাছে আপনার ব্যক্তিগত তথ্য উন্মুক্ত করে দিতে পারে।</a:t>
              </a:r>
              <a:endParaRPr sz="1203" b="0" i="0" u="none" strike="noStrike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  <p:sp>
          <p:nvSpPr>
            <p:cNvPr id="281" name="Google Shape;281;p18"/>
            <p:cNvSpPr txBox="1"/>
            <p:nvPr/>
          </p:nvSpPr>
          <p:spPr>
            <a:xfrm>
              <a:off x="0" y="619125"/>
              <a:ext cx="40959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নিরাপদ পাসওয়ার্ড তৈরির নিয়মাবলী:</a:t>
              </a:r>
              <a:endParaRPr sz="1600" b="1">
                <a:solidFill>
                  <a:srgbClr val="3A0CA3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4361EE"/>
                </a:buClr>
                <a:buSzPts val="1400"/>
                <a:buChar char="●"/>
              </a:pPr>
              <a:r>
                <a:rPr lang="en" sz="13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দীর্ঘ পাসওয়ার্ড:</a:t>
              </a:r>
              <a:r>
                <a:rPr lang="en" sz="13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 পাসওয়ার্ড কমপক্ষে ৮-১২ অক্ষরের হওয়া উচিত।</a:t>
              </a:r>
              <a:endParaRPr sz="1300" b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4361EE"/>
                </a:buClr>
                <a:buSzPts val="1400"/>
                <a:buChar char="●"/>
              </a:pPr>
              <a:r>
                <a:rPr lang="en" sz="13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বড়ো ও ছোটো হাতের বর্ণ:</a:t>
              </a:r>
              <a:r>
                <a:rPr lang="en" sz="13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 ইংরেজি বড় হাতের (A-Z) এবং ছোট হাতের (a-z) অক্ষরের মিশ্রণ থাকতে হবে।</a:t>
              </a:r>
              <a:endParaRPr sz="1300" b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4361EE"/>
                </a:buClr>
                <a:buSzPts val="1400"/>
                <a:buChar char="●"/>
              </a:pPr>
              <a:r>
                <a:rPr lang="en" sz="13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সংখ্যা ও প্রতীক:</a:t>
              </a:r>
              <a:r>
                <a:rPr lang="en" sz="13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 পাসওয়ার্ড জটিল করতে সংখ্যা (0-9) এবং বিশেষ প্রতীক (@, #, $, %) ব্যবহার করতে হবে।</a:t>
              </a:r>
              <a:endParaRPr sz="1300" b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4361EE"/>
                </a:buClr>
                <a:buSzPts val="1400"/>
                <a:buChar char="●"/>
              </a:pPr>
              <a:r>
                <a:rPr lang="en" sz="13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সহজ পাসওয়ার্ড পরিহার:</a:t>
              </a:r>
              <a:r>
                <a:rPr lang="en" sz="13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 নাম, জন্মতারিখ বা '123456' এর মতো অনুমানযোগ্য পাসওয়ার্ড ব্যবহার করা যাবে না।</a:t>
              </a:r>
              <a:endParaRPr sz="1300" b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4361EE"/>
                </a:buClr>
                <a:buSzPts val="1400"/>
                <a:buChar char="●"/>
              </a:pPr>
              <a:r>
                <a:rPr lang="en" sz="13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নিয়মিত পরিবর্তন:</a:t>
              </a:r>
              <a:r>
                <a:rPr lang="en" sz="13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 নির্দিষ্ট সময় পরপর (যেমন ৩ মাস) পাসওয়ার্ড পরিবর্তন করা উচিত।</a:t>
              </a:r>
              <a:endParaRPr sz="1300" b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4361EE"/>
                </a:buClr>
                <a:buSzPts val="1400"/>
                <a:buChar char="●"/>
              </a:pPr>
              <a:r>
                <a:rPr lang="en" sz="13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সাইবার ক্যাফেতে সতর্কতা:</a:t>
              </a:r>
              <a:r>
                <a:rPr lang="en" sz="13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 পাবলিক কম্পিউটার ব্যবহারের পর অবশ্যই অ্যাকাউন্ট লগ আউট করতে হবে।</a:t>
              </a:r>
              <a:endParaRPr sz="1300" b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</p:grpSp>
      <p:grpSp>
        <p:nvGrpSpPr>
          <p:cNvPr id="282" name="Google Shape;282;p18"/>
          <p:cNvGrpSpPr/>
          <p:nvPr/>
        </p:nvGrpSpPr>
        <p:grpSpPr>
          <a:xfrm>
            <a:off x="4852988" y="757238"/>
            <a:ext cx="3914700" cy="4195763"/>
            <a:chOff x="-4762" y="-4762"/>
            <a:chExt cx="3914700" cy="4195763"/>
          </a:xfrm>
        </p:grpSpPr>
        <p:grpSp>
          <p:nvGrpSpPr>
            <p:cNvPr id="283" name="Google Shape;283;p18"/>
            <p:cNvGrpSpPr/>
            <p:nvPr/>
          </p:nvGrpSpPr>
          <p:grpSpPr>
            <a:xfrm>
              <a:off x="-4762" y="-4762"/>
              <a:ext cx="3914700" cy="962100"/>
              <a:chOff x="-4762" y="-4762"/>
              <a:chExt cx="3914700" cy="962100"/>
            </a:xfrm>
          </p:grpSpPr>
          <p:pic>
            <p:nvPicPr>
              <p:cNvPr id="284" name="Google Shape;284;p1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-4762" y="-4762"/>
                <a:ext cx="3914700" cy="962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5" name="Google Shape;285;p18"/>
              <p:cNvSpPr/>
              <p:nvPr/>
            </p:nvSpPr>
            <p:spPr>
              <a:xfrm>
                <a:off x="0" y="0"/>
                <a:ext cx="39054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8"/>
              <p:cNvSpPr txBox="1"/>
              <p:nvPr/>
            </p:nvSpPr>
            <p:spPr>
              <a:xfrm>
                <a:off x="190500" y="95250"/>
                <a:ext cx="3524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 b="1">
                    <a:solidFill>
                      <a:srgbClr val="3A0CA3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পাসওয়ার্ড স্ট্রেন্থ (Password Strength)</a:t>
                </a:r>
                <a:endParaRPr sz="1500" b="1">
                  <a:solidFill>
                    <a:srgbClr val="3A0CA3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87" name="Google Shape;287;p18"/>
              <p:cNvSpPr/>
              <p:nvPr/>
            </p:nvSpPr>
            <p:spPr>
              <a:xfrm>
                <a:off x="190500" y="457200"/>
                <a:ext cx="8097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2DC65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8"/>
              <p:cNvSpPr/>
              <p:nvPr/>
            </p:nvSpPr>
            <p:spPr>
              <a:xfrm>
                <a:off x="1066800" y="457200"/>
                <a:ext cx="8097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2DC65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8"/>
              <p:cNvSpPr/>
              <p:nvPr/>
            </p:nvSpPr>
            <p:spPr>
              <a:xfrm>
                <a:off x="1943100" y="457200"/>
                <a:ext cx="8097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2DC65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>
                <a:off x="2819400" y="457200"/>
                <a:ext cx="8097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2DC65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8"/>
              <p:cNvSpPr txBox="1"/>
              <p:nvPr/>
            </p:nvSpPr>
            <p:spPr>
              <a:xfrm>
                <a:off x="190500" y="619125"/>
                <a:ext cx="34386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2DC653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STRONG (শক্তিশালী)</a:t>
                </a:r>
                <a:endParaRPr sz="1300" b="1">
                  <a:solidFill>
                    <a:srgbClr val="2DC653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</p:grpSp>
        <p:pic>
          <p:nvPicPr>
            <p:cNvPr id="292" name="Google Shape;292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43000" y="1095375"/>
              <a:ext cx="1619100" cy="1619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3" name="Google Shape;293;p18"/>
            <p:cNvGrpSpPr/>
            <p:nvPr/>
          </p:nvGrpSpPr>
          <p:grpSpPr>
            <a:xfrm>
              <a:off x="0" y="2857500"/>
              <a:ext cx="3905400" cy="1333500"/>
              <a:chOff x="0" y="0"/>
              <a:chExt cx="3905400" cy="1333500"/>
            </a:xfrm>
          </p:grpSpPr>
          <p:sp>
            <p:nvSpPr>
              <p:cNvPr id="294" name="Google Shape;294;p18"/>
              <p:cNvSpPr/>
              <p:nvPr/>
            </p:nvSpPr>
            <p:spPr>
              <a:xfrm>
                <a:off x="0" y="0"/>
                <a:ext cx="3905400" cy="1333500"/>
              </a:xfrm>
              <a:prstGeom prst="roundRect">
                <a:avLst>
                  <a:gd name="adj" fmla="val 7142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8"/>
              <p:cNvSpPr/>
              <p:nvPr/>
            </p:nvSpPr>
            <p:spPr>
              <a:xfrm>
                <a:off x="142875" y="142875"/>
                <a:ext cx="3619500" cy="457200"/>
              </a:xfrm>
              <a:prstGeom prst="roundRect">
                <a:avLst>
                  <a:gd name="adj" fmla="val 12500"/>
                </a:avLst>
              </a:prstGeom>
              <a:solidFill>
                <a:srgbClr val="FFF5F5"/>
              </a:solidFill>
              <a:ln w="9525" cap="flat" cmpd="sng">
                <a:solidFill>
                  <a:srgbClr val="EF233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8"/>
              <p:cNvSpPr txBox="1"/>
              <p:nvPr/>
            </p:nvSpPr>
            <p:spPr>
              <a:xfrm>
                <a:off x="238125" y="142875"/>
                <a:ext cx="3429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EF233C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দুর্বল (Weak):</a:t>
                </a:r>
                <a:r>
                  <a:rPr lang="en" sz="1200" b="0">
                    <a:solidFill>
                      <a:srgbClr val="2B2D42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 </a:t>
                </a:r>
                <a:r>
                  <a:rPr lang="en" sz="1200" b="0">
                    <a:solidFill>
                      <a:srgbClr val="2B2D42"/>
                    </a:solidFill>
                    <a:latin typeface="Arial"/>
                    <a:ea typeface="Arial"/>
                    <a:cs typeface="Arial"/>
                    <a:sym typeface="Arial"/>
                  </a:rPr>
                  <a:t>rahman123</a:t>
                </a:r>
                <a:r>
                  <a:rPr lang="en" sz="1200" b="0">
                    <a:solidFill>
                      <a:srgbClr val="2B2D42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 </a:t>
                </a:r>
                <a:r>
                  <a:rPr lang="en" sz="1100" b="0">
                    <a:solidFill>
                      <a:srgbClr val="EF233C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(সহজে অনুমানযোগ্য)</a:t>
                </a:r>
                <a:endParaRPr sz="12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97" name="Google Shape;297;p18"/>
              <p:cNvSpPr/>
              <p:nvPr/>
            </p:nvSpPr>
            <p:spPr>
              <a:xfrm>
                <a:off x="142875" y="714375"/>
                <a:ext cx="3619500" cy="457200"/>
              </a:xfrm>
              <a:prstGeom prst="roundRect">
                <a:avLst>
                  <a:gd name="adj" fmla="val 12500"/>
                </a:avLst>
              </a:prstGeom>
              <a:solidFill>
                <a:srgbClr val="E8F8EC"/>
              </a:solidFill>
              <a:ln w="9525" cap="flat" cmpd="sng">
                <a:solidFill>
                  <a:srgbClr val="2DC65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8"/>
              <p:cNvSpPr txBox="1"/>
              <p:nvPr/>
            </p:nvSpPr>
            <p:spPr>
              <a:xfrm>
                <a:off x="238125" y="714375"/>
                <a:ext cx="3429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2DC653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শক্তিশালী (Strong):</a:t>
                </a:r>
                <a:r>
                  <a:rPr lang="en" sz="1200" b="0">
                    <a:solidFill>
                      <a:srgbClr val="2B2D42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 </a:t>
                </a:r>
                <a:r>
                  <a:rPr lang="en" sz="1200" b="0">
                    <a:solidFill>
                      <a:srgbClr val="2B2D42"/>
                    </a:solidFill>
                    <a:latin typeface="Arial"/>
                    <a:ea typeface="Arial"/>
                    <a:cs typeface="Arial"/>
                    <a:sym typeface="Arial"/>
                  </a:rPr>
                  <a:t>R#m@n89#Pq</a:t>
                </a:r>
                <a:r>
                  <a:rPr lang="en" sz="1200" b="0">
                    <a:solidFill>
                      <a:srgbClr val="2B2D42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 </a:t>
                </a:r>
                <a:r>
                  <a:rPr lang="en" sz="1100" b="0">
                    <a:solidFill>
                      <a:srgbClr val="2DC653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(নিরাপদ)</a:t>
                </a:r>
                <a:endParaRPr sz="1200" b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19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304" name="Google Shape;304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4361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6" name="Google Shape;306;p19"/>
            <p:cNvGrpSpPr/>
            <p:nvPr/>
          </p:nvGrpSpPr>
          <p:grpSpPr>
            <a:xfrm>
              <a:off x="285750" y="247650"/>
              <a:ext cx="381000" cy="266700"/>
              <a:chOff x="0" y="0"/>
              <a:chExt cx="381000" cy="266700"/>
            </a:xfrm>
          </p:grpSpPr>
          <p:sp>
            <p:nvSpPr>
              <p:cNvPr id="307" name="Google Shape;307;p19"/>
              <p:cNvSpPr/>
              <p:nvPr/>
            </p:nvSpPr>
            <p:spPr>
              <a:xfrm>
                <a:off x="0" y="0"/>
                <a:ext cx="3810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4361E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0" y="38100"/>
                <a:ext cx="381000" cy="133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114300" y="57150"/>
                <a:ext cx="152400" cy="152400"/>
              </a:xfrm>
              <a:prstGeom prst="ellipse">
                <a:avLst/>
              </a:prstGeom>
              <a:solidFill>
                <a:srgbClr val="FCA3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0" name="Google Shape;310;p19"/>
            <p:cNvSpPr/>
            <p:nvPr/>
          </p:nvSpPr>
          <p:spPr>
            <a:xfrm>
              <a:off x="0" y="5048250"/>
              <a:ext cx="9144000" cy="95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0" y="5048250"/>
              <a:ext cx="1428900" cy="95400"/>
            </a:xfrm>
            <a:prstGeom prst="rect">
              <a:avLst/>
            </a:prstGeom>
            <a:solidFill>
              <a:srgbClr val="FCA3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2" name="Google Shape;312;p19"/>
          <p:cNvSpPr txBox="1"/>
          <p:nvPr/>
        </p:nvSpPr>
        <p:spPr>
          <a:xfrm>
            <a:off x="857250" y="152400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ই-মেইল ব্যবহার: স্প্যাম ও সাইবার অপরাধ</a:t>
            </a:r>
            <a:endParaRPr sz="2000" b="1">
              <a:solidFill>
                <a:srgbClr val="FFFFFF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grpSp>
        <p:nvGrpSpPr>
          <p:cNvPr id="313" name="Google Shape;313;p19"/>
          <p:cNvGrpSpPr/>
          <p:nvPr/>
        </p:nvGrpSpPr>
        <p:grpSpPr>
          <a:xfrm>
            <a:off x="381000" y="876300"/>
            <a:ext cx="5143500" cy="419100"/>
            <a:chOff x="0" y="0"/>
            <a:chExt cx="5143500" cy="419100"/>
          </a:xfrm>
        </p:grpSpPr>
        <p:sp>
          <p:nvSpPr>
            <p:cNvPr id="314" name="Google Shape;314;p19"/>
            <p:cNvSpPr/>
            <p:nvPr/>
          </p:nvSpPr>
          <p:spPr>
            <a:xfrm>
              <a:off x="0" y="0"/>
              <a:ext cx="5143500" cy="419100"/>
            </a:xfrm>
            <a:prstGeom prst="roundRect">
              <a:avLst>
                <a:gd name="adj" fmla="val 18181"/>
              </a:avLst>
            </a:prstGeom>
            <a:solidFill>
              <a:srgbClr val="4361EE">
                <a:alpha val="8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0" y="0"/>
              <a:ext cx="47700" cy="419100"/>
            </a:xfrm>
            <a:prstGeom prst="roundRect">
              <a:avLst>
                <a:gd name="adj" fmla="val 40000"/>
              </a:avLst>
            </a:prstGeom>
            <a:solidFill>
              <a:srgbClr val="4361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9"/>
            <p:cNvSpPr txBox="1"/>
            <p:nvPr/>
          </p:nvSpPr>
          <p:spPr>
            <a:xfrm>
              <a:off x="152400" y="0"/>
              <a:ext cx="48579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0">
                  <a:solidFill>
                    <a:srgbClr val="3A0CA3"/>
                  </a:solidFill>
                  <a:latin typeface="Hind Siliguri SemiBold"/>
                  <a:ea typeface="Hind Siliguri SemiBold"/>
                  <a:cs typeface="Hind Siliguri SemiBold"/>
                  <a:sym typeface="Hind Siliguri SemiBold"/>
                </a:rPr>
                <a:t>ই-মেইল ব্যবহারের ক্ষেত্রে আমাদের স্প্যাম এবং সাইবার অপরাধ সম্পর্কে সচেতন থাকতে হবে।</a:t>
              </a:r>
              <a:endParaRPr sz="1350" b="0">
                <a:solidFill>
                  <a:srgbClr val="3A0CA3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endParaRPr>
            </a:p>
          </p:txBody>
        </p:sp>
      </p:grpSp>
      <p:grpSp>
        <p:nvGrpSpPr>
          <p:cNvPr id="317" name="Google Shape;317;p19"/>
          <p:cNvGrpSpPr/>
          <p:nvPr/>
        </p:nvGrpSpPr>
        <p:grpSpPr>
          <a:xfrm>
            <a:off x="381000" y="1409700"/>
            <a:ext cx="5143500" cy="1066800"/>
            <a:chOff x="0" y="0"/>
            <a:chExt cx="5143500" cy="1066800"/>
          </a:xfrm>
        </p:grpSpPr>
        <p:sp>
          <p:nvSpPr>
            <p:cNvPr id="318" name="Google Shape;318;p19"/>
            <p:cNvSpPr/>
            <p:nvPr/>
          </p:nvSpPr>
          <p:spPr>
            <a:xfrm>
              <a:off x="0" y="0"/>
              <a:ext cx="5143500" cy="1066800"/>
            </a:xfrm>
            <a:prstGeom prst="roundRect">
              <a:avLst>
                <a:gd name="adj" fmla="val 8928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0" y="0"/>
              <a:ext cx="5143500" cy="1066800"/>
            </a:xfrm>
            <a:prstGeom prst="roundRect">
              <a:avLst>
                <a:gd name="adj" fmla="val 8928"/>
              </a:avLst>
            </a:prstGeom>
            <a:solidFill>
              <a:srgbClr val="FCA311">
                <a:alpha val="3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9"/>
            <p:cNvSpPr/>
            <p:nvPr/>
          </p:nvSpPr>
          <p:spPr>
            <a:xfrm>
              <a:off x="0" y="0"/>
              <a:ext cx="57300" cy="1066800"/>
            </a:xfrm>
            <a:prstGeom prst="roundRect">
              <a:avLst>
                <a:gd name="adj" fmla="val 50000"/>
              </a:avLst>
            </a:prstGeom>
            <a:solidFill>
              <a:srgbClr val="FCA3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19"/>
            <p:cNvGrpSpPr/>
            <p:nvPr/>
          </p:nvGrpSpPr>
          <p:grpSpPr>
            <a:xfrm>
              <a:off x="190500" y="240030"/>
              <a:ext cx="342900" cy="257100"/>
              <a:chOff x="0" y="68580"/>
              <a:chExt cx="342900" cy="257100"/>
            </a:xfrm>
          </p:grpSpPr>
          <p:sp>
            <p:nvSpPr>
              <p:cNvPr id="322" name="Google Shape;322;p19"/>
              <p:cNvSpPr/>
              <p:nvPr/>
            </p:nvSpPr>
            <p:spPr>
              <a:xfrm>
                <a:off x="0" y="68580"/>
                <a:ext cx="342900" cy="257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" y="0"/>
                    </a:moveTo>
                    <a:lnTo>
                      <a:pt x="42000" y="0"/>
                    </a:lnTo>
                    <a:lnTo>
                      <a:pt x="54000" y="16000"/>
                    </a:lnTo>
                    <a:lnTo>
                      <a:pt x="108000" y="16000"/>
                    </a:lnTo>
                    <a:cubicBezTo>
                      <a:pt x="114667" y="16000"/>
                      <a:pt x="120000" y="23111"/>
                      <a:pt x="120000" y="32000"/>
                    </a:cubicBezTo>
                    <a:lnTo>
                      <a:pt x="120000" y="104000"/>
                    </a:lnTo>
                    <a:cubicBezTo>
                      <a:pt x="120000" y="112889"/>
                      <a:pt x="114667" y="120000"/>
                      <a:pt x="108000" y="120000"/>
                    </a:cubicBezTo>
                    <a:lnTo>
                      <a:pt x="12000" y="120000"/>
                    </a:lnTo>
                    <a:cubicBezTo>
                      <a:pt x="5333" y="120000"/>
                      <a:pt x="0" y="112889"/>
                      <a:pt x="0" y="104000"/>
                    </a:cubicBezTo>
                    <a:lnTo>
                      <a:pt x="0" y="16000"/>
                    </a:lnTo>
                    <a:cubicBezTo>
                      <a:pt x="0" y="7111"/>
                      <a:pt x="5333" y="0"/>
                      <a:pt x="12000" y="0"/>
                    </a:cubicBezTo>
                    <a:close/>
                  </a:path>
                </a:pathLst>
              </a:custGeom>
              <a:solidFill>
                <a:srgbClr val="FCA3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68580" y="154305"/>
                <a:ext cx="205800" cy="1287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68580" y="154305"/>
                <a:ext cx="205800" cy="77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7150" cap="flat" cmpd="sng">
                <a:solidFill>
                  <a:srgbClr val="FCA3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214313" y="94297"/>
                <a:ext cx="120000" cy="120000"/>
              </a:xfrm>
              <a:prstGeom prst="ellipse">
                <a:avLst/>
              </a:prstGeom>
              <a:solidFill>
                <a:srgbClr val="EF233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265748" y="120015"/>
                <a:ext cx="17100" cy="42900"/>
              </a:xfrm>
              <a:prstGeom prst="roundRect">
                <a:avLst>
                  <a:gd name="adj" fmla="val 49999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265748" y="171450"/>
                <a:ext cx="17100" cy="171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8" name="Google Shape;328;p19"/>
            <p:cNvSpPr txBox="1"/>
            <p:nvPr/>
          </p:nvSpPr>
          <p:spPr>
            <a:xfrm>
              <a:off x="647700" y="95250"/>
              <a:ext cx="43434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0" b="1" dirty="0">
                  <a:solidFill>
                    <a:srgbClr val="D97706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স্প্যাম (Spam)</a:t>
              </a:r>
              <a:endParaRPr sz="1480" b="1" dirty="0">
                <a:solidFill>
                  <a:srgbClr val="D97706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203" b="0" dirty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ইন্টারনেটে অনেক সময় আমাদের ই-মেইল ঠিকানায় অসংখ্য অপ্রয়োজনীয়, অবাঞ্ছিত বা আপত্তিকর ই-মেইল আসে। এগুলোকে স্প্যাম বলা হয়। এগুলো অনেক সময় বিরক্তির কারণ হয় এবং ক্ষতিকর ভাইরাস বহন করতে পারে।</a:t>
              </a:r>
              <a:endParaRPr sz="1203" b="0" dirty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</p:grpSp>
      <p:grpSp>
        <p:nvGrpSpPr>
          <p:cNvPr id="329" name="Google Shape;329;p19"/>
          <p:cNvGrpSpPr/>
          <p:nvPr/>
        </p:nvGrpSpPr>
        <p:grpSpPr>
          <a:xfrm>
            <a:off x="381000" y="2571750"/>
            <a:ext cx="5143500" cy="1124100"/>
            <a:chOff x="0" y="0"/>
            <a:chExt cx="5143500" cy="1124100"/>
          </a:xfrm>
        </p:grpSpPr>
        <p:sp>
          <p:nvSpPr>
            <p:cNvPr id="330" name="Google Shape;330;p19"/>
            <p:cNvSpPr/>
            <p:nvPr/>
          </p:nvSpPr>
          <p:spPr>
            <a:xfrm>
              <a:off x="0" y="0"/>
              <a:ext cx="5143500" cy="1124100"/>
            </a:xfrm>
            <a:prstGeom prst="roundRect">
              <a:avLst>
                <a:gd name="adj" fmla="val 8474"/>
              </a:avLst>
            </a:prstGeom>
            <a:solidFill>
              <a:srgbClr val="FFF5F5"/>
            </a:solidFill>
            <a:ln w="14300" cap="flat" cmpd="sng">
              <a:solidFill>
                <a:srgbClr val="F8717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0" y="0"/>
              <a:ext cx="57300" cy="1124100"/>
            </a:xfrm>
            <a:prstGeom prst="roundRect">
              <a:avLst>
                <a:gd name="adj" fmla="val 50000"/>
              </a:avLst>
            </a:prstGeom>
            <a:solidFill>
              <a:srgbClr val="EF233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2" name="Google Shape;332;p19"/>
            <p:cNvGrpSpPr/>
            <p:nvPr/>
          </p:nvGrpSpPr>
          <p:grpSpPr>
            <a:xfrm>
              <a:off x="190500" y="171450"/>
              <a:ext cx="342900" cy="304800"/>
              <a:chOff x="0" y="0"/>
              <a:chExt cx="342900" cy="304800"/>
            </a:xfrm>
          </p:grpSpPr>
          <p:sp>
            <p:nvSpPr>
              <p:cNvPr id="333" name="Google Shape;333;p19"/>
              <p:cNvSpPr/>
              <p:nvPr/>
            </p:nvSpPr>
            <p:spPr>
              <a:xfrm>
                <a:off x="0" y="0"/>
                <a:ext cx="3429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EF233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154305" y="85725"/>
                <a:ext cx="34200" cy="1287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150019" y="235744"/>
                <a:ext cx="42900" cy="429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6" name="Google Shape;336;p19"/>
            <p:cNvSpPr txBox="1"/>
            <p:nvPr/>
          </p:nvSpPr>
          <p:spPr>
            <a:xfrm>
              <a:off x="647700" y="95250"/>
              <a:ext cx="43434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EF233C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প্রতারণা (Fraud)</a:t>
              </a:r>
              <a:endParaRPr sz="1600" b="1" dirty="0">
                <a:solidFill>
                  <a:srgbClr val="EF233C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300" b="0" dirty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অনেক সময় লটারির নামে, লোভনীয় অফার দিয়ে বা ভুয়া চাকরি দেওয়ার কথা বলে প্রতারণামূলক ই-মেইল পাঠানো হয়। এর মাধ্যমে সাইবার অপরাধীরা আপনার ব্যক্তিগত তথ্য বা অর্থ হাতিয়ে নেওয়ার চেষ্টা করে।</a:t>
              </a:r>
              <a:endParaRPr sz="1300" b="0" dirty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</p:grpSp>
      <p:grpSp>
        <p:nvGrpSpPr>
          <p:cNvPr id="337" name="Google Shape;337;p19"/>
          <p:cNvGrpSpPr/>
          <p:nvPr/>
        </p:nvGrpSpPr>
        <p:grpSpPr>
          <a:xfrm>
            <a:off x="381000" y="3790950"/>
            <a:ext cx="5143500" cy="1009800"/>
            <a:chOff x="0" y="0"/>
            <a:chExt cx="5143500" cy="1009800"/>
          </a:xfrm>
        </p:grpSpPr>
        <p:sp>
          <p:nvSpPr>
            <p:cNvPr id="338" name="Google Shape;338;p19"/>
            <p:cNvSpPr/>
            <p:nvPr/>
          </p:nvSpPr>
          <p:spPr>
            <a:xfrm>
              <a:off x="0" y="0"/>
              <a:ext cx="5143500" cy="1009800"/>
            </a:xfrm>
            <a:prstGeom prst="roundRect">
              <a:avLst>
                <a:gd name="adj" fmla="val 9433"/>
              </a:avLst>
            </a:prstGeom>
            <a:solidFill>
              <a:srgbClr val="F0FDF4"/>
            </a:solidFill>
            <a:ln w="14300" cap="flat" cmpd="sng">
              <a:solidFill>
                <a:srgbClr val="86EF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0" y="0"/>
              <a:ext cx="57300" cy="1009800"/>
            </a:xfrm>
            <a:prstGeom prst="roundRect">
              <a:avLst>
                <a:gd name="adj" fmla="val 50000"/>
              </a:avLst>
            </a:prstGeom>
            <a:solidFill>
              <a:srgbClr val="2DC65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0" name="Google Shape;340;p19"/>
            <p:cNvGrpSpPr/>
            <p:nvPr/>
          </p:nvGrpSpPr>
          <p:grpSpPr>
            <a:xfrm>
              <a:off x="190500" y="152400"/>
              <a:ext cx="342900" cy="471600"/>
              <a:chOff x="0" y="0"/>
              <a:chExt cx="342900" cy="471600"/>
            </a:xfrm>
          </p:grpSpPr>
          <p:sp>
            <p:nvSpPr>
              <p:cNvPr id="341" name="Google Shape;341;p19"/>
              <p:cNvSpPr/>
              <p:nvPr/>
            </p:nvSpPr>
            <p:spPr>
              <a:xfrm>
                <a:off x="0" y="0"/>
                <a:ext cx="342900" cy="471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120000" y="21818"/>
                    </a:lnTo>
                    <a:lnTo>
                      <a:pt x="120000" y="54545"/>
                    </a:lnTo>
                    <a:cubicBezTo>
                      <a:pt x="120000" y="82909"/>
                      <a:pt x="93000" y="109091"/>
                      <a:pt x="60000" y="120000"/>
                    </a:cubicBezTo>
                    <a:cubicBezTo>
                      <a:pt x="27000" y="109091"/>
                      <a:pt x="0" y="82909"/>
                      <a:pt x="0" y="54545"/>
                    </a:cubicBezTo>
                    <a:lnTo>
                      <a:pt x="0" y="21818"/>
                    </a:lnTo>
                    <a:close/>
                  </a:path>
                </a:pathLst>
              </a:custGeom>
              <a:solidFill>
                <a:srgbClr val="2DC65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>
                <a:off x="102870" y="171450"/>
                <a:ext cx="137100" cy="1200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8571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343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3" name="Google Shape;343;p19"/>
            <p:cNvSpPr txBox="1"/>
            <p:nvPr/>
          </p:nvSpPr>
          <p:spPr>
            <a:xfrm>
              <a:off x="647700" y="95250"/>
              <a:ext cx="43434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2DC653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সতর্কতা (Safety)</a:t>
              </a:r>
              <a:endParaRPr sz="1600" b="1" dirty="0">
                <a:solidFill>
                  <a:srgbClr val="2DC653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300" b="0" dirty="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অপরিচিত কোনো প্রেরকের কাছ থেকে আসা ই-মেইলের লিংক বা অ্যাটাচমেন্টে ক্লিক করা থেকে সম্পূর্ণ বিরত থাকতে হবে।</a:t>
              </a:r>
              <a:endParaRPr sz="1300" b="0" dirty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</p:grpSp>
      <p:grpSp>
        <p:nvGrpSpPr>
          <p:cNvPr id="344" name="Google Shape;344;p19"/>
          <p:cNvGrpSpPr/>
          <p:nvPr/>
        </p:nvGrpSpPr>
        <p:grpSpPr>
          <a:xfrm>
            <a:off x="5791200" y="876300"/>
            <a:ext cx="2971800" cy="362100"/>
            <a:chOff x="0" y="0"/>
            <a:chExt cx="2971800" cy="362100"/>
          </a:xfrm>
        </p:grpSpPr>
        <p:sp>
          <p:nvSpPr>
            <p:cNvPr id="345" name="Google Shape;345;p19"/>
            <p:cNvSpPr/>
            <p:nvPr/>
          </p:nvSpPr>
          <p:spPr>
            <a:xfrm>
              <a:off x="0" y="0"/>
              <a:ext cx="2971800" cy="362100"/>
            </a:xfrm>
            <a:prstGeom prst="roundRect">
              <a:avLst>
                <a:gd name="adj" fmla="val 15789"/>
              </a:avLst>
            </a:prstGeom>
            <a:solidFill>
              <a:srgbClr val="3A0CA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9"/>
            <p:cNvSpPr txBox="1"/>
            <p:nvPr/>
          </p:nvSpPr>
          <p:spPr>
            <a:xfrm>
              <a:off x="0" y="0"/>
              <a:ext cx="29718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ভুয়া ই-মেইলের স্ক্রিনশট</a:t>
              </a:r>
              <a:endParaRPr sz="1350" b="1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</p:grpSp>
      <p:pic>
        <p:nvPicPr>
          <p:cNvPr id="347" name="Google Shape;34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1200" y="1333500"/>
            <a:ext cx="2971800" cy="222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19"/>
          <p:cNvGrpSpPr/>
          <p:nvPr/>
        </p:nvGrpSpPr>
        <p:grpSpPr>
          <a:xfrm>
            <a:off x="5791200" y="3657600"/>
            <a:ext cx="2971800" cy="1143000"/>
            <a:chOff x="0" y="0"/>
            <a:chExt cx="2971800" cy="1143000"/>
          </a:xfrm>
        </p:grpSpPr>
        <p:sp>
          <p:nvSpPr>
            <p:cNvPr id="349" name="Google Shape;349;p19"/>
            <p:cNvSpPr/>
            <p:nvPr/>
          </p:nvSpPr>
          <p:spPr>
            <a:xfrm>
              <a:off x="0" y="0"/>
              <a:ext cx="2971800" cy="1143000"/>
            </a:xfrm>
            <a:prstGeom prst="roundRect">
              <a:avLst>
                <a:gd name="adj" fmla="val 8333"/>
              </a:avLst>
            </a:prstGeom>
            <a:solidFill>
              <a:srgbClr val="FFF5F5"/>
            </a:solidFill>
            <a:ln w="14300" cap="flat" cmpd="sng">
              <a:solidFill>
                <a:srgbClr val="EF233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9"/>
            <p:cNvSpPr txBox="1"/>
            <p:nvPr/>
          </p:nvSpPr>
          <p:spPr>
            <a:xfrm>
              <a:off x="152400" y="95250"/>
              <a:ext cx="2667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50" b="1">
                  <a:solidFill>
                    <a:srgbClr val="EF233C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⚠️ সন্দেহজনক সংকেত:</a:t>
              </a:r>
              <a:endParaRPr sz="1250" b="1">
                <a:solidFill>
                  <a:srgbClr val="EF233C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50">
                  <a:solidFill>
                    <a:srgbClr val="2B2D42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অপরিচিত প্রেরক, জরুরি পদক্ষেপ নেওয়ার চাপ এবং প্রলোভনমূলক বার্তা বা লিংক দেখলে সাথে সাথে সতর্ক হন।</a:t>
              </a:r>
              <a:endParaRPr sz="115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20"/>
          <p:cNvGrpSpPr/>
          <p:nvPr/>
        </p:nvGrpSpPr>
        <p:grpSpPr>
          <a:xfrm>
            <a:off x="-1905000" y="-904389"/>
            <a:ext cx="12810639" cy="8048139"/>
            <a:chOff x="-1905000" y="-904389"/>
            <a:chExt cx="12810639" cy="8048139"/>
          </a:xfrm>
        </p:grpSpPr>
        <p:sp>
          <p:nvSpPr>
            <p:cNvPr id="356" name="Google Shape;356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4361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0"/>
            <p:cNvSpPr/>
            <p:nvPr/>
          </p:nvSpPr>
          <p:spPr>
            <a:xfrm>
              <a:off x="-1905000" y="1428750"/>
              <a:ext cx="5715000" cy="5715000"/>
            </a:xfrm>
            <a:prstGeom prst="ellipse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0"/>
            <p:cNvSpPr/>
            <p:nvPr/>
          </p:nvSpPr>
          <p:spPr>
            <a:xfrm rot="900000">
              <a:off x="6667500" y="-476250"/>
              <a:ext cx="3810000" cy="3810000"/>
            </a:xfrm>
            <a:prstGeom prst="roundRect">
              <a:avLst>
                <a:gd name="adj" fmla="val 12500"/>
              </a:avLst>
            </a:prstGeom>
            <a:solidFill>
              <a:srgbClr val="3A0CA3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9" name="Google Shape;359;p20"/>
            <p:cNvGrpSpPr/>
            <p:nvPr/>
          </p:nvGrpSpPr>
          <p:grpSpPr>
            <a:xfrm>
              <a:off x="8477250" y="238125"/>
              <a:ext cx="381000" cy="266700"/>
              <a:chOff x="0" y="0"/>
              <a:chExt cx="381000" cy="266700"/>
            </a:xfrm>
          </p:grpSpPr>
          <p:sp>
            <p:nvSpPr>
              <p:cNvPr id="360" name="Google Shape;360;p20"/>
              <p:cNvSpPr/>
              <p:nvPr/>
            </p:nvSpPr>
            <p:spPr>
              <a:xfrm>
                <a:off x="0" y="0"/>
                <a:ext cx="3810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0"/>
              <p:cNvSpPr/>
              <p:nvPr/>
            </p:nvSpPr>
            <p:spPr>
              <a:xfrm>
                <a:off x="0" y="38100"/>
                <a:ext cx="381000" cy="133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flat" cmpd="sng">
                <a:solidFill>
                  <a:srgbClr val="4361E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0"/>
              <p:cNvSpPr/>
              <p:nvPr/>
            </p:nvSpPr>
            <p:spPr>
              <a:xfrm>
                <a:off x="114300" y="57150"/>
                <a:ext cx="152400" cy="152400"/>
              </a:xfrm>
              <a:prstGeom prst="ellipse">
                <a:avLst/>
              </a:prstGeom>
              <a:solidFill>
                <a:srgbClr val="FCA3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63" name="Google Shape;363;p20"/>
          <p:cNvSpPr txBox="1"/>
          <p:nvPr/>
        </p:nvSpPr>
        <p:spPr>
          <a:xfrm>
            <a:off x="381000" y="152400"/>
            <a:ext cx="79059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5" b="1">
                <a:solidFill>
                  <a:srgbClr val="FCA311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দলগত কাজ ও মূল্যায়ন কুইজ</a:t>
            </a:r>
            <a:endParaRPr sz="2035" b="1">
              <a:solidFill>
                <a:srgbClr val="FCA311"/>
              </a:solidFill>
              <a:latin typeface="Hind Siliguri"/>
              <a:ea typeface="Hind Siliguri"/>
              <a:cs typeface="Hind Siliguri"/>
              <a:sym typeface="Hind Siliguri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203" b="0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এতক্ষণ আমরা ই-মেইল সম্পর্কে যা শিখলাম, তা যাচাই করার জন্য এখন আমরা একটি দলগত কাজ ও কুইজ কার্যক্রমে অংশগ্রহণ করবো।</a:t>
            </a:r>
            <a:endParaRPr sz="1203" b="0">
              <a:solidFill>
                <a:srgbClr val="FFFFFF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sp>
        <p:nvSpPr>
          <p:cNvPr id="375" name="Google Shape;375;p20"/>
          <p:cNvSpPr txBox="1"/>
          <p:nvPr/>
        </p:nvSpPr>
        <p:spPr>
          <a:xfrm>
            <a:off x="4381500" y="857250"/>
            <a:ext cx="4381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মূল্যায়ন কুইজ (Quiz)</a:t>
            </a:r>
            <a:endParaRPr sz="1600" b="1">
              <a:solidFill>
                <a:srgbClr val="FFFFFF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grpSp>
        <p:nvGrpSpPr>
          <p:cNvPr id="376" name="Google Shape;376;p20"/>
          <p:cNvGrpSpPr/>
          <p:nvPr/>
        </p:nvGrpSpPr>
        <p:grpSpPr>
          <a:xfrm>
            <a:off x="4381500" y="1190625"/>
            <a:ext cx="4381500" cy="1095300"/>
            <a:chOff x="0" y="0"/>
            <a:chExt cx="4381500" cy="1095300"/>
          </a:xfrm>
        </p:grpSpPr>
        <p:sp>
          <p:nvSpPr>
            <p:cNvPr id="377" name="Google Shape;377;p20"/>
            <p:cNvSpPr/>
            <p:nvPr/>
          </p:nvSpPr>
          <p:spPr>
            <a:xfrm>
              <a:off x="0" y="0"/>
              <a:ext cx="4381500" cy="1095300"/>
            </a:xfrm>
            <a:prstGeom prst="roundRect">
              <a:avLst>
                <a:gd name="adj" fmla="val 10434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0"/>
            <p:cNvSpPr/>
            <p:nvPr/>
          </p:nvSpPr>
          <p:spPr>
            <a:xfrm>
              <a:off x="152400" y="152400"/>
              <a:ext cx="381000" cy="381000"/>
            </a:xfrm>
            <a:prstGeom prst="ellipse">
              <a:avLst/>
            </a:prstGeom>
            <a:solidFill>
              <a:srgbClr val="4361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0"/>
            <p:cNvSpPr txBox="1"/>
            <p:nvPr/>
          </p:nvSpPr>
          <p:spPr>
            <a:xfrm>
              <a:off x="152400" y="1524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১</a:t>
              </a:r>
              <a:endParaRPr sz="1600" b="1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  <p:grpSp>
          <p:nvGrpSpPr>
            <p:cNvPr id="380" name="Google Shape;380;p20"/>
            <p:cNvGrpSpPr/>
            <p:nvPr/>
          </p:nvGrpSpPr>
          <p:grpSpPr>
            <a:xfrm>
              <a:off x="4019550" y="133350"/>
              <a:ext cx="228600" cy="228600"/>
              <a:chOff x="0" y="0"/>
              <a:chExt cx="228600" cy="228600"/>
            </a:xfrm>
          </p:grpSpPr>
          <p:sp>
            <p:nvSpPr>
              <p:cNvPr id="381" name="Google Shape;381;p20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2DC653">
                  <a:alpha val="1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0"/>
              <p:cNvSpPr/>
              <p:nvPr/>
            </p:nvSpPr>
            <p:spPr>
              <a:xfrm>
                <a:off x="66675" y="76200"/>
                <a:ext cx="95400" cy="66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8571"/>
                    </a:moveTo>
                    <a:lnTo>
                      <a:pt x="36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3825" cap="rnd" cmpd="sng">
                <a:solidFill>
                  <a:srgbClr val="2DC65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3" name="Google Shape;383;p20"/>
            <p:cNvSpPr txBox="1"/>
            <p:nvPr/>
          </p:nvSpPr>
          <p:spPr>
            <a:xfrm>
              <a:off x="647700" y="133350"/>
              <a:ext cx="32862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0">
                  <a:solidFill>
                    <a:srgbClr val="2B2D42"/>
                  </a:solidFill>
                  <a:latin typeface="Hind Siliguri SemiBold"/>
                  <a:ea typeface="Hind Siliguri SemiBold"/>
                  <a:cs typeface="Hind Siliguri SemiBold"/>
                  <a:sym typeface="Hind Siliguri SemiBold"/>
                </a:rPr>
                <a:t>একটি সঠিক ই-মেইল ঠিকানায় কোন বিশেষ চিহ্নটি অবশ্যই থাকতে হয়?</a:t>
              </a:r>
              <a:endParaRPr sz="1350" b="0">
                <a:solidFill>
                  <a:srgbClr val="2B2D42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endParaRPr>
            </a:p>
          </p:txBody>
        </p:sp>
      </p:grpSp>
      <p:grpSp>
        <p:nvGrpSpPr>
          <p:cNvPr id="384" name="Google Shape;384;p20"/>
          <p:cNvGrpSpPr/>
          <p:nvPr/>
        </p:nvGrpSpPr>
        <p:grpSpPr>
          <a:xfrm>
            <a:off x="4381500" y="2428875"/>
            <a:ext cx="4381500" cy="1095300"/>
            <a:chOff x="0" y="0"/>
            <a:chExt cx="4381500" cy="1095300"/>
          </a:xfrm>
        </p:grpSpPr>
        <p:sp>
          <p:nvSpPr>
            <p:cNvPr id="385" name="Google Shape;385;p20"/>
            <p:cNvSpPr/>
            <p:nvPr/>
          </p:nvSpPr>
          <p:spPr>
            <a:xfrm>
              <a:off x="0" y="0"/>
              <a:ext cx="4381500" cy="1095300"/>
            </a:xfrm>
            <a:prstGeom prst="roundRect">
              <a:avLst>
                <a:gd name="adj" fmla="val 10434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0"/>
            <p:cNvSpPr/>
            <p:nvPr/>
          </p:nvSpPr>
          <p:spPr>
            <a:xfrm>
              <a:off x="152400" y="152400"/>
              <a:ext cx="381000" cy="381000"/>
            </a:xfrm>
            <a:prstGeom prst="ellipse">
              <a:avLst/>
            </a:prstGeom>
            <a:solidFill>
              <a:srgbClr val="FCA3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0"/>
            <p:cNvSpPr txBox="1"/>
            <p:nvPr/>
          </p:nvSpPr>
          <p:spPr>
            <a:xfrm>
              <a:off x="152400" y="1524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২</a:t>
              </a:r>
              <a:endParaRPr sz="1600" b="1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  <p:grpSp>
          <p:nvGrpSpPr>
            <p:cNvPr id="388" name="Google Shape;388;p20"/>
            <p:cNvGrpSpPr/>
            <p:nvPr/>
          </p:nvGrpSpPr>
          <p:grpSpPr>
            <a:xfrm>
              <a:off x="4019550" y="133350"/>
              <a:ext cx="228600" cy="228600"/>
              <a:chOff x="0" y="0"/>
              <a:chExt cx="228600" cy="228600"/>
            </a:xfrm>
          </p:grpSpPr>
          <p:sp>
            <p:nvSpPr>
              <p:cNvPr id="389" name="Google Shape;389;p20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2DC653">
                  <a:alpha val="1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0"/>
              <p:cNvSpPr/>
              <p:nvPr/>
            </p:nvSpPr>
            <p:spPr>
              <a:xfrm>
                <a:off x="66675" y="76200"/>
                <a:ext cx="95400" cy="66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8571"/>
                    </a:moveTo>
                    <a:lnTo>
                      <a:pt x="36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3825" cap="rnd" cmpd="sng">
                <a:solidFill>
                  <a:srgbClr val="2DC65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1" name="Google Shape;391;p20"/>
            <p:cNvSpPr txBox="1"/>
            <p:nvPr/>
          </p:nvSpPr>
          <p:spPr>
            <a:xfrm>
              <a:off x="647700" y="133350"/>
              <a:ext cx="32862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0">
                  <a:solidFill>
                    <a:srgbClr val="2B2D42"/>
                  </a:solidFill>
                  <a:latin typeface="Hind Siliguri SemiBold"/>
                  <a:ea typeface="Hind Siliguri SemiBold"/>
                  <a:cs typeface="Hind Siliguri SemiBold"/>
                  <a:sym typeface="Hind Siliguri SemiBold"/>
                </a:rPr>
                <a:t>স্প্যাম (Spam) বলতে কী বোঝায় এবং এটি কেন ক্ষতিকর?</a:t>
              </a:r>
              <a:endParaRPr sz="1350" b="0">
                <a:solidFill>
                  <a:srgbClr val="2B2D42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endParaRPr>
            </a:p>
          </p:txBody>
        </p:sp>
      </p:grpSp>
      <p:grpSp>
        <p:nvGrpSpPr>
          <p:cNvPr id="392" name="Google Shape;392;p20"/>
          <p:cNvGrpSpPr/>
          <p:nvPr/>
        </p:nvGrpSpPr>
        <p:grpSpPr>
          <a:xfrm>
            <a:off x="4381500" y="3667125"/>
            <a:ext cx="4381500" cy="1238400"/>
            <a:chOff x="0" y="0"/>
            <a:chExt cx="4381500" cy="1238400"/>
          </a:xfrm>
        </p:grpSpPr>
        <p:sp>
          <p:nvSpPr>
            <p:cNvPr id="393" name="Google Shape;393;p20"/>
            <p:cNvSpPr/>
            <p:nvPr/>
          </p:nvSpPr>
          <p:spPr>
            <a:xfrm>
              <a:off x="0" y="0"/>
              <a:ext cx="4381500" cy="12384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0"/>
            <p:cNvSpPr/>
            <p:nvPr/>
          </p:nvSpPr>
          <p:spPr>
            <a:xfrm>
              <a:off x="152400" y="152400"/>
              <a:ext cx="381000" cy="381000"/>
            </a:xfrm>
            <a:prstGeom prst="ellipse">
              <a:avLst/>
            </a:prstGeom>
            <a:solidFill>
              <a:srgbClr val="2DC65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0"/>
            <p:cNvSpPr txBox="1"/>
            <p:nvPr/>
          </p:nvSpPr>
          <p:spPr>
            <a:xfrm>
              <a:off x="152400" y="1524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৩</a:t>
              </a:r>
              <a:endParaRPr sz="1600" b="1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  <p:grpSp>
          <p:nvGrpSpPr>
            <p:cNvPr id="396" name="Google Shape;396;p20"/>
            <p:cNvGrpSpPr/>
            <p:nvPr/>
          </p:nvGrpSpPr>
          <p:grpSpPr>
            <a:xfrm>
              <a:off x="4019550" y="133350"/>
              <a:ext cx="228600" cy="228600"/>
              <a:chOff x="0" y="0"/>
              <a:chExt cx="228600" cy="228600"/>
            </a:xfrm>
          </p:grpSpPr>
          <p:sp>
            <p:nvSpPr>
              <p:cNvPr id="397" name="Google Shape;397;p20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2DC653">
                  <a:alpha val="1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0"/>
              <p:cNvSpPr/>
              <p:nvPr/>
            </p:nvSpPr>
            <p:spPr>
              <a:xfrm>
                <a:off x="66675" y="76200"/>
                <a:ext cx="95400" cy="66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8571"/>
                    </a:moveTo>
                    <a:lnTo>
                      <a:pt x="36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3825" cap="rnd" cmpd="sng">
                <a:solidFill>
                  <a:srgbClr val="2DC65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9" name="Google Shape;399;p20"/>
            <p:cNvSpPr txBox="1"/>
            <p:nvPr/>
          </p:nvSpPr>
          <p:spPr>
            <a:xfrm>
              <a:off x="647700" y="114300"/>
              <a:ext cx="3286200" cy="100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0">
                  <a:solidFill>
                    <a:srgbClr val="2B2D42"/>
                  </a:solidFill>
                  <a:latin typeface="Hind Siliguri SemiBold"/>
                  <a:ea typeface="Hind Siliguri SemiBold"/>
                  <a:cs typeface="Hind Siliguri SemiBold"/>
                  <a:sym typeface="Hind Siliguri SemiBold"/>
                </a:rPr>
                <a:t>নিজের ই-মেইল অ্যাকাউন্টের পাসওয়ার্ড সুরক্ষায় আমাদের কী কী সতর্কতা অবলম্বন করা প্রয়োজন?</a:t>
              </a:r>
              <a:endParaRPr sz="1350" b="0">
                <a:solidFill>
                  <a:srgbClr val="2B2D42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A824EFA1-5F45-3E45-0D34-A079CBA9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18">
            <a:extLst>
              <a:ext uri="{FF2B5EF4-FFF2-40B4-BE49-F238E27FC236}">
                <a16:creationId xmlns:a16="http://schemas.microsoft.com/office/drawing/2014/main" id="{E7F8D74A-2976-188D-33DD-66D65DAAC664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71" name="Google Shape;271;p18">
              <a:extLst>
                <a:ext uri="{FF2B5EF4-FFF2-40B4-BE49-F238E27FC236}">
                  <a16:creationId xmlns:a16="http://schemas.microsoft.com/office/drawing/2014/main" id="{7D73923D-1F74-8F69-7127-2F404AFCD28D}"/>
                </a:ext>
              </a:extLst>
            </p:cNvPr>
            <p:cNvSpPr/>
            <p:nvPr/>
          </p:nvSpPr>
          <p:spPr>
            <a:xfrm>
              <a:off x="0" y="0"/>
              <a:ext cx="4572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8">
              <a:extLst>
                <a:ext uri="{FF2B5EF4-FFF2-40B4-BE49-F238E27FC236}">
                  <a16:creationId xmlns:a16="http://schemas.microsoft.com/office/drawing/2014/main" id="{C633A549-034B-02BA-053C-2116E9362045}"/>
                </a:ext>
              </a:extLst>
            </p:cNvPr>
            <p:cNvSpPr/>
            <p:nvPr/>
          </p:nvSpPr>
          <p:spPr>
            <a:xfrm>
              <a:off x="4572000" y="0"/>
              <a:ext cx="4572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>
              <a:extLst>
                <a:ext uri="{FF2B5EF4-FFF2-40B4-BE49-F238E27FC236}">
                  <a16:creationId xmlns:a16="http://schemas.microsoft.com/office/drawing/2014/main" id="{890A40A4-D073-9D33-B2DB-89B2E24114A4}"/>
                </a:ext>
              </a:extLst>
            </p:cNvPr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4361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4" name="Google Shape;274;p18">
              <a:extLst>
                <a:ext uri="{FF2B5EF4-FFF2-40B4-BE49-F238E27FC236}">
                  <a16:creationId xmlns:a16="http://schemas.microsoft.com/office/drawing/2014/main" id="{5902F55B-644C-6AAE-114B-88D9811013AD}"/>
                </a:ext>
              </a:extLst>
            </p:cNvPr>
            <p:cNvGrpSpPr/>
            <p:nvPr/>
          </p:nvGrpSpPr>
          <p:grpSpPr>
            <a:xfrm>
              <a:off x="285750" y="323850"/>
              <a:ext cx="381000" cy="171450"/>
              <a:chOff x="0" y="38100"/>
              <a:chExt cx="381000" cy="171450"/>
            </a:xfrm>
          </p:grpSpPr>
          <p:sp>
            <p:nvSpPr>
              <p:cNvPr id="276" name="Google Shape;276;p18">
                <a:extLst>
                  <a:ext uri="{FF2B5EF4-FFF2-40B4-BE49-F238E27FC236}">
                    <a16:creationId xmlns:a16="http://schemas.microsoft.com/office/drawing/2014/main" id="{D8431B84-F9A7-CDC9-7251-AE13CEF9861F}"/>
                  </a:ext>
                </a:extLst>
              </p:cNvPr>
              <p:cNvSpPr/>
              <p:nvPr/>
            </p:nvSpPr>
            <p:spPr>
              <a:xfrm>
                <a:off x="0" y="38100"/>
                <a:ext cx="381000" cy="133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8">
                <a:extLst>
                  <a:ext uri="{FF2B5EF4-FFF2-40B4-BE49-F238E27FC236}">
                    <a16:creationId xmlns:a16="http://schemas.microsoft.com/office/drawing/2014/main" id="{FCC00284-CDBA-CEC5-5DAD-EB3C52BCE38B}"/>
                  </a:ext>
                </a:extLst>
              </p:cNvPr>
              <p:cNvSpPr/>
              <p:nvPr/>
            </p:nvSpPr>
            <p:spPr>
              <a:xfrm>
                <a:off x="114300" y="57150"/>
                <a:ext cx="152400" cy="152400"/>
              </a:xfrm>
              <a:prstGeom prst="ellipse">
                <a:avLst/>
              </a:prstGeom>
              <a:solidFill>
                <a:srgbClr val="FCA3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F498F3C8-A874-C534-E27B-F8BE969D2FDE}"/>
              </a:ext>
            </a:extLst>
          </p:cNvPr>
          <p:cNvSpPr txBox="1"/>
          <p:nvPr/>
        </p:nvSpPr>
        <p:spPr>
          <a:xfrm>
            <a:off x="762000" y="190500"/>
            <a:ext cx="80964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 dirty="0">
                <a:solidFill>
                  <a:srgbClr val="4361EE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rPr>
              <a:t>Next Week’s Homework</a:t>
            </a:r>
            <a:endParaRPr sz="2400" b="0" dirty="0">
              <a:solidFill>
                <a:srgbClr val="4361EE"/>
              </a:solidFill>
              <a:latin typeface="Hind Siliguri SemiBold"/>
              <a:ea typeface="Hind Siliguri SemiBold"/>
              <a:cs typeface="Hind Siliguri SemiBold"/>
              <a:sym typeface="Hind Siliguri SemiBold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6B5AF929-8F71-C426-AD92-7E8D6E2FE529}"/>
              </a:ext>
            </a:extLst>
          </p:cNvPr>
          <p:cNvSpPr txBox="1"/>
          <p:nvPr/>
        </p:nvSpPr>
        <p:spPr>
          <a:xfrm>
            <a:off x="285750" y="762000"/>
            <a:ext cx="4186388" cy="306878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3" dirty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rPr>
              <a:t>A. Provide a </a:t>
            </a:r>
            <a:r>
              <a:rPr lang="en-US" sz="1203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rPr>
              <a:t>school picture</a:t>
            </a:r>
            <a:endParaRPr lang="en-US" sz="1203" dirty="0">
              <a:solidFill>
                <a:srgbClr val="2B2D42"/>
              </a:solidFill>
              <a:latin typeface="Hind Siliguri"/>
              <a:ea typeface="Hind Siliguri"/>
              <a:cs typeface="Hind Siliguri"/>
              <a:sym typeface="Hind Siligu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3" dirty="0">
              <a:solidFill>
                <a:srgbClr val="2B2D42"/>
              </a:solidFill>
              <a:latin typeface="Hind Siliguri"/>
              <a:ea typeface="Hind Siliguri"/>
              <a:cs typeface="Hind Siliguri"/>
              <a:sym typeface="Hind Siligu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3" dirty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rPr>
              <a:t>Use MS Word to write about your computer lab</a:t>
            </a:r>
            <a:br>
              <a:rPr lang="en-US" sz="1203" dirty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rPr>
            </a:br>
            <a:endParaRPr lang="en-US" sz="1203" dirty="0">
              <a:solidFill>
                <a:srgbClr val="2B2D42"/>
              </a:solidFill>
              <a:latin typeface="Hind Siliguri"/>
              <a:ea typeface="Hind Siliguri"/>
              <a:cs typeface="Hind Siliguri"/>
              <a:sym typeface="Hind Siliguri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203" b="0" i="0" u="none" strike="noStrike" dirty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rPr>
              <a:t>How many computers </a:t>
            </a:r>
            <a:r>
              <a:rPr lang="en-US" sz="1203" dirty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rPr>
              <a:t>do you have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203" b="0" i="0" u="none" strike="noStrike" dirty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rPr>
              <a:t>What type of computers/brand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203" dirty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rPr>
              <a:t>Computer hardware specifications: Processor type and speed, Hard Drive, memory size, network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203" dirty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rPr>
              <a:t>Draw a network topology used by the laptops to connect to the server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1203" dirty="0">
              <a:solidFill>
                <a:srgbClr val="2B2D42"/>
              </a:solidFill>
              <a:latin typeface="Hind Siliguri"/>
              <a:ea typeface="Hind Siliguri"/>
              <a:cs typeface="Hind Siliguri"/>
              <a:sym typeface="Hind Siliguri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1203" dirty="0">
              <a:solidFill>
                <a:srgbClr val="2B2D42"/>
              </a:solidFill>
              <a:latin typeface="Hind Siliguri"/>
              <a:ea typeface="Hind Siliguri"/>
              <a:cs typeface="Hind Siliguri"/>
              <a:sym typeface="Hind Siliguri"/>
            </a:endParaRPr>
          </a:p>
          <a:p>
            <a:pPr lvl="0"/>
            <a:r>
              <a:rPr lang="en-US" sz="1203" dirty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rPr>
              <a:t>Your web page: </a:t>
            </a:r>
            <a:r>
              <a:rPr lang="en-US" sz="1203" dirty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  <a:hlinkClick r:id="rId3"/>
              </a:rPr>
              <a:t>https://baliadanga1.netlify.app/</a:t>
            </a:r>
            <a:endParaRPr lang="en-US" sz="1203" dirty="0">
              <a:solidFill>
                <a:srgbClr val="2B2D42"/>
              </a:solidFill>
              <a:latin typeface="Hind Siliguri"/>
              <a:ea typeface="Hind Siliguri"/>
              <a:cs typeface="Hind Siliguri"/>
              <a:sym typeface="Hind Siliguri"/>
            </a:endParaRPr>
          </a:p>
          <a:p>
            <a:pPr lvl="0"/>
            <a:r>
              <a:rPr lang="en-US" sz="1203" dirty="0">
                <a:solidFill>
                  <a:srgbClr val="2B2D42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</a:p>
          <a:p>
            <a:pPr marL="342900" lvl="1" indent="-342900">
              <a:buAutoNum type="arabicPeriod"/>
            </a:pPr>
            <a:endParaRPr sz="1203" b="0" i="0" u="none" strike="noStrike" dirty="0">
              <a:solidFill>
                <a:srgbClr val="2B2D42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</p:spTree>
    <p:extLst>
      <p:ext uri="{BB962C8B-B14F-4D97-AF65-F5344CB8AC3E}">
        <p14:creationId xmlns:p14="http://schemas.microsoft.com/office/powerpoint/2010/main" val="1647582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C7F0-B106-C763-0878-AB25259465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5DA4B-47C0-D629-8931-90CB67A7ED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2851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811</Words>
  <Application>Microsoft Office PowerPoint</Application>
  <PresentationFormat>On-screen Show (16:9)</PresentationFormat>
  <Paragraphs>89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Hind Siliguri</vt:lpstr>
      <vt:lpstr>Arial</vt:lpstr>
      <vt:lpstr>Hind Siliguri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Rezaur Rahman</cp:lastModifiedBy>
  <cp:revision>1</cp:revision>
  <dcterms:modified xsi:type="dcterms:W3CDTF">2026-09-15T04:49:45Z</dcterms:modified>
</cp:coreProperties>
</file>