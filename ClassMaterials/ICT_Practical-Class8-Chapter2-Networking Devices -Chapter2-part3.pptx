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4"/>
  </p:notesMasterIdLst>
  <p:sldIdLst>
    <p:sldId id="256" r:id="rId2"/>
    <p:sldId id="269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embeddedFontLst>
    <p:embeddedFont>
      <p:font typeface="Hind Siliguri" panose="02000000000000000000" pitchFamily="2" charset="0"/>
      <p:regular r:id="rId15"/>
      <p:bold r:id="rId16"/>
    </p:embeddedFont>
    <p:embeddedFont>
      <p:font typeface="Hind Siliguri SemiBold" panose="02000000000000000000" pitchFamily="2" charset="0"/>
      <p:bold r:id="rId1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996F3C-6630-4CD6-9387-AA055D5B80D9}" v="3" dt="2026-10-14T17:21:09.466"/>
  </p1510:revLst>
</p1510:revInfo>
</file>

<file path=ppt/tableStyles.xml><?xml version="1.0" encoding="utf-8"?>
<a:tblStyleLst xmlns:a="http://schemas.openxmlformats.org/drawingml/2006/main" def="{1D3E3E76-D303-43ED-A5B7-6F391F87F32E}">
  <a:tblStyle styleId="{1D3E3E76-D303-43ED-A5B7-6F391F87F32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zaur Rahman" userId="3a4486d7030a1889" providerId="LiveId" clId="{D1B430C1-0409-411D-B3DE-A0AB3CF13E85}"/>
    <pc:docChg chg="modSld">
      <pc:chgData name="Rezaur Rahman" userId="3a4486d7030a1889" providerId="LiveId" clId="{D1B430C1-0409-411D-B3DE-A0AB3CF13E85}" dt="2026-10-14T17:21:09.466" v="55"/>
      <pc:docMkLst>
        <pc:docMk/>
      </pc:docMkLst>
      <pc:sldChg chg="delSp modSp mod">
        <pc:chgData name="Rezaur Rahman" userId="3a4486d7030a1889" providerId="LiveId" clId="{D1B430C1-0409-411D-B3DE-A0AB3CF13E85}" dt="2026-10-14T17:20:02.926" v="52"/>
        <pc:sldMkLst>
          <pc:docMk/>
          <pc:sldMk cId="0" sldId="256"/>
        </pc:sldMkLst>
        <pc:spChg chg="del mod">
          <ac:chgData name="Rezaur Rahman" userId="3a4486d7030a1889" providerId="LiveId" clId="{D1B430C1-0409-411D-B3DE-A0AB3CF13E85}" dt="2026-10-14T17:20:02.926" v="52"/>
          <ac:spMkLst>
            <pc:docMk/>
            <pc:sldMk cId="0" sldId="256"/>
            <ac:spMk id="85" creationId="{00000000-0000-0000-0000-000000000000}"/>
          </ac:spMkLst>
        </pc:spChg>
        <pc:spChg chg="del mod">
          <ac:chgData name="Rezaur Rahman" userId="3a4486d7030a1889" providerId="LiveId" clId="{D1B430C1-0409-411D-B3DE-A0AB3CF13E85}" dt="2026-10-14T17:19:52.502" v="28"/>
          <ac:spMkLst>
            <pc:docMk/>
            <pc:sldMk cId="0" sldId="256"/>
            <ac:spMk id="87" creationId="{00000000-0000-0000-0000-000000000000}"/>
          </ac:spMkLst>
        </pc:spChg>
      </pc:sldChg>
      <pc:sldChg chg="modNotes">
        <pc:chgData name="Rezaur Rahman" userId="3a4486d7030a1889" providerId="LiveId" clId="{D1B430C1-0409-411D-B3DE-A0AB3CF13E85}" dt="2026-10-14T17:20:35.566" v="53"/>
        <pc:sldMkLst>
          <pc:docMk/>
          <pc:sldMk cId="0" sldId="259"/>
        </pc:sldMkLst>
      </pc:sldChg>
      <pc:sldChg chg="modNotes">
        <pc:chgData name="Rezaur Rahman" userId="3a4486d7030a1889" providerId="LiveId" clId="{D1B430C1-0409-411D-B3DE-A0AB3CF13E85}" dt="2026-10-14T17:20:35.566" v="53"/>
        <pc:sldMkLst>
          <pc:docMk/>
          <pc:sldMk cId="0" sldId="260"/>
        </pc:sldMkLst>
      </pc:sldChg>
      <pc:sldChg chg="modNotes">
        <pc:chgData name="Rezaur Rahman" userId="3a4486d7030a1889" providerId="LiveId" clId="{D1B430C1-0409-411D-B3DE-A0AB3CF13E85}" dt="2026-10-14T17:20:35.566" v="53"/>
        <pc:sldMkLst>
          <pc:docMk/>
          <pc:sldMk cId="0" sldId="266"/>
        </pc:sldMkLst>
      </pc:sldChg>
      <pc:sldChg chg="modNotes">
        <pc:chgData name="Rezaur Rahman" userId="3a4486d7030a1889" providerId="LiveId" clId="{D1B430C1-0409-411D-B3DE-A0AB3CF13E85}" dt="2026-10-14T17:20:35.566" v="53"/>
        <pc:sldMkLst>
          <pc:docMk/>
          <pc:sldMk cId="0" sldId="267"/>
        </pc:sldMkLst>
      </pc:sldChg>
      <pc:sldChg chg="modNotes">
        <pc:chgData name="Rezaur Rahman" userId="3a4486d7030a1889" providerId="LiveId" clId="{D1B430C1-0409-411D-B3DE-A0AB3CF13E85}" dt="2026-10-14T17:20:35.566" v="53"/>
        <pc:sldMkLst>
          <pc:docMk/>
          <pc:sldMk cId="0" sldId="268"/>
        </pc:sldMkLst>
      </pc:sldChg>
      <pc:sldChg chg="modSp">
        <pc:chgData name="Rezaur Rahman" userId="3a4486d7030a1889" providerId="LiveId" clId="{D1B430C1-0409-411D-B3DE-A0AB3CF13E85}" dt="2026-10-14T17:21:09.466" v="55"/>
        <pc:sldMkLst>
          <pc:docMk/>
          <pc:sldMk cId="0" sldId="269"/>
        </pc:sldMkLst>
        <pc:spChg chg="mod">
          <ac:chgData name="Rezaur Rahman" userId="3a4486d7030a1889" providerId="LiveId" clId="{D1B430C1-0409-411D-B3DE-A0AB3CF13E85}" dt="2026-10-14T17:21:09.466" v="55"/>
          <ac:spMkLst>
            <pc:docMk/>
            <pc:sldMk cId="0" sldId="269"/>
            <ac:spMk id="2" creationId="{00000000-0000-0000-0000-000000000000}"/>
          </ac:spMkLst>
        </pc:spChg>
        <pc:spChg chg="mod">
          <ac:chgData name="Rezaur Rahman" userId="3a4486d7030a1889" providerId="LiveId" clId="{D1B430C1-0409-411D-B3DE-A0AB3CF13E85}" dt="2026-10-14T17:21:09.466" v="55"/>
          <ac:spMkLst>
            <pc:docMk/>
            <pc:sldMk cId="0" sldId="269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543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758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392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3047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587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051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084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707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24606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787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961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894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AiEkqj0lL38?feature=oembed" TargetMode="External"/><Relationship Id="rId6" Type="http://schemas.openxmlformats.org/officeDocument/2006/relationships/image" Target="../media/image21.jpe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/>
          <p:nvPr/>
        </p:nvSpPr>
        <p:spPr>
          <a:xfrm>
            <a:off x="5143500" y="4356645"/>
            <a:ext cx="1905000" cy="381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295275" y="1377404"/>
            <a:ext cx="11601450" cy="1645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1E40AF"/>
                </a:solidFill>
                <a:latin typeface="Hind Siliguri"/>
                <a:ea typeface="Hind Siliguri"/>
                <a:cs typeface="Hind Siliguri"/>
                <a:sym typeface="Hind Siliguri"/>
              </a:rPr>
              <a:t>নেটওয়ার্কিং ডিভাইস: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400" b="1" i="0" u="none" strike="noStrike" cap="none">
                <a:solidFill>
                  <a:srgbClr val="1E40AF"/>
                </a:solidFill>
                <a:latin typeface="Hind Siliguri"/>
                <a:ea typeface="Hind Siliguri"/>
                <a:cs typeface="Hind Siliguri"/>
                <a:sym typeface="Hind Siliguri"/>
              </a:rPr>
              <a:t> সংযোগের মূল চালিকাশক্তি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বাড়ির কাজ (Homework) 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sz="4800" dirty="0" err="1"/>
              <a:t>অ্যাসাইনমেন্ট</a:t>
            </a:r>
            <a:r>
              <a:rPr sz="4800" dirty="0"/>
              <a:t>: </a:t>
            </a:r>
            <a:r>
              <a:rPr sz="4800" dirty="0" err="1"/>
              <a:t>তোমার</a:t>
            </a:r>
            <a:r>
              <a:rPr sz="4800" dirty="0"/>
              <a:t> </a:t>
            </a:r>
            <a:r>
              <a:rPr sz="4800" dirty="0" err="1"/>
              <a:t>স্কুলের</a:t>
            </a:r>
            <a:r>
              <a:rPr sz="4800" dirty="0"/>
              <a:t> </a:t>
            </a:r>
            <a:r>
              <a:rPr sz="4800" dirty="0" err="1"/>
              <a:t>আইসিটি</a:t>
            </a:r>
            <a:r>
              <a:rPr sz="4800" dirty="0"/>
              <a:t> </a:t>
            </a:r>
            <a:r>
              <a:rPr sz="4800" dirty="0" err="1"/>
              <a:t>ল্যাবে</a:t>
            </a:r>
            <a:r>
              <a:rPr sz="4800" dirty="0"/>
              <a:t> </a:t>
            </a:r>
            <a:r>
              <a:rPr sz="4800" dirty="0" err="1"/>
              <a:t>যদি</a:t>
            </a:r>
            <a:r>
              <a:rPr sz="4800" dirty="0"/>
              <a:t> ১০টি </a:t>
            </a:r>
            <a:r>
              <a:rPr sz="4800" dirty="0" err="1"/>
              <a:t>কম্পিউটার</a:t>
            </a:r>
            <a:r>
              <a:rPr sz="4800" dirty="0"/>
              <a:t> </a:t>
            </a:r>
            <a:r>
              <a:rPr sz="4800" dirty="0" err="1"/>
              <a:t>নতুন</a:t>
            </a:r>
            <a:r>
              <a:rPr sz="4800" dirty="0"/>
              <a:t> </a:t>
            </a:r>
            <a:r>
              <a:rPr sz="4800" dirty="0" err="1"/>
              <a:t>করে</a:t>
            </a:r>
            <a:r>
              <a:rPr sz="4800" dirty="0"/>
              <a:t> </a:t>
            </a:r>
            <a:r>
              <a:rPr sz="4800" dirty="0" err="1"/>
              <a:t>সেটআপ</a:t>
            </a:r>
            <a:r>
              <a:rPr sz="4800" dirty="0"/>
              <a:t> </a:t>
            </a:r>
            <a:r>
              <a:rPr sz="4800" dirty="0" err="1"/>
              <a:t>করতে</a:t>
            </a:r>
            <a:r>
              <a:rPr sz="4800" dirty="0"/>
              <a:t> </a:t>
            </a:r>
            <a:r>
              <a:rPr sz="4800" dirty="0" err="1"/>
              <a:t>হয়</a:t>
            </a:r>
            <a:r>
              <a:rPr sz="4800" dirty="0"/>
              <a:t>, </a:t>
            </a:r>
            <a:r>
              <a:rPr sz="4800" dirty="0" err="1"/>
              <a:t>তবে</a:t>
            </a:r>
            <a:r>
              <a:rPr sz="4800" dirty="0"/>
              <a:t> </a:t>
            </a:r>
            <a:r>
              <a:rPr sz="4800" dirty="0" err="1"/>
              <a:t>তুমি</a:t>
            </a:r>
            <a:r>
              <a:rPr sz="4800" dirty="0"/>
              <a:t> </a:t>
            </a:r>
            <a:r>
              <a:rPr sz="4800" dirty="0" err="1"/>
              <a:t>কোন</a:t>
            </a:r>
            <a:r>
              <a:rPr sz="4800" dirty="0"/>
              <a:t> </a:t>
            </a:r>
            <a:r>
              <a:rPr sz="4800" dirty="0" err="1"/>
              <a:t>টপোলজি</a:t>
            </a:r>
            <a:r>
              <a:rPr sz="4800" dirty="0"/>
              <a:t> </a:t>
            </a:r>
            <a:r>
              <a:rPr sz="4800" dirty="0" err="1"/>
              <a:t>বেছে</a:t>
            </a:r>
            <a:r>
              <a:rPr sz="4800" dirty="0"/>
              <a:t> </a:t>
            </a:r>
            <a:r>
              <a:rPr sz="4800" dirty="0" err="1"/>
              <a:t>নেবে</a:t>
            </a:r>
            <a:r>
              <a:rPr sz="4800" dirty="0"/>
              <a:t> </a:t>
            </a:r>
            <a:r>
              <a:rPr sz="4800" dirty="0" err="1"/>
              <a:t>এবং</a:t>
            </a:r>
            <a:r>
              <a:rPr sz="4800" dirty="0"/>
              <a:t> </a:t>
            </a:r>
            <a:r>
              <a:rPr sz="4800" dirty="0" err="1"/>
              <a:t>কেন</a:t>
            </a:r>
            <a:r>
              <a:rPr sz="4800" dirty="0"/>
              <a:t>? </a:t>
            </a:r>
            <a:r>
              <a:rPr sz="4800" dirty="0" err="1"/>
              <a:t>যুক্তি</a:t>
            </a:r>
            <a:r>
              <a:rPr sz="4800" dirty="0"/>
              <a:t> </a:t>
            </a:r>
            <a:r>
              <a:rPr sz="4800" dirty="0" err="1"/>
              <a:t>সহ</a:t>
            </a:r>
            <a:r>
              <a:rPr sz="4800" dirty="0"/>
              <a:t> </a:t>
            </a:r>
            <a:r>
              <a:rPr sz="4800" dirty="0" err="1"/>
              <a:t>একটি</a:t>
            </a:r>
            <a:r>
              <a:rPr sz="4800" dirty="0"/>
              <a:t> </a:t>
            </a:r>
            <a:r>
              <a:rPr sz="4800" dirty="0" err="1"/>
              <a:t>চিত্র</a:t>
            </a:r>
            <a:r>
              <a:rPr sz="4800" dirty="0"/>
              <a:t> </a:t>
            </a:r>
            <a:r>
              <a:rPr sz="4800" dirty="0" err="1"/>
              <a:t>এঁকে</a:t>
            </a:r>
            <a:r>
              <a:rPr sz="4800" dirty="0"/>
              <a:t> </a:t>
            </a:r>
            <a:r>
              <a:rPr sz="4800" dirty="0" err="1"/>
              <a:t>আনবে</a:t>
            </a:r>
            <a:r>
              <a:rPr sz="4800" dirty="0"/>
              <a:t>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79058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1483042"/>
            <a:ext cx="3524250" cy="3000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125" y="1483042"/>
            <a:ext cx="3524250" cy="3000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91500" y="1483042"/>
            <a:ext cx="3524250" cy="300037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962025" y="3349942"/>
            <a:ext cx="29337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 err="1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সবচেয়ে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সাধারণ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ডিভাইস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।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এটি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ডেটা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সব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কম্পিউটারে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একবারে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পাঠিয়ে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দেয়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।</a:t>
            </a:r>
            <a:endParaRPr dirty="0"/>
          </a:p>
        </p:txBody>
      </p:sp>
      <p:sp>
        <p:nvSpPr>
          <p:cNvPr id="117" name="Google Shape;117;p15"/>
          <p:cNvSpPr txBox="1"/>
          <p:nvPr/>
        </p:nvSpPr>
        <p:spPr>
          <a:xfrm>
            <a:off x="4724400" y="3349942"/>
            <a:ext cx="29337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বুদ্ধিমান ডিভাইস। এটি সরাসরি নির্দিষ্ট গন্তব্যে ডেটা পাঠায়।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8486775" y="3349942"/>
            <a:ext cx="29337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একাধিক নেটওয়ার্কের মধ্যে সংযোগ তৈরি এবং পথ নির্ধারণ করে।</a:t>
            </a:r>
            <a:endParaRPr/>
          </a:p>
        </p:txBody>
      </p:sp>
      <p:pic>
        <p:nvPicPr>
          <p:cNvPr id="119" name="Google Shape;119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200275" y="189261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962650" y="189261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725025" y="1892617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762000" y="571500"/>
            <a:ext cx="11401425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40AF"/>
                </a:solidFill>
                <a:latin typeface="Hind Siliguri"/>
                <a:ea typeface="Hind Siliguri"/>
                <a:cs typeface="Hind Siliguri"/>
                <a:sym typeface="Hind Siliguri"/>
              </a:rPr>
              <a:t>নেটওয়ার্ক হার্ডওয়্যারের শ্রেণিবিন্যাস</a:t>
            </a:r>
            <a:endParaRPr/>
          </a:p>
        </p:txBody>
      </p:sp>
      <p:sp>
        <p:nvSpPr>
          <p:cNvPr id="123" name="Google Shape;123;p15"/>
          <p:cNvSpPr/>
          <p:nvPr/>
        </p:nvSpPr>
        <p:spPr>
          <a:xfrm>
            <a:off x="571500" y="571500"/>
            <a:ext cx="95250" cy="6477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888682" y="2711767"/>
            <a:ext cx="3080385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40AF"/>
                </a:solidFill>
                <a:latin typeface="Hind Siliguri"/>
                <a:ea typeface="Hind Siliguri"/>
                <a:cs typeface="Hind Siliguri"/>
                <a:sym typeface="Hind Siliguri"/>
              </a:rPr>
              <a:t>হাব (Hub)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4651057" y="2711767"/>
            <a:ext cx="3080385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40AF"/>
                </a:solidFill>
                <a:latin typeface="Hind Siliguri"/>
                <a:ea typeface="Hind Siliguri"/>
                <a:cs typeface="Hind Siliguri"/>
                <a:sym typeface="Hind Siliguri"/>
              </a:rPr>
              <a:t>সুইচ (Switch)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8413432" y="2711767"/>
            <a:ext cx="3080385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40AF"/>
                </a:solidFill>
                <a:latin typeface="Hind Siliguri"/>
                <a:ea typeface="Hind Siliguri"/>
                <a:cs typeface="Hind Siliguri"/>
                <a:sym typeface="Hind Siliguri"/>
              </a:rPr>
              <a:t>রাউটার (Router)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000A0F0-807E-1A3C-0D5C-4801A4A7EA8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4549852"/>
            <a:ext cx="2109806" cy="200449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B51B67A-66DF-49B2-F5EF-61F0619E3CC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66185" y="4462601"/>
            <a:ext cx="2733063" cy="217899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B7A0222-B2A1-BC80-A080-194812F3436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15219" y="4671765"/>
            <a:ext cx="1876810" cy="17606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0383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571500" y="2457450"/>
            <a:ext cx="528637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হাব</a:t>
            </a:r>
            <a:r>
              <a:rPr lang="en-US" sz="1650" b="0" i="0" u="none" strike="noStrike" cap="none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 একটি ব্রডকাস্ট ডিভাইস, যা ডেটা সবার কাছে পাঠায়। ফলে নেটওয়ার্কে জ্যাম তৈরি হয়।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571500" y="3295650"/>
            <a:ext cx="528637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অন্যদিকে, </a:t>
            </a:r>
            <a:r>
              <a:rPr lang="en-US" sz="1650" b="1" i="0" u="none" strike="noStrike" cap="none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সুইচ</a:t>
            </a:r>
            <a:r>
              <a:rPr lang="en-US" sz="1650" b="0" i="0" u="none" strike="noStrike" cap="none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 প্রতিটি ডিভাইসের 'ম্যাক অ্যাড্রেস' মনে রাখতে পারে।</a:t>
            </a:r>
            <a:endParaRPr/>
          </a:p>
        </p:txBody>
      </p:sp>
      <p:pic>
        <p:nvPicPr>
          <p:cNvPr id="135" name="Google Shape;135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53175" y="2057400"/>
            <a:ext cx="5248275" cy="37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/>
          <p:cNvSpPr txBox="1"/>
          <p:nvPr/>
        </p:nvSpPr>
        <p:spPr>
          <a:xfrm>
            <a:off x="1047750" y="3895725"/>
            <a:ext cx="48101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সুইচ ডেটা সংঘাত (Collision) কমায়।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1047750" y="4476750"/>
            <a:ext cx="48101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এটি ব্যক্তিগত ডেটা নিরাপত্তা বজায় রাখে।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1047750" y="5057775"/>
            <a:ext cx="48101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দ্রুতগতির নেটওয়ার্কের জন্য সুইচ অপরিহার্য।</a:t>
            </a:r>
            <a:endParaRPr/>
          </a:p>
        </p:txBody>
      </p:sp>
      <p:pic>
        <p:nvPicPr>
          <p:cNvPr id="139" name="Google Shape;139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938587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519612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5100637"/>
            <a:ext cx="2667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6"/>
          <p:cNvSpPr txBox="1"/>
          <p:nvPr/>
        </p:nvSpPr>
        <p:spPr>
          <a:xfrm>
            <a:off x="762000" y="571500"/>
            <a:ext cx="11401425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40AF"/>
                </a:solidFill>
                <a:latin typeface="Hind Siliguri"/>
                <a:ea typeface="Hind Siliguri"/>
                <a:cs typeface="Hind Siliguri"/>
                <a:sym typeface="Hind Siliguri"/>
              </a:rPr>
              <a:t>হাব বনাম সুইচ: বুদ্ধিমত্তার তফাত</a:t>
            </a:r>
            <a:endParaRPr/>
          </a:p>
        </p:txBody>
      </p:sp>
      <p:sp>
        <p:nvSpPr>
          <p:cNvPr id="143" name="Google Shape;143;p16"/>
          <p:cNvSpPr/>
          <p:nvPr/>
        </p:nvSpPr>
        <p:spPr>
          <a:xfrm>
            <a:off x="571500" y="571500"/>
            <a:ext cx="95250" cy="6477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7"/>
          <p:cNvSpPr txBox="1"/>
          <p:nvPr/>
        </p:nvSpPr>
        <p:spPr>
          <a:xfrm>
            <a:off x="571500" y="1809750"/>
            <a:ext cx="4953000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রাউটার হলো নেটওয়ার্কের "ট্রাফিক পুলিশ"। এটি ডেটা প্যাকেটগুলোকে সবচেয়ে ছোট এবং দ্রুততম পথে গন্তব্যে পৌঁছে দেয়।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1047750" y="3781425"/>
            <a:ext cx="44767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ফায়ারওয়াল এবং নিরাপত্তা প্রদান।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1047750" y="4362450"/>
            <a:ext cx="44767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ল্যান (LAN) ও ওয়ান (WAN)-এর মধ্যে সংযোগ।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1047750" y="4943475"/>
            <a:ext cx="44767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একাধিক ডিভাইসে আইপি বণ্টন করা।</a:t>
            </a:r>
            <a:endParaRPr/>
          </a:p>
        </p:txBody>
      </p:sp>
      <p:pic>
        <p:nvPicPr>
          <p:cNvPr id="154" name="Google Shape;154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824287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405312"/>
            <a:ext cx="33337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986337"/>
            <a:ext cx="333375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7"/>
          <p:cNvSpPr txBox="1"/>
          <p:nvPr/>
        </p:nvSpPr>
        <p:spPr>
          <a:xfrm>
            <a:off x="762000" y="571500"/>
            <a:ext cx="5000625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40AF"/>
                </a:solidFill>
                <a:latin typeface="Hind Siliguri"/>
                <a:ea typeface="Hind Siliguri"/>
                <a:cs typeface="Hind Siliguri"/>
                <a:sym typeface="Hind Siliguri"/>
              </a:rPr>
              <a:t>রাউটার: ইন্টারনেটের গেটওয়ে</a:t>
            </a:r>
            <a:endParaRPr/>
          </a:p>
        </p:txBody>
      </p:sp>
      <p:sp>
        <p:nvSpPr>
          <p:cNvPr id="158" name="Google Shape;158;p17"/>
          <p:cNvSpPr/>
          <p:nvPr/>
        </p:nvSpPr>
        <p:spPr>
          <a:xfrm>
            <a:off x="571500" y="571500"/>
            <a:ext cx="95250" cy="6477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 txBox="1"/>
          <p:nvPr/>
        </p:nvSpPr>
        <p:spPr>
          <a:xfrm>
            <a:off x="571500" y="3343275"/>
            <a:ext cx="52006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E40AF"/>
                </a:solidFill>
                <a:latin typeface="Hind Siliguri"/>
                <a:ea typeface="Hind Siliguri"/>
                <a:cs typeface="Hind Siliguri"/>
                <a:sym typeface="Hind Siliguri"/>
              </a:rPr>
              <a:t>প্রধান কাজসমূহ: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662237"/>
            <a:ext cx="5286375" cy="256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662237"/>
            <a:ext cx="5286375" cy="256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947987" y="2957512"/>
            <a:ext cx="5334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9"/>
          <p:cNvSpPr txBox="1"/>
          <p:nvPr/>
        </p:nvSpPr>
        <p:spPr>
          <a:xfrm>
            <a:off x="866775" y="4090987"/>
            <a:ext cx="469582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অ্যানালগ সংকেতকে ডিজিটাল এবং ডিজিটাল সংকেতকে অ্যানালগ সংকেতে রূপান্তর করে। এটি ইন্টারনেটে সংযোগ দেয়।</a:t>
            </a:r>
            <a:endParaRPr/>
          </a:p>
        </p:txBody>
      </p:sp>
      <p:pic>
        <p:nvPicPr>
          <p:cNvPr id="179" name="Google Shape;179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710612" y="2957512"/>
            <a:ext cx="5334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9"/>
          <p:cNvSpPr txBox="1"/>
          <p:nvPr/>
        </p:nvSpPr>
        <p:spPr>
          <a:xfrm>
            <a:off x="6629400" y="4090987"/>
            <a:ext cx="469582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এটি কম্পিউটারের ভেতরে থাকে। নেটওয়ার্কের সাথে যুক্ত হওয়ার জন্য এটি প্রতিটি কম্পিউটারের "পাসপোর্ট" স্বরূপ।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762000" y="571500"/>
            <a:ext cx="11401425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1E40AF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3150" b="1" i="0" u="none" strike="noStrike" cap="none" dirty="0" err="1">
                <a:solidFill>
                  <a:srgbClr val="1E40AF"/>
                </a:solidFill>
                <a:latin typeface="Hind Siliguri"/>
                <a:ea typeface="Hind Siliguri"/>
                <a:cs typeface="Hind Siliguri"/>
                <a:sym typeface="Hind Siliguri"/>
              </a:rPr>
              <a:t>মডেম</a:t>
            </a:r>
            <a:r>
              <a:rPr lang="en-US" sz="3150" b="1" i="0" u="none" strike="noStrike" cap="none" dirty="0">
                <a:solidFill>
                  <a:srgbClr val="1E40AF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3150" b="1" i="0" u="none" strike="noStrike" cap="none" dirty="0" err="1">
                <a:solidFill>
                  <a:srgbClr val="1E40AF"/>
                </a:solidFill>
                <a:latin typeface="Hind Siliguri"/>
                <a:ea typeface="Hind Siliguri"/>
                <a:cs typeface="Hind Siliguri"/>
                <a:sym typeface="Hind Siliguri"/>
              </a:rPr>
              <a:t>এবং</a:t>
            </a:r>
            <a:r>
              <a:rPr lang="en-US" sz="3150" b="1" i="0" u="none" strike="noStrike" cap="none" dirty="0">
                <a:solidFill>
                  <a:srgbClr val="1E40AF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3150" b="1" i="0" u="none" strike="noStrike" cap="none" dirty="0" err="1">
                <a:solidFill>
                  <a:srgbClr val="1E40AF"/>
                </a:solidFill>
                <a:latin typeface="Hind Siliguri"/>
                <a:ea typeface="Hind Siliguri"/>
                <a:cs typeface="Hind Siliguri"/>
                <a:sym typeface="Hind Siliguri"/>
              </a:rPr>
              <a:t>ল্যান</a:t>
            </a:r>
            <a:r>
              <a:rPr lang="en-US" sz="3150" b="1" i="0" u="none" strike="noStrike" cap="none" dirty="0">
                <a:solidFill>
                  <a:srgbClr val="1E40AF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3150" b="1" i="0" u="none" strike="noStrike" cap="none" dirty="0" err="1">
                <a:solidFill>
                  <a:srgbClr val="1E40AF"/>
                </a:solidFill>
                <a:latin typeface="Hind Siliguri"/>
                <a:ea typeface="Hind Siliguri"/>
                <a:cs typeface="Hind Siliguri"/>
                <a:sym typeface="Hind Siliguri"/>
              </a:rPr>
              <a:t>কার্ড</a:t>
            </a:r>
            <a:r>
              <a:rPr lang="en-US" sz="3150" b="1" i="0" u="none" strike="noStrike" cap="none" dirty="0">
                <a:solidFill>
                  <a:srgbClr val="1E40AF"/>
                </a:solidFill>
                <a:latin typeface="Hind Siliguri"/>
                <a:ea typeface="Hind Siliguri"/>
                <a:cs typeface="Hind Siliguri"/>
                <a:sym typeface="Hind Siliguri"/>
              </a:rPr>
              <a:t> (NIC)</a:t>
            </a:r>
            <a:endParaRPr dirty="0"/>
          </a:p>
        </p:txBody>
      </p:sp>
      <p:sp>
        <p:nvSpPr>
          <p:cNvPr id="182" name="Google Shape;182;p19"/>
          <p:cNvSpPr/>
          <p:nvPr/>
        </p:nvSpPr>
        <p:spPr>
          <a:xfrm>
            <a:off x="571500" y="571500"/>
            <a:ext cx="95250" cy="6477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9"/>
          <p:cNvSpPr txBox="1"/>
          <p:nvPr/>
        </p:nvSpPr>
        <p:spPr>
          <a:xfrm>
            <a:off x="749379" y="3452812"/>
            <a:ext cx="4930616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40AF"/>
                </a:solidFill>
                <a:latin typeface="Hind Siliguri"/>
                <a:ea typeface="Hind Siliguri"/>
                <a:cs typeface="Hind Siliguri"/>
                <a:sym typeface="Hind Siliguri"/>
              </a:rPr>
              <a:t>মডেম (Modem)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6512004" y="3452812"/>
            <a:ext cx="4930616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40AF"/>
                </a:solidFill>
                <a:latin typeface="Hind Siliguri"/>
                <a:ea typeface="Hind Siliguri"/>
                <a:cs typeface="Hind Siliguri"/>
                <a:sym typeface="Hind Siliguri"/>
              </a:rPr>
              <a:t>ল্যান কার্ড (NIC)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0"/>
          <p:cNvSpPr txBox="1"/>
          <p:nvPr/>
        </p:nvSpPr>
        <p:spPr>
          <a:xfrm>
            <a:off x="666750" y="4648200"/>
            <a:ext cx="108585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Hind Siliguri"/>
                <a:ea typeface="Hind Siliguri"/>
                <a:cs typeface="Hind Siliguri"/>
                <a:sym typeface="Hind Siliguri"/>
              </a:rPr>
              <a:t>ক্লিক করুন: ডিভাইসগুলো কীভাবে সমন্বয় করে</a:t>
            </a:r>
            <a:endParaRPr/>
          </a:p>
        </p:txBody>
      </p:sp>
      <p:pic>
        <p:nvPicPr>
          <p:cNvPr id="193" name="Google Shape;193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667375" y="3109912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0"/>
          <p:cNvSpPr txBox="1"/>
          <p:nvPr/>
        </p:nvSpPr>
        <p:spPr>
          <a:xfrm>
            <a:off x="762000" y="571500"/>
            <a:ext cx="11401425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40AF"/>
                </a:solidFill>
                <a:latin typeface="Hind Siliguri"/>
                <a:ea typeface="Hind Siliguri"/>
                <a:cs typeface="Hind Siliguri"/>
                <a:sym typeface="Hind Siliguri"/>
              </a:rPr>
              <a:t>ভিডিও টিউটোরিয়াল: একটি ডেটা প্যাকেটের যাত্রা</a:t>
            </a:r>
            <a:endParaRPr/>
          </a:p>
        </p:txBody>
      </p:sp>
      <p:sp>
        <p:nvSpPr>
          <p:cNvPr id="195" name="Google Shape;195;p20"/>
          <p:cNvSpPr/>
          <p:nvPr/>
        </p:nvSpPr>
        <p:spPr>
          <a:xfrm>
            <a:off x="571500" y="571500"/>
            <a:ext cx="95250" cy="6477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Online Media 1" title="হাব vs সুইচ vs রাউটার এর বিস্তারিত | Hub vs Switch vs Router explained in Bangla #techland360">
            <a:hlinkClick r:id="" action="ppaction://media"/>
            <a:extLst>
              <a:ext uri="{FF2B5EF4-FFF2-40B4-BE49-F238E27FC236}">
                <a16:creationId xmlns:a16="http://schemas.microsoft.com/office/drawing/2014/main" id="{CADB99D5-9555-2E3C-6387-08F125B6053E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6"/>
          <a:stretch>
            <a:fillRect/>
          </a:stretch>
        </p:blipFill>
        <p:spPr>
          <a:xfrm>
            <a:off x="2258568" y="1657957"/>
            <a:ext cx="7251192" cy="409693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1"/>
          <p:cNvSpPr/>
          <p:nvPr/>
        </p:nvSpPr>
        <p:spPr>
          <a:xfrm>
            <a:off x="571500" y="2300287"/>
            <a:ext cx="11049000" cy="338137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2" name="Google Shape;202;p21"/>
          <p:cNvGraphicFramePr/>
          <p:nvPr/>
        </p:nvGraphicFramePr>
        <p:xfrm>
          <a:off x="571500" y="2300287"/>
          <a:ext cx="11049000" cy="3381375"/>
        </p:xfrm>
        <a:graphic>
          <a:graphicData uri="http://schemas.openxmlformats.org/drawingml/2006/table">
            <a:tbl>
              <a:tblPr firstRow="1" bandRow="1">
                <a:noFill/>
                <a:tableStyleId>{1D3E3E76-D303-43ED-A5B7-6F391F87F32E}</a:tableStyleId>
              </a:tblPr>
              <a:tblGrid>
                <a:gridCol w="246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8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37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76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Hind Siliguri"/>
                          <a:ea typeface="Hind Siliguri"/>
                          <a:cs typeface="Hind Siliguri"/>
                          <a:sym typeface="Hind Siliguri"/>
                        </a:rPr>
                        <a:t>ডিভাইস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Hind Siliguri"/>
                          <a:ea typeface="Hind Siliguri"/>
                          <a:cs typeface="Hind Siliguri"/>
                          <a:sym typeface="Hind Siliguri"/>
                        </a:rPr>
                        <a:t>লেয়ার (OSI)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Hind Siliguri"/>
                          <a:ea typeface="Hind Siliguri"/>
                          <a:cs typeface="Hind Siliguri"/>
                          <a:sym typeface="Hind Siliguri"/>
                        </a:rPr>
                        <a:t>ঠিকানা পদ্ধতি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Hind Siliguri"/>
                          <a:ea typeface="Hind Siliguri"/>
                          <a:cs typeface="Hind Siliguri"/>
                          <a:sym typeface="Hind Siliguri"/>
                        </a:rPr>
                        <a:t>বুদ্ধিমত্তা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6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E293B"/>
                          </a:solidFill>
                          <a:latin typeface="Hind Siliguri"/>
                          <a:ea typeface="Hind Siliguri"/>
                          <a:cs typeface="Hind Siliguri"/>
                          <a:sym typeface="Hind Siliguri"/>
                        </a:rPr>
                        <a:t>হাব (Hub)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E293B"/>
                          </a:solidFill>
                          <a:latin typeface="Hind Siliguri"/>
                          <a:ea typeface="Hind Siliguri"/>
                          <a:cs typeface="Hind Siliguri"/>
                          <a:sym typeface="Hind Siliguri"/>
                        </a:rPr>
                        <a:t>ফিজিক্যাল লেয়ার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E293B"/>
                          </a:solidFill>
                          <a:latin typeface="Hind Siliguri"/>
                          <a:ea typeface="Hind Siliguri"/>
                          <a:cs typeface="Hind Siliguri"/>
                          <a:sym typeface="Hind Siliguri"/>
                        </a:rPr>
                        <a:t>নেই (ব্রডকাস্ট)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E293B"/>
                          </a:solidFill>
                          <a:latin typeface="Hind Siliguri"/>
                          <a:ea typeface="Hind Siliguri"/>
                          <a:cs typeface="Hind Siliguri"/>
                          <a:sym typeface="Hind Siliguri"/>
                        </a:rPr>
                        <a:t>অত্যন্ত কম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6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E293B"/>
                          </a:solidFill>
                          <a:latin typeface="Hind Siliguri"/>
                          <a:ea typeface="Hind Siliguri"/>
                          <a:cs typeface="Hind Siliguri"/>
                          <a:sym typeface="Hind Siliguri"/>
                        </a:rPr>
                        <a:t>সুইচ (Switch)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E293B"/>
                          </a:solidFill>
                          <a:latin typeface="Hind Siliguri"/>
                          <a:ea typeface="Hind Siliguri"/>
                          <a:cs typeface="Hind Siliguri"/>
                          <a:sym typeface="Hind Siliguri"/>
                        </a:rPr>
                        <a:t>ডেটা লিঙ্ক লেয়ার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E293B"/>
                          </a:solidFill>
                          <a:latin typeface="Hind Siliguri"/>
                          <a:ea typeface="Hind Siliguri"/>
                          <a:cs typeface="Hind Siliguri"/>
                          <a:sym typeface="Hind Siliguri"/>
                        </a:rPr>
                        <a:t>ম্যাক (MAC) অ্যাড্রেস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E293B"/>
                          </a:solidFill>
                          <a:latin typeface="Hind Siliguri"/>
                          <a:ea typeface="Hind Siliguri"/>
                          <a:cs typeface="Hind Siliguri"/>
                          <a:sym typeface="Hind Siliguri"/>
                        </a:rPr>
                        <a:t>মাঝারি (স্মার্ট)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6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E293B"/>
                          </a:solidFill>
                          <a:latin typeface="Hind Siliguri"/>
                          <a:ea typeface="Hind Siliguri"/>
                          <a:cs typeface="Hind Siliguri"/>
                          <a:sym typeface="Hind Siliguri"/>
                        </a:rPr>
                        <a:t>রাউটার (Router)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E293B"/>
                          </a:solidFill>
                          <a:latin typeface="Hind Siliguri"/>
                          <a:ea typeface="Hind Siliguri"/>
                          <a:cs typeface="Hind Siliguri"/>
                          <a:sym typeface="Hind Siliguri"/>
                        </a:rPr>
                        <a:t>নেটওয়ার্ক লেয়ার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E293B"/>
                          </a:solidFill>
                          <a:latin typeface="Hind Siliguri"/>
                          <a:ea typeface="Hind Siliguri"/>
                          <a:cs typeface="Hind Siliguri"/>
                          <a:sym typeface="Hind Siliguri"/>
                        </a:rPr>
                        <a:t>আইপি (IP) অ্যাড্রেস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E293B"/>
                          </a:solidFill>
                          <a:latin typeface="Hind Siliguri"/>
                          <a:ea typeface="Hind Siliguri"/>
                          <a:cs typeface="Hind Siliguri"/>
                          <a:sym typeface="Hind Siliguri"/>
                        </a:rPr>
                        <a:t>উচ্চ (অত্যন্ত স্মার্ট)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6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E293B"/>
                          </a:solidFill>
                          <a:latin typeface="Hind Siliguri"/>
                          <a:ea typeface="Hind Siliguri"/>
                          <a:cs typeface="Hind Siliguri"/>
                          <a:sym typeface="Hind Siliguri"/>
                        </a:rPr>
                        <a:t>মডেম (Modem)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E293B"/>
                          </a:solidFill>
                          <a:latin typeface="Hind Siliguri"/>
                          <a:ea typeface="Hind Siliguri"/>
                          <a:cs typeface="Hind Siliguri"/>
                          <a:sym typeface="Hind Siliguri"/>
                        </a:rPr>
                        <a:t>ফিজিক্যাল / ডেটা লিঙ্ক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E293B"/>
                          </a:solidFill>
                          <a:latin typeface="Hind Siliguri"/>
                          <a:ea typeface="Hind Siliguri"/>
                          <a:cs typeface="Hind Siliguri"/>
                          <a:sym typeface="Hind Siliguri"/>
                        </a:rPr>
                        <a:t>সিগন্যাল কনভার্সন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E293B"/>
                          </a:solidFill>
                          <a:latin typeface="Hind Siliguri"/>
                          <a:ea typeface="Hind Siliguri"/>
                          <a:cs typeface="Hind Siliguri"/>
                          <a:sym typeface="Hind Siliguri"/>
                        </a:rPr>
                        <a:t>বিশেষায়িত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3" name="Google Shape;203;p21"/>
          <p:cNvSpPr/>
          <p:nvPr/>
        </p:nvSpPr>
        <p:spPr>
          <a:xfrm>
            <a:off x="571500" y="3695700"/>
            <a:ext cx="246489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1"/>
          <p:cNvSpPr/>
          <p:nvPr/>
        </p:nvSpPr>
        <p:spPr>
          <a:xfrm>
            <a:off x="3036391" y="3695700"/>
            <a:ext cx="311735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1"/>
          <p:cNvSpPr/>
          <p:nvPr/>
        </p:nvSpPr>
        <p:spPr>
          <a:xfrm>
            <a:off x="6153745" y="3695700"/>
            <a:ext cx="29289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1"/>
          <p:cNvSpPr/>
          <p:nvPr/>
        </p:nvSpPr>
        <p:spPr>
          <a:xfrm>
            <a:off x="9082682" y="3695700"/>
            <a:ext cx="25378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1"/>
          <p:cNvSpPr/>
          <p:nvPr/>
        </p:nvSpPr>
        <p:spPr>
          <a:xfrm>
            <a:off x="571500" y="4352925"/>
            <a:ext cx="246489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1"/>
          <p:cNvSpPr/>
          <p:nvPr/>
        </p:nvSpPr>
        <p:spPr>
          <a:xfrm>
            <a:off x="3036391" y="4352925"/>
            <a:ext cx="311735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1"/>
          <p:cNvSpPr/>
          <p:nvPr/>
        </p:nvSpPr>
        <p:spPr>
          <a:xfrm>
            <a:off x="6153745" y="4352925"/>
            <a:ext cx="29289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1"/>
          <p:cNvSpPr/>
          <p:nvPr/>
        </p:nvSpPr>
        <p:spPr>
          <a:xfrm>
            <a:off x="9082682" y="4352925"/>
            <a:ext cx="25378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571500" y="5010150"/>
            <a:ext cx="246489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1"/>
          <p:cNvSpPr/>
          <p:nvPr/>
        </p:nvSpPr>
        <p:spPr>
          <a:xfrm>
            <a:off x="3036391" y="5010150"/>
            <a:ext cx="311735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1"/>
          <p:cNvSpPr/>
          <p:nvPr/>
        </p:nvSpPr>
        <p:spPr>
          <a:xfrm>
            <a:off x="6153745" y="5010150"/>
            <a:ext cx="29289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1"/>
          <p:cNvSpPr/>
          <p:nvPr/>
        </p:nvSpPr>
        <p:spPr>
          <a:xfrm>
            <a:off x="9082682" y="5010150"/>
            <a:ext cx="25378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1"/>
          <p:cNvSpPr/>
          <p:nvPr/>
        </p:nvSpPr>
        <p:spPr>
          <a:xfrm>
            <a:off x="571500" y="5667375"/>
            <a:ext cx="246489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1"/>
          <p:cNvSpPr/>
          <p:nvPr/>
        </p:nvSpPr>
        <p:spPr>
          <a:xfrm>
            <a:off x="3036391" y="5667375"/>
            <a:ext cx="311735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1"/>
          <p:cNvSpPr/>
          <p:nvPr/>
        </p:nvSpPr>
        <p:spPr>
          <a:xfrm>
            <a:off x="6153745" y="5667375"/>
            <a:ext cx="29289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1"/>
          <p:cNvSpPr/>
          <p:nvPr/>
        </p:nvSpPr>
        <p:spPr>
          <a:xfrm>
            <a:off x="9082682" y="5667375"/>
            <a:ext cx="25378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1"/>
          <p:cNvSpPr txBox="1"/>
          <p:nvPr/>
        </p:nvSpPr>
        <p:spPr>
          <a:xfrm>
            <a:off x="762000" y="571500"/>
            <a:ext cx="11401425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40AF"/>
                </a:solidFill>
                <a:latin typeface="Hind Siliguri"/>
                <a:ea typeface="Hind Siliguri"/>
                <a:cs typeface="Hind Siliguri"/>
                <a:sym typeface="Hind Siliguri"/>
              </a:rPr>
              <a:t>নেটওয়ার্কিং ডিভাইসের তুলনামূলক চিত্র</a:t>
            </a:r>
            <a:endParaRPr/>
          </a:p>
        </p:txBody>
      </p:sp>
      <p:sp>
        <p:nvSpPr>
          <p:cNvPr id="220" name="Google Shape;220;p21"/>
          <p:cNvSpPr/>
          <p:nvPr/>
        </p:nvSpPr>
        <p:spPr>
          <a:xfrm>
            <a:off x="571500" y="571500"/>
            <a:ext cx="95250" cy="6477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2"/>
          <p:cNvSpPr txBox="1"/>
          <p:nvPr/>
        </p:nvSpPr>
        <p:spPr>
          <a:xfrm>
            <a:off x="1047750" y="2095500"/>
            <a:ext cx="105727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১. </a:t>
            </a:r>
            <a:r>
              <a:rPr lang="en-US" sz="1800" b="1" i="0" u="none" strike="noStrike" cap="none" dirty="0" err="1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প্রশ্ন</a:t>
            </a:r>
            <a:r>
              <a:rPr lang="en-US" sz="1800" b="1" i="0" u="none" strike="noStrike" cap="none" dirty="0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: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কোন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ডিভাইসকে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নেটওয়ার্কের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 "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ট্রাফিক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পুলিশ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"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বলা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হয়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? 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dirty="0"/>
          </a:p>
        </p:txBody>
      </p:sp>
      <p:sp>
        <p:nvSpPr>
          <p:cNvPr id="227" name="Google Shape;227;p22"/>
          <p:cNvSpPr txBox="1"/>
          <p:nvPr/>
        </p:nvSpPr>
        <p:spPr>
          <a:xfrm>
            <a:off x="1047750" y="3019425"/>
            <a:ext cx="105727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২. </a:t>
            </a:r>
            <a:r>
              <a:rPr lang="en-US" sz="1800" b="1" i="0" u="none" strike="noStrike" cap="none" dirty="0" err="1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প্রশ্ন</a:t>
            </a:r>
            <a:r>
              <a:rPr lang="en-US" sz="1800" b="1" i="0" u="none" strike="noStrike" cap="none" dirty="0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: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সুইচ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কি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প্রতিটি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কম্পিউটারের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ম্যাক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অ্যাড্রেস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চিনতে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পারে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? 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dirty="0"/>
          </a:p>
        </p:txBody>
      </p:sp>
      <p:sp>
        <p:nvSpPr>
          <p:cNvPr id="228" name="Google Shape;228;p22"/>
          <p:cNvSpPr txBox="1"/>
          <p:nvPr/>
        </p:nvSpPr>
        <p:spPr>
          <a:xfrm>
            <a:off x="1047750" y="3943350"/>
            <a:ext cx="105727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৩. </a:t>
            </a:r>
            <a:r>
              <a:rPr lang="en-US" sz="1800" b="1" i="0" u="none" strike="noStrike" cap="none" dirty="0" err="1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প্রশ্ন</a:t>
            </a:r>
            <a:r>
              <a:rPr lang="en-US" sz="1800" b="1" i="0" u="none" strike="noStrike" cap="none" dirty="0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: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 NIC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এর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পূর্ণরূপ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কী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? 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dirty="0"/>
          </a:p>
        </p:txBody>
      </p:sp>
      <p:sp>
        <p:nvSpPr>
          <p:cNvPr id="229" name="Google Shape;229;p22"/>
          <p:cNvSpPr txBox="1"/>
          <p:nvPr/>
        </p:nvSpPr>
        <p:spPr>
          <a:xfrm>
            <a:off x="1047750" y="4867275"/>
            <a:ext cx="105727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৪. </a:t>
            </a:r>
            <a:r>
              <a:rPr lang="en-US" sz="1800" b="1" i="0" u="none" strike="noStrike" cap="none" dirty="0" err="1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প্রশ্ন</a:t>
            </a:r>
            <a:r>
              <a:rPr lang="en-US" sz="1800" b="1" i="0" u="none" strike="noStrike" cap="none" dirty="0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: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মডুলেশন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এবং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ডিমডুলেশন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কোন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ডিভাইসের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কাজ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? 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dirty="0"/>
          </a:p>
        </p:txBody>
      </p:sp>
      <p:sp>
        <p:nvSpPr>
          <p:cNvPr id="230" name="Google Shape;230;p22"/>
          <p:cNvSpPr txBox="1"/>
          <p:nvPr/>
        </p:nvSpPr>
        <p:spPr>
          <a:xfrm>
            <a:off x="762000" y="571500"/>
            <a:ext cx="11401425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40AF"/>
                </a:solidFill>
                <a:latin typeface="Hind Siliguri"/>
                <a:ea typeface="Hind Siliguri"/>
                <a:cs typeface="Hind Siliguri"/>
                <a:sym typeface="Hind Siliguri"/>
              </a:rPr>
              <a:t>ঝটপট কুইজ: প্রথম রাউন্ড</a:t>
            </a:r>
            <a:endParaRPr/>
          </a:p>
        </p:txBody>
      </p:sp>
      <p:sp>
        <p:nvSpPr>
          <p:cNvPr id="231" name="Google Shape;231;p22"/>
          <p:cNvSpPr/>
          <p:nvPr/>
        </p:nvSpPr>
        <p:spPr>
          <a:xfrm>
            <a:off x="571500" y="571500"/>
            <a:ext cx="95250" cy="6477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600200"/>
            <a:ext cx="11049000" cy="46863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3"/>
          <p:cNvSpPr txBox="1"/>
          <p:nvPr/>
        </p:nvSpPr>
        <p:spPr>
          <a:xfrm>
            <a:off x="571500" y="5538787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Hind Siliguri SemiBold"/>
                <a:ea typeface="Hind Siliguri SemiBold"/>
                <a:cs typeface="Hind Siliguri SemiBold"/>
                <a:sym typeface="Hind Siliguri SemiBold"/>
              </a:rPr>
              <a:t>আধুনিক সুইচগুলো হাবের তুলনায় শতগুণ বেশি গতি প্রদানে সক্ষম।</a:t>
            </a:r>
            <a:endParaRPr/>
          </a:p>
        </p:txBody>
      </p:sp>
      <p:sp>
        <p:nvSpPr>
          <p:cNvPr id="239" name="Google Shape;239;p23"/>
          <p:cNvSpPr txBox="1"/>
          <p:nvPr/>
        </p:nvSpPr>
        <p:spPr>
          <a:xfrm>
            <a:off x="762000" y="571500"/>
            <a:ext cx="11401425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40AF"/>
                </a:solidFill>
                <a:latin typeface="Hind Siliguri"/>
                <a:ea typeface="Hind Siliguri"/>
                <a:cs typeface="Hind Siliguri"/>
                <a:sym typeface="Hind Siliguri"/>
              </a:rPr>
              <a:t>পোর্টের গতি এবং ব্যান্ডউইথ সক্ষমতা</a:t>
            </a:r>
            <a:endParaRPr/>
          </a:p>
        </p:txBody>
      </p:sp>
      <p:sp>
        <p:nvSpPr>
          <p:cNvPr id="240" name="Google Shape;240;p23"/>
          <p:cNvSpPr/>
          <p:nvPr/>
        </p:nvSpPr>
        <p:spPr>
          <a:xfrm>
            <a:off x="571500" y="571500"/>
            <a:ext cx="95250" cy="6477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600200"/>
            <a:ext cx="5286375" cy="476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152900"/>
            <a:ext cx="5286375" cy="184785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4"/>
          <p:cNvSpPr txBox="1"/>
          <p:nvPr/>
        </p:nvSpPr>
        <p:spPr>
          <a:xfrm>
            <a:off x="571500" y="3371850"/>
            <a:ext cx="528637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কারো কোনো প্রশ্ন আছে?</a:t>
            </a:r>
            <a:endParaRPr/>
          </a:p>
        </p:txBody>
      </p:sp>
      <p:pic>
        <p:nvPicPr>
          <p:cNvPr id="249" name="Google Shape;249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1600200"/>
            <a:ext cx="5286375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4"/>
          <p:cNvSpPr txBox="1"/>
          <p:nvPr/>
        </p:nvSpPr>
        <p:spPr>
          <a:xfrm>
            <a:off x="876300" y="4933950"/>
            <a:ext cx="46767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তোমার বাড়ির বা স্কুলের জন্য একটি নেটওয়ার্ক ডায়াগ্রাম আঁকো। সেখানে মডেম, রাউটার এবং সুইচের অবস্থান চিহ্নিত করো।</a:t>
            </a:r>
            <a:endParaRPr/>
          </a:p>
        </p:txBody>
      </p:sp>
      <p:sp>
        <p:nvSpPr>
          <p:cNvPr id="251" name="Google Shape;251;p24"/>
          <p:cNvSpPr txBox="1"/>
          <p:nvPr/>
        </p:nvSpPr>
        <p:spPr>
          <a:xfrm>
            <a:off x="762000" y="571500"/>
            <a:ext cx="11401425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40AF"/>
                </a:solidFill>
                <a:latin typeface="Hind Siliguri"/>
                <a:ea typeface="Hind Siliguri"/>
                <a:cs typeface="Hind Siliguri"/>
                <a:sym typeface="Hind Siliguri"/>
              </a:rPr>
              <a:t>প্রশ্নোত্তর এবং বাড়ির কাজ</a:t>
            </a:r>
            <a:endParaRPr/>
          </a:p>
        </p:txBody>
      </p:sp>
      <p:sp>
        <p:nvSpPr>
          <p:cNvPr id="252" name="Google Shape;252;p24"/>
          <p:cNvSpPr/>
          <p:nvPr/>
        </p:nvSpPr>
        <p:spPr>
          <a:xfrm>
            <a:off x="571500" y="571500"/>
            <a:ext cx="95250" cy="6477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4"/>
          <p:cNvSpPr txBox="1"/>
          <p:nvPr/>
        </p:nvSpPr>
        <p:spPr>
          <a:xfrm>
            <a:off x="439340" y="1962150"/>
            <a:ext cx="5550693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1E40AF"/>
                </a:solidFill>
                <a:latin typeface="Hind Siliguri"/>
                <a:ea typeface="Hind Siliguri"/>
                <a:cs typeface="Hind Siliguri"/>
                <a:sym typeface="Hind Siliguri"/>
              </a:rPr>
              <a:t>?</a:t>
            </a:r>
            <a:endParaRPr/>
          </a:p>
        </p:txBody>
      </p:sp>
      <p:sp>
        <p:nvSpPr>
          <p:cNvPr id="254" name="Google Shape;254;p24"/>
          <p:cNvSpPr txBox="1"/>
          <p:nvPr/>
        </p:nvSpPr>
        <p:spPr>
          <a:xfrm>
            <a:off x="759380" y="4457700"/>
            <a:ext cx="4910613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E40AF"/>
                </a:solidFill>
                <a:latin typeface="Hind Siliguri"/>
                <a:ea typeface="Hind Siliguri"/>
                <a:cs typeface="Hind Siliguri"/>
                <a:sym typeface="Hind Siliguri"/>
              </a:rPr>
              <a:t>আজকের বাড়ির কাজ: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5"/>
          <p:cNvSpPr/>
          <p:nvPr/>
        </p:nvSpPr>
        <p:spPr>
          <a:xfrm>
            <a:off x="571500" y="2705100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5"/>
          <p:cNvSpPr/>
          <p:nvPr/>
        </p:nvSpPr>
        <p:spPr>
          <a:xfrm>
            <a:off x="571500" y="3476625"/>
            <a:ext cx="11049000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5"/>
          <p:cNvSpPr/>
          <p:nvPr/>
        </p:nvSpPr>
        <p:spPr>
          <a:xfrm>
            <a:off x="571500" y="34671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5"/>
          <p:cNvSpPr/>
          <p:nvPr/>
        </p:nvSpPr>
        <p:spPr>
          <a:xfrm>
            <a:off x="571500" y="34671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5"/>
          <p:cNvSpPr/>
          <p:nvPr/>
        </p:nvSpPr>
        <p:spPr>
          <a:xfrm>
            <a:off x="571500" y="44100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5"/>
          <p:cNvSpPr/>
          <p:nvPr/>
        </p:nvSpPr>
        <p:spPr>
          <a:xfrm>
            <a:off x="571500" y="44100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6" name="Google Shape;266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4797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5"/>
          <p:cNvSpPr txBox="1"/>
          <p:nvPr/>
        </p:nvSpPr>
        <p:spPr>
          <a:xfrm>
            <a:off x="1666875" y="2855118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https://www.cablify.ca/wp-content/uploads/2023/02/Electrical-work-for-IT-rooms.jpg</a:t>
            </a:r>
            <a:endParaRPr/>
          </a:p>
        </p:txBody>
      </p:sp>
      <p:sp>
        <p:nvSpPr>
          <p:cNvPr id="268" name="Google Shape;268;p25"/>
          <p:cNvSpPr txBox="1"/>
          <p:nvPr/>
        </p:nvSpPr>
        <p:spPr>
          <a:xfrm>
            <a:off x="1666875" y="3088481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Hind Siliguri"/>
                <a:ea typeface="Hind Siliguri"/>
                <a:cs typeface="Hind Siliguri"/>
                <a:sym typeface="Hind Siliguri"/>
              </a:rPr>
              <a:t>www.cablify.ca</a:t>
            </a:r>
            <a:endParaRPr/>
          </a:p>
        </p:txBody>
      </p:sp>
      <p:pic>
        <p:nvPicPr>
          <p:cNvPr id="269" name="Google Shape;269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70522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5"/>
          <p:cNvSpPr txBox="1"/>
          <p:nvPr/>
        </p:nvSpPr>
        <p:spPr>
          <a:xfrm>
            <a:off x="1666875" y="3619500"/>
            <a:ext cx="9953625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https://elements-resized.envatousercontent.com/elements-video-cover-images/d2ad552c-4f3c-4a3e-ab84-47f4a418dfd2/video_preview/video_preview_0000.jpg?w=500&amp;cf_fit=cover&amp;q=85&amp;format=auto&amp;s=82ce6dea1bb90e962c093aadf888c5c8bbf45849ae980a9465e0cb07395ccb3b</a:t>
            </a:r>
            <a:endParaRPr/>
          </a:p>
        </p:txBody>
      </p:sp>
      <p:sp>
        <p:nvSpPr>
          <p:cNvPr id="271" name="Google Shape;271;p25"/>
          <p:cNvSpPr txBox="1"/>
          <p:nvPr/>
        </p:nvSpPr>
        <p:spPr>
          <a:xfrm>
            <a:off x="1666875" y="4038600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Hind Siliguri"/>
                <a:ea typeface="Hind Siliguri"/>
                <a:cs typeface="Hind Siliguri"/>
                <a:sym typeface="Hind Siliguri"/>
              </a:rPr>
              <a:t>elements.envato.com</a:t>
            </a:r>
            <a:endParaRPr/>
          </a:p>
        </p:txBody>
      </p:sp>
      <p:pic>
        <p:nvPicPr>
          <p:cNvPr id="272" name="Google Shape;272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56247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5"/>
          <p:cNvSpPr txBox="1"/>
          <p:nvPr/>
        </p:nvSpPr>
        <p:spPr>
          <a:xfrm>
            <a:off x="1666875" y="4569618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https://i.redd.it/qvtkw5kz5gqa1.png</a:t>
            </a:r>
            <a:endParaRPr/>
          </a:p>
        </p:txBody>
      </p:sp>
      <p:sp>
        <p:nvSpPr>
          <p:cNvPr id="274" name="Google Shape;274;p25"/>
          <p:cNvSpPr txBox="1"/>
          <p:nvPr/>
        </p:nvSpPr>
        <p:spPr>
          <a:xfrm>
            <a:off x="1666875" y="4802981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Hind Siliguri"/>
                <a:ea typeface="Hind Siliguri"/>
                <a:cs typeface="Hind Siliguri"/>
                <a:sym typeface="Hind Siliguri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Hind Siliguri"/>
                <a:ea typeface="Hind Siliguri"/>
                <a:cs typeface="Hind Siliguri"/>
                <a:sym typeface="Hind Siliguri"/>
              </a:rPr>
              <a:t>www.reddit.com</a:t>
            </a:r>
            <a:endParaRPr/>
          </a:p>
        </p:txBody>
      </p:sp>
      <p:sp>
        <p:nvSpPr>
          <p:cNvPr id="275" name="Google Shape;275;p25"/>
          <p:cNvSpPr txBox="1"/>
          <p:nvPr/>
        </p:nvSpPr>
        <p:spPr>
          <a:xfrm>
            <a:off x="762000" y="571500"/>
            <a:ext cx="11401425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40AF"/>
                </a:solidFill>
                <a:latin typeface="Hind Siliguri"/>
                <a:ea typeface="Hind Siliguri"/>
                <a:cs typeface="Hind Siliguri"/>
                <a:sym typeface="Hind Siliguri"/>
              </a:rPr>
              <a:t>Image Sources</a:t>
            </a:r>
            <a:endParaRPr/>
          </a:p>
        </p:txBody>
      </p:sp>
      <p:sp>
        <p:nvSpPr>
          <p:cNvPr id="276" name="Google Shape;276;p25"/>
          <p:cNvSpPr/>
          <p:nvPr/>
        </p:nvSpPr>
        <p:spPr>
          <a:xfrm>
            <a:off x="571500" y="571500"/>
            <a:ext cx="95250" cy="6477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CT-Class8-Chapter2-Computer_Network_part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Film Burn</Template>
  <TotalTime>21</TotalTime>
  <Words>531</Words>
  <Application>Microsoft Office PowerPoint</Application>
  <PresentationFormat>Widescreen</PresentationFormat>
  <Paragraphs>69</Paragraphs>
  <Slides>12</Slides>
  <Notes>11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Hind Siliguri SemiBold</vt:lpstr>
      <vt:lpstr>Calibri</vt:lpstr>
      <vt:lpstr>Hind Siliguri</vt:lpstr>
      <vt:lpstr>Arial</vt:lpstr>
      <vt:lpstr>ICT-Class8-Chapter2-Computer_Network_part1</vt:lpstr>
      <vt:lpstr>PowerPoint Presentation</vt:lpstr>
      <vt:lpstr>বাড়ির কাজ (Homework) 🏠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Rezaur Rahman</cp:lastModifiedBy>
  <cp:revision>2</cp:revision>
  <dcterms:modified xsi:type="dcterms:W3CDTF">2026-10-14T17:21:19Z</dcterms:modified>
</cp:coreProperties>
</file>