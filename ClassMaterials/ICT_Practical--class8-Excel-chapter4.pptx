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6" r:id="rId11"/>
    <p:sldId id="267" r:id="rId12"/>
    <p:sldId id="268" r:id="rId13"/>
    <p:sldId id="274" r:id="rId14"/>
    <p:sldId id="275" r:id="rId15"/>
    <p:sldId id="276" r:id="rId16"/>
    <p:sldId id="269" r:id="rId17"/>
    <p:sldId id="270" r:id="rId18"/>
    <p:sldId id="271" r:id="rId19"/>
    <p:sldId id="272" r:id="rId20"/>
    <p:sldId id="277" r:id="rId21"/>
    <p:sldId id="278" r:id="rId22"/>
    <p:sldId id="280" r:id="rId23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FB5FF-4C74-4C12-8D11-FF0719EADE38}" v="13" dt="2026-07-28T01:38:06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undo custSel addSld delSld modSld sldOrd">
      <pc:chgData name="Rezaur Rahman" userId="3a4486d7030a1889" providerId="LiveId" clId="{D1B430C1-0409-411D-B3DE-A0AB3CF13E85}" dt="2026-07-28T01:42:04.370" v="369" actId="27636"/>
      <pc:docMkLst>
        <pc:docMk/>
      </pc:docMkLst>
      <pc:sldChg chg="addSp delSp mod">
        <pc:chgData name="Rezaur Rahman" userId="3a4486d7030a1889" providerId="LiveId" clId="{D1B430C1-0409-411D-B3DE-A0AB3CF13E85}" dt="2026-07-28T01:26:10.766" v="176" actId="22"/>
        <pc:sldMkLst>
          <pc:docMk/>
          <pc:sldMk cId="0" sldId="272"/>
        </pc:sldMkLst>
        <pc:picChg chg="add del">
          <ac:chgData name="Rezaur Rahman" userId="3a4486d7030a1889" providerId="LiveId" clId="{D1B430C1-0409-411D-B3DE-A0AB3CF13E85}" dt="2026-07-28T01:26:10.766" v="176" actId="22"/>
          <ac:picMkLst>
            <pc:docMk/>
            <pc:sldMk cId="0" sldId="272"/>
            <ac:picMk id="3" creationId="{4CA10BA6-10C0-8A8E-ADC3-C7E3219B80DE}"/>
          </ac:picMkLst>
        </pc:picChg>
      </pc:sldChg>
      <pc:sldChg chg="del">
        <pc:chgData name="Rezaur Rahman" userId="3a4486d7030a1889" providerId="LiveId" clId="{D1B430C1-0409-411D-B3DE-A0AB3CF13E85}" dt="2026-07-28T01:35:56.812" v="235" actId="47"/>
        <pc:sldMkLst>
          <pc:docMk/>
          <pc:sldMk cId="0" sldId="273"/>
        </pc:sldMkLst>
      </pc:sldChg>
      <pc:sldChg chg="addSp delSp modSp new mod">
        <pc:chgData name="Rezaur Rahman" userId="3a4486d7030a1889" providerId="LiveId" clId="{D1B430C1-0409-411D-B3DE-A0AB3CF13E85}" dt="2026-07-21T05:11:30.604" v="174" actId="20577"/>
        <pc:sldMkLst>
          <pc:docMk/>
          <pc:sldMk cId="2474646098" sldId="275"/>
        </pc:sldMkLst>
        <pc:graphicFrameChg chg="add mod modGraphic">
          <ac:chgData name="Rezaur Rahman" userId="3a4486d7030a1889" providerId="LiveId" clId="{D1B430C1-0409-411D-B3DE-A0AB3CF13E85}" dt="2026-07-21T05:11:30.604" v="174" actId="20577"/>
          <ac:graphicFrameMkLst>
            <pc:docMk/>
            <pc:sldMk cId="2474646098" sldId="275"/>
            <ac:graphicFrameMk id="8" creationId="{CEE1B61A-CF13-4F73-11E3-10EA9FC8E38E}"/>
          </ac:graphicFrameMkLst>
        </pc:graphicFrameChg>
      </pc:sldChg>
      <pc:sldChg chg="addSp delSp modSp new mod">
        <pc:chgData name="Rezaur Rahman" userId="3a4486d7030a1889" providerId="LiveId" clId="{D1B430C1-0409-411D-B3DE-A0AB3CF13E85}" dt="2026-07-28T01:35:18.209" v="234" actId="20577"/>
        <pc:sldMkLst>
          <pc:docMk/>
          <pc:sldMk cId="4231369617" sldId="277"/>
        </pc:sldMkLst>
        <pc:spChg chg="mod">
          <ac:chgData name="Rezaur Rahman" userId="3a4486d7030a1889" providerId="LiveId" clId="{D1B430C1-0409-411D-B3DE-A0AB3CF13E85}" dt="2026-07-28T01:33:43.339" v="212" actId="20577"/>
          <ac:spMkLst>
            <pc:docMk/>
            <pc:sldMk cId="4231369617" sldId="277"/>
            <ac:spMk id="2" creationId="{2DF919EB-8CFA-C083-3CAF-264371BCC323}"/>
          </ac:spMkLst>
        </pc:spChg>
        <pc:spChg chg="del">
          <ac:chgData name="Rezaur Rahman" userId="3a4486d7030a1889" providerId="LiveId" clId="{D1B430C1-0409-411D-B3DE-A0AB3CF13E85}" dt="2026-07-28T01:26:30.013" v="191" actId="478"/>
          <ac:spMkLst>
            <pc:docMk/>
            <pc:sldMk cId="4231369617" sldId="277"/>
            <ac:spMk id="3" creationId="{22D4A799-0DDB-BDDE-4A49-A551C494D12E}"/>
          </ac:spMkLst>
        </pc:spChg>
        <pc:spChg chg="add mod">
          <ac:chgData name="Rezaur Rahman" userId="3a4486d7030a1889" providerId="LiveId" clId="{D1B430C1-0409-411D-B3DE-A0AB3CF13E85}" dt="2026-07-28T01:35:18.209" v="234" actId="20577"/>
          <ac:spMkLst>
            <pc:docMk/>
            <pc:sldMk cId="4231369617" sldId="277"/>
            <ac:spMk id="11" creationId="{60D2CA0F-2AE2-DFC9-5D8C-176419B4B3A9}"/>
          </ac:spMkLst>
        </pc:spChg>
        <pc:graphicFrameChg chg="add mod modGraphic">
          <ac:chgData name="Rezaur Rahman" userId="3a4486d7030a1889" providerId="LiveId" clId="{D1B430C1-0409-411D-B3DE-A0AB3CF13E85}" dt="2026-07-28T01:33:37.674" v="210" actId="1076"/>
          <ac:graphicFrameMkLst>
            <pc:docMk/>
            <pc:sldMk cId="4231369617" sldId="277"/>
            <ac:graphicFrameMk id="9" creationId="{0556E4CC-4755-3637-2BEC-964EF873E52C}"/>
          </ac:graphicFrameMkLst>
        </pc:graphicFrameChg>
        <pc:picChg chg="add del mod">
          <ac:chgData name="Rezaur Rahman" userId="3a4486d7030a1889" providerId="LiveId" clId="{D1B430C1-0409-411D-B3DE-A0AB3CF13E85}" dt="2026-07-28T01:27:22.636" v="193" actId="478"/>
          <ac:picMkLst>
            <pc:docMk/>
            <pc:sldMk cId="4231369617" sldId="277"/>
            <ac:picMk id="6" creationId="{0DBFF9DF-A856-DB6A-83D2-D9562D9ABC5C}"/>
          </ac:picMkLst>
        </pc:picChg>
        <pc:picChg chg="add del mod">
          <ac:chgData name="Rezaur Rahman" userId="3a4486d7030a1889" providerId="LiveId" clId="{D1B430C1-0409-411D-B3DE-A0AB3CF13E85}" dt="2026-07-28T01:29:38.314" v="199" actId="478"/>
          <ac:picMkLst>
            <pc:docMk/>
            <pc:sldMk cId="4231369617" sldId="277"/>
            <ac:picMk id="8" creationId="{D1BD8522-ED19-3B66-96C3-018BA5B6C5B3}"/>
          </ac:picMkLst>
        </pc:picChg>
      </pc:sldChg>
      <pc:sldChg chg="modSp new mod">
        <pc:chgData name="Rezaur Rahman" userId="3a4486d7030a1889" providerId="LiveId" clId="{D1B430C1-0409-411D-B3DE-A0AB3CF13E85}" dt="2026-07-28T01:42:04.370" v="369" actId="27636"/>
        <pc:sldMkLst>
          <pc:docMk/>
          <pc:sldMk cId="1941058296" sldId="278"/>
        </pc:sldMkLst>
        <pc:spChg chg="mod">
          <ac:chgData name="Rezaur Rahman" userId="3a4486d7030a1889" providerId="LiveId" clId="{D1B430C1-0409-411D-B3DE-A0AB3CF13E85}" dt="2026-07-28T01:40:58.304" v="327" actId="1076"/>
          <ac:spMkLst>
            <pc:docMk/>
            <pc:sldMk cId="1941058296" sldId="278"/>
            <ac:spMk id="2" creationId="{472688DD-E076-05D5-16A5-AF610E61C292}"/>
          </ac:spMkLst>
        </pc:spChg>
        <pc:spChg chg="mod">
          <ac:chgData name="Rezaur Rahman" userId="3a4486d7030a1889" providerId="LiveId" clId="{D1B430C1-0409-411D-B3DE-A0AB3CF13E85}" dt="2026-07-28T01:42:04.370" v="369" actId="27636"/>
          <ac:spMkLst>
            <pc:docMk/>
            <pc:sldMk cId="1941058296" sldId="278"/>
            <ac:spMk id="3" creationId="{1FA44CE1-E2CE-E1AD-5F2A-C00E179D9BED}"/>
          </ac:spMkLst>
        </pc:spChg>
      </pc:sldChg>
      <pc:sldChg chg="addSp delSp modSp new del mod">
        <pc:chgData name="Rezaur Rahman" userId="3a4486d7030a1889" providerId="LiveId" clId="{D1B430C1-0409-411D-B3DE-A0AB3CF13E85}" dt="2026-07-28T01:37:11.659" v="253" actId="47"/>
        <pc:sldMkLst>
          <pc:docMk/>
          <pc:sldMk cId="3204838125" sldId="279"/>
        </pc:sldMkLst>
        <pc:spChg chg="mod">
          <ac:chgData name="Rezaur Rahman" userId="3a4486d7030a1889" providerId="LiveId" clId="{D1B430C1-0409-411D-B3DE-A0AB3CF13E85}" dt="2026-07-28T01:36:25.580" v="243" actId="27636"/>
          <ac:spMkLst>
            <pc:docMk/>
            <pc:sldMk cId="3204838125" sldId="279"/>
            <ac:spMk id="2" creationId="{2F54E322-9EC0-3774-5D08-93D4E66EFC76}"/>
          </ac:spMkLst>
        </pc:spChg>
        <pc:spChg chg="mod">
          <ac:chgData name="Rezaur Rahman" userId="3a4486d7030a1889" providerId="LiveId" clId="{D1B430C1-0409-411D-B3DE-A0AB3CF13E85}" dt="2026-07-28T01:36:25.738" v="244" actId="27636"/>
          <ac:spMkLst>
            <pc:docMk/>
            <pc:sldMk cId="3204838125" sldId="279"/>
            <ac:spMk id="3" creationId="{99167AF2-616F-B3BE-B548-488928AE3C8E}"/>
          </ac:spMkLst>
        </pc:spChg>
        <pc:spChg chg="add del">
          <ac:chgData name="Rezaur Rahman" userId="3a4486d7030a1889" providerId="LiveId" clId="{D1B430C1-0409-411D-B3DE-A0AB3CF13E85}" dt="2026-07-28T01:36:22.904" v="241" actId="22"/>
          <ac:spMkLst>
            <pc:docMk/>
            <pc:sldMk cId="3204838125" sldId="279"/>
            <ac:spMk id="6" creationId="{BA51B479-73E3-FC2C-1655-7251FD2B65C1}"/>
          </ac:spMkLst>
        </pc:spChg>
      </pc:sldChg>
      <pc:sldChg chg="modSp new mod">
        <pc:chgData name="Rezaur Rahman" userId="3a4486d7030a1889" providerId="LiveId" clId="{D1B430C1-0409-411D-B3DE-A0AB3CF13E85}" dt="2026-07-28T01:41:55.303" v="367" actId="27636"/>
        <pc:sldMkLst>
          <pc:docMk/>
          <pc:sldMk cId="1858258602" sldId="280"/>
        </pc:sldMkLst>
        <pc:spChg chg="mod">
          <ac:chgData name="Rezaur Rahman" userId="3a4486d7030a1889" providerId="LiveId" clId="{D1B430C1-0409-411D-B3DE-A0AB3CF13E85}" dt="2026-07-28T01:41:19.217" v="354" actId="1076"/>
          <ac:spMkLst>
            <pc:docMk/>
            <pc:sldMk cId="1858258602" sldId="280"/>
            <ac:spMk id="2" creationId="{AAB4D153-9289-A283-0929-CA49D663D9F2}"/>
          </ac:spMkLst>
        </pc:spChg>
        <pc:spChg chg="mod">
          <ac:chgData name="Rezaur Rahman" userId="3a4486d7030a1889" providerId="LiveId" clId="{D1B430C1-0409-411D-B3DE-A0AB3CF13E85}" dt="2026-07-28T01:41:55.303" v="367" actId="27636"/>
          <ac:spMkLst>
            <pc:docMk/>
            <pc:sldMk cId="1858258602" sldId="280"/>
            <ac:spMk id="3" creationId="{B7DF99C3-F505-5152-073A-762461F385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2db03e5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2db03e5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22db03e5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22db03e5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2db03e5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2db03e5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2db03e5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2db03e5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22db03e5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22db03e5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2db03e5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2db03e5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22db03e5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22db03e5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22db03e5c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22db03e5c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22db03e5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22db03e5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2db03e5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22db03e5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গাণিতিক সূত্র - বিয়োগ করা ➖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সূত্র: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=A4-B4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উদাহরণ:</a:t>
            </a:r>
            <a:r>
              <a:rPr lang="en">
                <a:solidFill>
                  <a:schemeClr val="dk1"/>
                </a:solidFill>
              </a:rPr>
              <a:t> আয় থেকে ব্যয় বিয়োগ করে উদ্ধৃত টাকা বের করা।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22db03e5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22db03e5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2db03e5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22db03e5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2db03e5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2db03e5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2db03e5c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22db03e5c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22db03e5c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22db03e5c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700" b="1"/>
              <a:t>স্প্রেডশিটের ব্যবহার (Excel)  📊 </a:t>
            </a:r>
            <a:endParaRPr sz="66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অষ্টম শ্রেণি | তথ্য ও যোগাযোগ প্রযুক্তি </a:t>
            </a:r>
            <a:r>
              <a:rPr lang="en" sz="2700" b="1">
                <a:solidFill>
                  <a:schemeClr val="dk1"/>
                </a:solidFill>
              </a:rPr>
              <a:t>🧮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dirty="0"/>
              <a:t>আলোচ্যসূচি (Agenda)  📋</a:t>
            </a:r>
            <a:endParaRPr sz="25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976" b="1" dirty="0">
                <a:solidFill>
                  <a:schemeClr val="dk1"/>
                </a:solidFill>
              </a:rPr>
              <a:t>আজকের ক্লাসের আলোচ্য বিষয়সমূহ:</a:t>
            </a:r>
            <a:endParaRPr sz="1976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976" dirty="0">
                <a:solidFill>
                  <a:schemeClr val="dk1"/>
                </a:solidFill>
              </a:rPr>
              <a:t>১. </a:t>
            </a:r>
            <a:r>
              <a:rPr lang="en" sz="1976" b="1" dirty="0">
                <a:solidFill>
                  <a:schemeClr val="dk1"/>
                </a:solidFill>
              </a:rPr>
              <a:t>স্প্রেডশিটের ধারণা:</a:t>
            </a:r>
            <a:r>
              <a:rPr lang="en" sz="1976" dirty="0">
                <a:solidFill>
                  <a:schemeClr val="dk1"/>
                </a:solidFill>
              </a:rPr>
              <a:t> স্প্রেডশিট কী এবং এর গুরুত্ব।  💡</a:t>
            </a:r>
            <a:endParaRPr sz="1976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976" dirty="0">
                <a:solidFill>
                  <a:schemeClr val="dk1"/>
                </a:solidFill>
              </a:rPr>
              <a:t> ২. </a:t>
            </a:r>
            <a:r>
              <a:rPr lang="en" sz="1976" b="1" dirty="0">
                <a:solidFill>
                  <a:schemeClr val="dk1"/>
                </a:solidFill>
              </a:rPr>
              <a:t>পটভূমি ও ইতিহাস:</a:t>
            </a:r>
            <a:r>
              <a:rPr lang="en" sz="1976" dirty="0">
                <a:solidFill>
                  <a:schemeClr val="dk1"/>
                </a:solidFill>
              </a:rPr>
              <a:t> স্প্রেডশিট সফটওয়্যারের বিবর্তন (ভিসিক্যালক থেকে এক্সেল)।  📜</a:t>
            </a:r>
            <a:endParaRPr sz="1976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976" dirty="0">
                <a:solidFill>
                  <a:schemeClr val="dk1"/>
                </a:solidFill>
              </a:rPr>
              <a:t>৩. </a:t>
            </a:r>
            <a:r>
              <a:rPr lang="en" sz="1976" b="1" dirty="0">
                <a:solidFill>
                  <a:schemeClr val="dk1"/>
                </a:solidFill>
              </a:rPr>
              <a:t>মৌলিক পরিচিতি:</a:t>
            </a:r>
            <a:r>
              <a:rPr lang="en" sz="1976" dirty="0">
                <a:solidFill>
                  <a:schemeClr val="dk1"/>
                </a:solidFill>
              </a:rPr>
              <a:t> কলাম, সারি (রো) এবং সেল সম্পর্কে ধারণা।  📐</a:t>
            </a:r>
            <a:endParaRPr sz="1976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976" dirty="0">
                <a:solidFill>
                  <a:schemeClr val="dk1"/>
                </a:solidFill>
              </a:rPr>
              <a:t>৪. </a:t>
            </a:r>
            <a:r>
              <a:rPr lang="en" sz="1976" b="1" dirty="0">
                <a:solidFill>
                  <a:schemeClr val="dk1"/>
                </a:solidFill>
              </a:rPr>
              <a:t>ব্যবহারিক প্রশিক্ষণ (Hands-on):</a:t>
            </a:r>
            <a:r>
              <a:rPr lang="en" sz="1976" dirty="0">
                <a:solidFill>
                  <a:schemeClr val="dk1"/>
                </a:solidFill>
              </a:rPr>
              <a:t> * মাইক্রোসফট এক্সেল ওপেন করা। 💻</a:t>
            </a:r>
            <a:endParaRPr sz="1976" dirty="0">
              <a:solidFill>
                <a:schemeClr val="dk1"/>
              </a:solidFill>
            </a:endParaRPr>
          </a:p>
          <a:p>
            <a:pPr marL="457200" lvl="0" indent="-35410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76"/>
              <a:buChar char="●"/>
            </a:pPr>
            <a:r>
              <a:rPr lang="en" sz="1976" dirty="0">
                <a:solidFill>
                  <a:schemeClr val="dk1"/>
                </a:solidFill>
              </a:rPr>
              <a:t>উপাত্ত বা ডেটা এন্ট্রি করা।</a:t>
            </a:r>
            <a:endParaRPr sz="1976" dirty="0">
              <a:solidFill>
                <a:schemeClr val="dk1"/>
              </a:solidFill>
            </a:endParaRPr>
          </a:p>
          <a:p>
            <a:pPr marL="457200" lvl="0" indent="-35410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Char char="●"/>
            </a:pPr>
            <a:r>
              <a:rPr lang="en" sz="1976" dirty="0">
                <a:solidFill>
                  <a:schemeClr val="dk1"/>
                </a:solidFill>
              </a:rPr>
              <a:t>যোগ করার সহজ সূত্র বা ফর্মুলা ব্যবহার। </a:t>
            </a:r>
            <a:endParaRPr sz="1976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976" dirty="0">
                <a:solidFill>
                  <a:schemeClr val="dk1"/>
                </a:solidFill>
              </a:rPr>
              <a:t>৫. </a:t>
            </a:r>
            <a:r>
              <a:rPr lang="en" sz="1976" b="1" dirty="0">
                <a:solidFill>
                  <a:schemeClr val="dk1"/>
                </a:solidFill>
              </a:rPr>
              <a:t>প্রশ্ন ও উত্তর পর্ব:</a:t>
            </a:r>
            <a:r>
              <a:rPr lang="en" sz="1976" dirty="0">
                <a:solidFill>
                  <a:schemeClr val="dk1"/>
                </a:solidFill>
              </a:rPr>
              <a:t> আজকের পাঠ নিয়ে আলোচনা। ❓</a:t>
            </a:r>
            <a:endParaRPr sz="989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স্প্রেডশিট কী? (Concept)</a:t>
            </a:r>
            <a:r>
              <a:rPr lang="en" sz="2500"/>
              <a:t> 🧐</a:t>
            </a:r>
            <a:endParaRPr sz="420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স্প্রেডশিট (Spreadsheet):</a:t>
            </a:r>
            <a:r>
              <a:rPr lang="en" sz="2100" dirty="0">
                <a:solidFill>
                  <a:schemeClr val="dk1"/>
                </a:solidFill>
              </a:rPr>
              <a:t> এর আভিধানিক অর্থ হলো ছড়ানো বড় মাপের কাগজ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গঠন:</a:t>
            </a:r>
            <a:r>
              <a:rPr lang="en" sz="2100" dirty="0">
                <a:solidFill>
                  <a:schemeClr val="dk1"/>
                </a:solidFill>
              </a:rPr>
              <a:t> এটি অনেকগুলো ছোট ছোট ঘর বা 'সেল' (Cell) নিয়ে গঠিত একটি গ্রিড বা টেবিল । 🏁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কাজ:</a:t>
            </a:r>
            <a:r>
              <a:rPr lang="en" sz="2100" dirty="0">
                <a:solidFill>
                  <a:schemeClr val="dk1"/>
                </a:solidFill>
              </a:rPr>
              <a:t> ব্যবসা-বাণিজ্য বা গবেষণার যাবতীয় উপাত্তকে ছক আকারে সাজানো এবং গাণিতিক হিসাব সম্পন্ন করা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ইতিহাস (History)</a:t>
            </a:r>
            <a:r>
              <a:rPr lang="en" sz="2500"/>
              <a:t> ⏳</a:t>
            </a:r>
            <a:endParaRPr sz="250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প্রথম সফটওয়্যার:</a:t>
            </a:r>
            <a:r>
              <a:rPr lang="en" sz="2100">
                <a:solidFill>
                  <a:schemeClr val="dk1"/>
                </a:solidFill>
              </a:rPr>
              <a:t> সত্তরের দশকের শেষের দিকে অ্যাপল কোম্পানি প্রথম 'ভিসিক্যালক' (VisiCalc) নামক স্প্রেডশিট সফটওয়্যার উদ্ভাবন করে । 🍎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জনপ্রিয় সফটওয়্যার:</a:t>
            </a:r>
            <a:r>
              <a:rPr lang="en" sz="2100">
                <a:solidFill>
                  <a:schemeClr val="dk1"/>
                </a:solidFill>
              </a:rPr>
              <a:t> বর্তমানে মাইক্রোসফট এক্সেল (Microsoft Excel) সবচেয়ে জনপ্রিয় । 🏢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অন্যান্য: এছাড়াও ওপেন অফিস ক্যালক (OpenOffice Calc) ও গুগল শিটস (Google Sheets) ব্যবহৃত হয় ।</a:t>
            </a:r>
            <a:endParaRPr sz="210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26A2A-9E5A-5CB9-89BE-D684FE55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963" y="3160568"/>
            <a:ext cx="2224087" cy="1795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কেন আমরা স্প্রেডশিট ব্যবহার করব?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নির্ভুল হিসাব:</a:t>
            </a:r>
            <a:r>
              <a:rPr lang="en" sz="2100" dirty="0">
                <a:solidFill>
                  <a:schemeClr val="dk1"/>
                </a:solidFill>
              </a:rPr>
              <a:t> খুব দ্রুত এবং নির্ভুলভাবে বড় বড় গাণিতিক হিসাব করা যায়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স্বয়ংক্রিয় আপডেট:</a:t>
            </a:r>
            <a:r>
              <a:rPr lang="en" sz="2100" dirty="0">
                <a:solidFill>
                  <a:schemeClr val="dk1"/>
                </a:solidFill>
              </a:rPr>
              <a:t> একবার সূত্র বা ফর্মুলা ব্যবহার করলে উপাত্ত পরিবর্তনের সাথে সাথে ফলাফলও বদলে যায়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উপাত্ত বিন্যাস:</a:t>
            </a:r>
            <a:r>
              <a:rPr lang="en" sz="2100" dirty="0">
                <a:solidFill>
                  <a:schemeClr val="dk1"/>
                </a:solidFill>
              </a:rPr>
              <a:t> কলাম ও সারিতে তথ্যগুলোকে সুন্দরভাবে সাজিয়ে রাখা যায়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চিত্রের মাধ্যমে উপস্থাপন:</a:t>
            </a:r>
            <a:r>
              <a:rPr lang="en" sz="2100" dirty="0">
                <a:solidFill>
                  <a:schemeClr val="dk1"/>
                </a:solidFill>
              </a:rPr>
              <a:t> উপাত্ত ব্যবহার করে সহজেই আকর্ষণীয় চার্ট বা গ্রাফ তৈরি করা যায়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ইন্টারফেসের সাথে পরিচিতি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টাইটেল বার:</a:t>
            </a:r>
            <a:r>
              <a:rPr lang="en" sz="2100" dirty="0">
                <a:solidFill>
                  <a:schemeClr val="dk1"/>
                </a:solidFill>
              </a:rPr>
              <a:t> এক্সেল উইন্ডোর একেবারে উপরে ফাইলের নাম যেখানে থাকে।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রিবন (Ribbon):</a:t>
            </a:r>
            <a:r>
              <a:rPr lang="en" sz="2100" dirty="0">
                <a:solidFill>
                  <a:schemeClr val="dk1"/>
                </a:solidFill>
              </a:rPr>
              <a:t> মেনু বার যেখানে বিভিন্ন টুলস (Home, Insert, ইত্যাদি) সাজানো থাকে ।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</a:rPr>
              <a:t>ফর্মুলা বার:</a:t>
            </a:r>
            <a:r>
              <a:rPr lang="en" sz="2100" dirty="0">
                <a:solidFill>
                  <a:schemeClr val="dk1"/>
                </a:solidFill>
              </a:rPr>
              <a:t> সেলের ভেতরে কী টাইপ করা হচ্ছে বা কী সূত্র আছে তা এখানে দেখা যায় । 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1EA420-1C4D-A5E5-9DA6-1F59CDCFA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8" y="2786743"/>
            <a:ext cx="4155549" cy="22700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কলাম, রো এবং সেল (Key Terms)</a:t>
            </a:r>
            <a:r>
              <a:rPr lang="en" sz="2500"/>
              <a:t> 🗝️</a:t>
            </a:r>
            <a:endParaRPr sz="2500"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</a:rPr>
              <a:t>কলাম (Column):</a:t>
            </a:r>
            <a:r>
              <a:rPr lang="en" sz="2000" dirty="0">
                <a:solidFill>
                  <a:schemeClr val="dk1"/>
                </a:solidFill>
              </a:rPr>
              <a:t> স্প্রেডশিটের খাড়া বা লম্বালম্বি ঘরগুলো। এগুলোকে A, B, C... দিয়ে চিহ্নিত করা হয় । ⬆️⬇️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</a:rPr>
              <a:t>সারি বা রো (Row):</a:t>
            </a:r>
            <a:r>
              <a:rPr lang="en" sz="2000" dirty="0">
                <a:solidFill>
                  <a:schemeClr val="dk1"/>
                </a:solidFill>
              </a:rPr>
              <a:t> স্প্রেডশিটের আড়াআড়ি ঘরগুলো। এগুলোকে ১, ২, ৩... সংখ্যা দিয়ে চিহ্নিত করা হয় । ⬅️➡️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সেল (Cell):</a:t>
            </a:r>
            <a:r>
              <a:rPr lang="en" sz="2000" dirty="0">
                <a:solidFill>
                  <a:schemeClr val="dk1"/>
                </a:solidFill>
              </a:rPr>
              <a:t> কলাম ও সারির মিলিত স্থান। যেমন: A কলাম এবং ১ নং সারির মিলিত ঘরটির নাম 'A1' । 🎯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27BBB-89BF-42A6-D2A5-61B171490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36" y="3550684"/>
            <a:ext cx="4220164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অংশ ২: ব্যবহারিক - এক্সেল শুরু করা (Setup)</a:t>
            </a:r>
            <a:r>
              <a:rPr lang="en" sz="2500"/>
              <a:t> 🚀</a:t>
            </a:r>
            <a:endParaRPr sz="2500"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ধাপসমূহ: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ধাপ ১:</a:t>
            </a:r>
            <a:r>
              <a:rPr lang="en" sz="2100">
                <a:solidFill>
                  <a:schemeClr val="dk1"/>
                </a:solidFill>
              </a:rPr>
              <a:t> কম্পিউটারের 'Start' বাটনে ক্লিক করুন। 🖱️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ধাপ ২:</a:t>
            </a:r>
            <a:r>
              <a:rPr lang="en" sz="2100">
                <a:solidFill>
                  <a:schemeClr val="dk1"/>
                </a:solidFill>
              </a:rPr>
              <a:t> 'All Programs' এ যান। মাইক্রোসফট অফিস ফোল্ডার খুঁজুন। 📁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ধাপ ৩:</a:t>
            </a:r>
            <a:r>
              <a:rPr lang="en" sz="2100">
                <a:solidFill>
                  <a:schemeClr val="dk1"/>
                </a:solidFill>
              </a:rPr>
              <a:t>'Microsoft Office' ফোল্ডার থেকে 'Microsoft Excel' নির্বাচন করুন। মাইক্রোসফট এক্সেল ওপেন করুন। ✅</a:t>
            </a:r>
            <a:endParaRPr sz="2100"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16" y="420914"/>
            <a:ext cx="4628741" cy="4484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BF0875-AC32-0F45-BDB2-74E458E0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678" y="531465"/>
            <a:ext cx="4277322" cy="17147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প্রথম ডেটা এন্ট্রি (ব্যবহারিক কাজ)</a:t>
            </a:r>
            <a:r>
              <a:rPr lang="en" sz="2500"/>
              <a:t> ✍️</a:t>
            </a:r>
            <a:endParaRPr sz="2500"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251900" y="1132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অনুশীলন:</a:t>
            </a:r>
            <a:r>
              <a:rPr lang="en" sz="2100">
                <a:solidFill>
                  <a:schemeClr val="dk1"/>
                </a:solidFill>
              </a:rPr>
              <a:t> একটি ছোট বাজার খরচ তালিকা তৈরি করুন। 📝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টিপস:</a:t>
            </a:r>
            <a:r>
              <a:rPr lang="en" sz="2100">
                <a:solidFill>
                  <a:schemeClr val="dk1"/>
                </a:solidFill>
              </a:rPr>
              <a:t> মাউস দিয়ে সেলে ক্লিক করুন এবং টাইপ করুন।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</a:rPr>
              <a:t>A1 সেলে লিখুন 'খরচের নাম' এবং B1 সেলে লিখুন 'টাকা'।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</a:rPr>
              <a:t>A2 সেলে 'খাতা' এবং B2 সেলে '৫০' লিখুন।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</a:rPr>
              <a:t>A3 সেলে 'কলম' এবং B3 সেলে '২০' লিখুন 。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যোগ করার ম্যাজিক (সূত্র ব্যবহার)</a:t>
            </a:r>
            <a:r>
              <a:rPr lang="en" sz="2500"/>
              <a:t> ⚡</a:t>
            </a:r>
            <a:endParaRPr sz="2500"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কাজ:</a:t>
            </a:r>
            <a:r>
              <a:rPr lang="en" sz="2100">
                <a:solidFill>
                  <a:schemeClr val="dk1"/>
                </a:solidFill>
              </a:rPr>
              <a:t> খাতা ও কলমের মোট দাম বের করা।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B4 সেলে মাউস দিয়ে ক্লিক করুন।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সূত্র:</a:t>
            </a:r>
            <a:r>
              <a:rPr lang="en" sz="2100">
                <a:solidFill>
                  <a:schemeClr val="dk1"/>
                </a:solidFill>
              </a:rPr>
              <a:t>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=B2+B3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টাইপ করুন: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=B2+B3</a:t>
            </a:r>
            <a:r>
              <a:rPr lang="en" sz="2100">
                <a:solidFill>
                  <a:schemeClr val="dk1"/>
                </a:solidFill>
              </a:rPr>
              <a:t> এবং কিবোর্ড থেকে 'Enter' চাপুন। ➕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ফলাফল:</a:t>
            </a:r>
            <a:r>
              <a:rPr lang="en" sz="2100">
                <a:solidFill>
                  <a:schemeClr val="dk1"/>
                </a:solidFill>
              </a:rPr>
              <a:t> দেখবেন স্বয়ংক্রিয়ভাবে '৭০' চলে এসেছে! 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ম্যাজিক:</a:t>
            </a:r>
            <a:r>
              <a:rPr lang="en" sz="2100">
                <a:solidFill>
                  <a:schemeClr val="dk1"/>
                </a:solidFill>
              </a:rPr>
              <a:t> এবার কলমের দাম পরিবর্তন করে দেখুন, মোট হিসাবও বদলে যাবে  🪄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পদ্ধতি ২:</a:t>
            </a:r>
            <a:r>
              <a:rPr lang="en" sz="2100">
                <a:solidFill>
                  <a:schemeClr val="dk1"/>
                </a:solidFill>
              </a:rPr>
              <a:t> </a:t>
            </a:r>
            <a:r>
              <a:rPr lang="en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=SUM(A1:A10)  (অনেকগুলো সেলের একসাথে যোগ)।</a:t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0" name="Google Shape;13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25" y="194100"/>
            <a:ext cx="7400701" cy="47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AA090-C57F-15D7-0B5E-95E4DC318A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22642-7CF7-BD3C-3F3E-13815FAC5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4" y="240335"/>
            <a:ext cx="5360179" cy="467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70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8860-D3C7-1C00-EECF-0BA0266F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5472"/>
            <a:ext cx="8520600" cy="197405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+mn-lt"/>
              </a:rPr>
              <a:t>হোমওয়ার্ক</a:t>
            </a:r>
            <a:r>
              <a:rPr lang="en-US" b="1" dirty="0">
                <a:latin typeface="+mn-lt"/>
              </a:rPr>
              <a:t>: </a:t>
            </a:r>
            <a:r>
              <a:rPr lang="en-US" b="1" dirty="0" err="1">
                <a:latin typeface="+mn-lt"/>
              </a:rPr>
              <a:t>এক্সেল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বেসিকস</a:t>
            </a:r>
            <a:r>
              <a:rPr lang="en-US" b="1" dirty="0">
                <a:latin typeface="+mn-lt"/>
              </a:rPr>
              <a:t> - </a:t>
            </a:r>
            <a:r>
              <a:rPr lang="en-US" b="1" dirty="0" err="1">
                <a:latin typeface="+mn-lt"/>
              </a:rPr>
              <a:t>ডাটা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এন্ট্রি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এবং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সূত্র</a:t>
            </a:r>
            <a:br>
              <a:rPr lang="en-US" b="1" dirty="0">
                <a:latin typeface="+mn-lt"/>
              </a:rPr>
            </a:br>
            <a:r>
              <a:rPr lang="en-US" b="1" dirty="0" err="1">
                <a:latin typeface="+mn-lt"/>
              </a:rPr>
              <a:t>পার্ট</a:t>
            </a:r>
            <a:r>
              <a:rPr lang="en-US" b="1" dirty="0">
                <a:latin typeface="+mn-lt"/>
              </a:rPr>
              <a:t> ১: </a:t>
            </a:r>
            <a:r>
              <a:rPr lang="en-US" b="1" dirty="0" err="1">
                <a:latin typeface="+mn-lt"/>
              </a:rPr>
              <a:t>ডাটা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এন্ট্রি</a:t>
            </a:r>
            <a:r>
              <a:rPr lang="en-US" b="1" dirty="0">
                <a:latin typeface="+mn-lt"/>
              </a:rPr>
              <a:t> (</a:t>
            </a:r>
            <a:r>
              <a:rPr lang="en-US" b="1" dirty="0" err="1">
                <a:latin typeface="+mn-lt"/>
              </a:rPr>
              <a:t>বাজারের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তালিকা</a:t>
            </a:r>
            <a:r>
              <a:rPr lang="en-US" b="1" dirty="0">
                <a:latin typeface="+mn-lt"/>
              </a:rPr>
              <a:t>)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959CF-7E8C-654E-1492-D6B8DD8D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00" y="1075980"/>
            <a:ext cx="8520600" cy="72511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 err="1">
                <a:latin typeface="+mn-lt"/>
              </a:rPr>
              <a:t>একটি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নতুন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এক্সেল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ওয়ার্কবুক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খুল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এবং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সেল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A1 </a:t>
            </a:r>
            <a:r>
              <a:rPr lang="en-US" b="1" dirty="0" err="1">
                <a:latin typeface="+mn-lt"/>
              </a:rPr>
              <a:t>থেকে</a:t>
            </a:r>
            <a:r>
              <a:rPr lang="en-US" b="1" dirty="0">
                <a:latin typeface="+mn-lt"/>
              </a:rPr>
              <a:t> C6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পর্যন্ত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নিচের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ডাটাগুলো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লিখে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একটি</a:t>
            </a:r>
            <a:r>
              <a:rPr lang="en-US" dirty="0">
                <a:latin typeface="+mn-lt"/>
              </a:rPr>
              <a:t> "</a:t>
            </a:r>
            <a:r>
              <a:rPr lang="en-US" dirty="0" err="1">
                <a:latin typeface="+mn-lt"/>
              </a:rPr>
              <a:t>মুদি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পণ্যের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তালিকা</a:t>
            </a:r>
            <a:r>
              <a:rPr lang="en-US" dirty="0">
                <a:latin typeface="+mn-lt"/>
              </a:rPr>
              <a:t>" (Grocery Inventory) </a:t>
            </a:r>
            <a:r>
              <a:rPr lang="en-US" dirty="0" err="1">
                <a:latin typeface="+mn-lt"/>
              </a:rPr>
              <a:t>তৈরি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কর</a:t>
            </a:r>
            <a:r>
              <a:rPr lang="en-US" dirty="0">
                <a:latin typeface="+mn-lt"/>
              </a:rPr>
              <a:t>: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5C007-B031-D0D9-1308-C30BD72862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89078"/>
          </a:xfrm>
        </p:spPr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+mn-lt"/>
              </a:rPr>
              <a:t>14</a:t>
            </a:fld>
            <a:endParaRPr lang="en">
              <a:latin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E1B61A-CF13-4F73-11E3-10EA9FC8E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955133"/>
              </p:ext>
            </p:extLst>
          </p:nvPr>
        </p:nvGraphicFramePr>
        <p:xfrm>
          <a:off x="225108" y="2016934"/>
          <a:ext cx="8521700" cy="256032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4083073598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098711812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68716202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628289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Cell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A (Item)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B (Quantity)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C (Price per Item)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9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Row 1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Item Name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Quantity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Price (TK)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08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Row 2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Apples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0.50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83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Row 3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Milk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3.50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42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Row 4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Bread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2.25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956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Row 5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Eggs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0.20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871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+mn-lt"/>
                        </a:rPr>
                        <a:t>Row 6</a:t>
                      </a:r>
                      <a:endParaRPr lang="en-US"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Cereal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+mn-lt"/>
                        </a:rPr>
                        <a:t>4.00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82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64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DEC5-8327-9916-3D6D-9B74C45F5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8" y="154079"/>
            <a:ext cx="8689192" cy="774175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+mj-lt"/>
              </a:rPr>
              <a:t>হোমওয়ার্ক</a:t>
            </a:r>
            <a:r>
              <a:rPr lang="en-US" b="1" dirty="0">
                <a:latin typeface="+mj-lt"/>
              </a:rPr>
              <a:t>: </a:t>
            </a:r>
            <a:r>
              <a:rPr lang="en-US" b="1" dirty="0" err="1">
                <a:latin typeface="+mj-lt"/>
              </a:rPr>
              <a:t>এক্সেল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বেসিকস</a:t>
            </a:r>
            <a:r>
              <a:rPr lang="en-US" b="1" dirty="0">
                <a:latin typeface="+mj-lt"/>
              </a:rPr>
              <a:t> - </a:t>
            </a:r>
            <a:r>
              <a:rPr lang="en-US" b="1" dirty="0" err="1">
                <a:latin typeface="+mj-lt"/>
              </a:rPr>
              <a:t>ডাটা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এন্ট্রি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এবং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সূত্র</a:t>
            </a:r>
            <a:br>
              <a:rPr lang="en-US" b="1" dirty="0">
                <a:latin typeface="+mj-lt"/>
              </a:rPr>
            </a:br>
            <a:r>
              <a:rPr lang="en-US" dirty="0" err="1">
                <a:latin typeface="+mj-lt"/>
              </a:rPr>
              <a:t>পার্ট</a:t>
            </a:r>
            <a:r>
              <a:rPr lang="en-US" dirty="0">
                <a:latin typeface="+mj-lt"/>
              </a:rPr>
              <a:t> ২: </a:t>
            </a:r>
            <a:r>
              <a:rPr lang="en-US" dirty="0" err="1">
                <a:latin typeface="+mj-lt"/>
              </a:rPr>
              <a:t>সাধারণ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সূত্র</a:t>
            </a:r>
            <a:r>
              <a:rPr lang="en-US" dirty="0">
                <a:latin typeface="+mj-lt"/>
              </a:rPr>
              <a:t> (Simple Formulas)</a:t>
            </a:r>
            <a:br>
              <a:rPr lang="en-US" b="1" dirty="0">
                <a:latin typeface="Google Sans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32759-BCED-6AD1-4839-05468A6E4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err="1">
                <a:latin typeface="+mn-lt"/>
              </a:rPr>
              <a:t>কলাম</a:t>
            </a:r>
            <a:r>
              <a:rPr lang="en-US" b="1" dirty="0">
                <a:latin typeface="+mn-lt"/>
              </a:rPr>
              <a:t> D</a:t>
            </a:r>
            <a:r>
              <a:rPr lang="en-US" dirty="0">
                <a:latin typeface="+mn-lt"/>
              </a:rPr>
              <a:t>-</a:t>
            </a:r>
            <a:r>
              <a:rPr lang="en-US" dirty="0" err="1">
                <a:latin typeface="+mn-lt"/>
              </a:rPr>
              <a:t>তে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প্রতিটি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পণ্যের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মোট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খরচ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হিসাব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করতে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হবে</a:t>
            </a:r>
            <a:r>
              <a:rPr lang="en-US" dirty="0">
                <a:latin typeface="+mn-lt"/>
              </a:rPr>
              <a:t>।</a:t>
            </a:r>
          </a:p>
          <a:p>
            <a:r>
              <a:rPr lang="en-US" dirty="0">
                <a:latin typeface="+mn-lt"/>
              </a:rPr>
              <a:t>১. </a:t>
            </a:r>
            <a:r>
              <a:rPr lang="en-US" dirty="0" err="1">
                <a:latin typeface="+mn-lt"/>
              </a:rPr>
              <a:t>সেল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D1</a:t>
            </a:r>
            <a:r>
              <a:rPr lang="en-US" dirty="0">
                <a:latin typeface="+mn-lt"/>
              </a:rPr>
              <a:t>-এ </a:t>
            </a:r>
            <a:r>
              <a:rPr lang="en-US" dirty="0" err="1">
                <a:latin typeface="+mn-lt"/>
              </a:rPr>
              <a:t>শিরোনাম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লিখ</a:t>
            </a:r>
            <a:r>
              <a:rPr lang="en-US" dirty="0">
                <a:latin typeface="+mn-lt"/>
              </a:rPr>
              <a:t>: Total Cost। ২. </a:t>
            </a:r>
            <a:r>
              <a:rPr lang="en-US" dirty="0" err="1">
                <a:latin typeface="+mn-lt"/>
              </a:rPr>
              <a:t>সেল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D2</a:t>
            </a:r>
            <a:r>
              <a:rPr lang="en-US" dirty="0">
                <a:latin typeface="+mn-lt"/>
              </a:rPr>
              <a:t>-এ </a:t>
            </a:r>
            <a:r>
              <a:rPr lang="en-US" dirty="0" err="1">
                <a:latin typeface="+mn-lt"/>
              </a:rPr>
              <a:t>পরিমাণ</a:t>
            </a:r>
            <a:r>
              <a:rPr lang="en-US" dirty="0">
                <a:latin typeface="+mn-lt"/>
              </a:rPr>
              <a:t> (B2) </a:t>
            </a:r>
            <a:r>
              <a:rPr lang="en-US" dirty="0" err="1">
                <a:latin typeface="+mn-lt"/>
              </a:rPr>
              <a:t>এবং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দাম</a:t>
            </a:r>
            <a:r>
              <a:rPr lang="en-US" dirty="0">
                <a:latin typeface="+mn-lt"/>
              </a:rPr>
              <a:t> (C2) </a:t>
            </a:r>
            <a:r>
              <a:rPr lang="en-US" dirty="0" err="1">
                <a:latin typeface="+mn-lt"/>
              </a:rPr>
              <a:t>গুণ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করার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জন্য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একটি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সূত্র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লিখ</a:t>
            </a:r>
            <a:r>
              <a:rPr lang="en-US" dirty="0">
                <a:latin typeface="+mn-lt"/>
              </a:rPr>
              <a:t>।</a:t>
            </a:r>
          </a:p>
          <a:p>
            <a:endParaRPr lang="en-US" dirty="0">
              <a:latin typeface="+mn-lt"/>
            </a:endParaRPr>
          </a:p>
          <a:p>
            <a:pPr marL="114300" indent="0">
              <a:buNone/>
            </a:pPr>
            <a:r>
              <a:rPr lang="en-US" dirty="0" err="1">
                <a:latin typeface="+mn-lt"/>
              </a:rPr>
              <a:t>এখন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কেনাকাটার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মোট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খরচ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বের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কর</a:t>
            </a:r>
            <a:r>
              <a:rPr lang="en-US" dirty="0">
                <a:latin typeface="+mn-lt"/>
              </a:rPr>
              <a:t>।</a:t>
            </a:r>
          </a:p>
          <a:p>
            <a:r>
              <a:rPr lang="en-US" dirty="0">
                <a:latin typeface="+mn-lt"/>
              </a:rPr>
              <a:t>১. </a:t>
            </a:r>
            <a:r>
              <a:rPr lang="en-US" dirty="0" err="1">
                <a:latin typeface="+mn-lt"/>
              </a:rPr>
              <a:t>সেল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C7</a:t>
            </a:r>
            <a:r>
              <a:rPr lang="en-US" dirty="0">
                <a:latin typeface="+mn-lt"/>
              </a:rPr>
              <a:t>-এ </a:t>
            </a:r>
            <a:r>
              <a:rPr lang="en-US" dirty="0" err="1">
                <a:latin typeface="+mn-lt"/>
              </a:rPr>
              <a:t>লিখুন</a:t>
            </a:r>
            <a:r>
              <a:rPr lang="en-US" dirty="0">
                <a:latin typeface="+mn-lt"/>
              </a:rPr>
              <a:t>: Grand Total। ২. </a:t>
            </a:r>
            <a:r>
              <a:rPr lang="en-US" dirty="0" err="1">
                <a:latin typeface="+mn-lt"/>
              </a:rPr>
              <a:t>সেল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D7</a:t>
            </a:r>
            <a:r>
              <a:rPr lang="en-US" dirty="0">
                <a:latin typeface="+mn-lt"/>
              </a:rPr>
              <a:t>-এ SUM </a:t>
            </a:r>
            <a:r>
              <a:rPr lang="en-US" dirty="0" err="1">
                <a:latin typeface="+mn-lt"/>
              </a:rPr>
              <a:t>ফাংশন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ব্যবহার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করে</a:t>
            </a:r>
            <a:r>
              <a:rPr lang="en-US" dirty="0">
                <a:latin typeface="+mn-lt"/>
              </a:rPr>
              <a:t> "</a:t>
            </a:r>
            <a:r>
              <a:rPr lang="en-US" dirty="0" err="1">
                <a:latin typeface="+mn-lt"/>
              </a:rPr>
              <a:t>মোট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খরচ</a:t>
            </a:r>
            <a:r>
              <a:rPr lang="en-US" dirty="0">
                <a:latin typeface="+mn-lt"/>
              </a:rPr>
              <a:t>" </a:t>
            </a:r>
            <a:r>
              <a:rPr lang="en-US" dirty="0" err="1">
                <a:latin typeface="+mn-lt"/>
              </a:rPr>
              <a:t>কলামের</a:t>
            </a:r>
            <a:r>
              <a:rPr lang="en-US" dirty="0">
                <a:latin typeface="+mn-lt"/>
              </a:rPr>
              <a:t> (D2 </a:t>
            </a:r>
            <a:r>
              <a:rPr lang="en-US" dirty="0" err="1">
                <a:latin typeface="+mn-lt"/>
              </a:rPr>
              <a:t>থেকে</a:t>
            </a:r>
            <a:r>
              <a:rPr lang="en-US" dirty="0">
                <a:latin typeface="+mn-lt"/>
              </a:rPr>
              <a:t> D6) </a:t>
            </a:r>
            <a:r>
              <a:rPr lang="en-US" dirty="0" err="1">
                <a:latin typeface="+mn-lt"/>
              </a:rPr>
              <a:t>সবগুলোর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যোগফল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বের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কর</a:t>
            </a:r>
            <a:r>
              <a:rPr lang="en-US" dirty="0">
                <a:latin typeface="+mn-lt"/>
              </a:rPr>
              <a:t>।</a:t>
            </a:r>
          </a:p>
          <a:p>
            <a:r>
              <a:rPr lang="en-US" i="1" dirty="0" err="1">
                <a:latin typeface="+mn-lt"/>
              </a:rPr>
              <a:t>ইঙ্গিত</a:t>
            </a:r>
            <a:r>
              <a:rPr lang="en-US" i="1" dirty="0">
                <a:latin typeface="+mn-lt"/>
              </a:rPr>
              <a:t>: </a:t>
            </a:r>
            <a:r>
              <a:rPr lang="en-US" i="1" dirty="0" err="1">
                <a:latin typeface="+mn-lt"/>
              </a:rPr>
              <a:t>সূত্রটি</a:t>
            </a:r>
            <a:r>
              <a:rPr lang="en-US" i="1" dirty="0">
                <a:latin typeface="+mn-lt"/>
              </a:rPr>
              <a:t> </a:t>
            </a:r>
            <a:r>
              <a:rPr lang="en-US" i="1" dirty="0" err="1">
                <a:latin typeface="+mn-lt"/>
              </a:rPr>
              <a:t>এমন</a:t>
            </a:r>
            <a:r>
              <a:rPr lang="en-US" i="1" dirty="0">
                <a:latin typeface="+mn-lt"/>
              </a:rPr>
              <a:t> </a:t>
            </a:r>
            <a:r>
              <a:rPr lang="en-US" i="1" dirty="0" err="1">
                <a:latin typeface="+mn-lt"/>
              </a:rPr>
              <a:t>হওয়া</a:t>
            </a:r>
            <a:r>
              <a:rPr lang="en-US" i="1" dirty="0">
                <a:latin typeface="+mn-lt"/>
              </a:rPr>
              <a:t> </a:t>
            </a:r>
            <a:r>
              <a:rPr lang="en-US" i="1" dirty="0" err="1">
                <a:latin typeface="+mn-lt"/>
              </a:rPr>
              <a:t>উচিত</a:t>
            </a:r>
            <a:r>
              <a:rPr lang="en-US" i="1" dirty="0">
                <a:latin typeface="+mn-lt"/>
              </a:rPr>
              <a:t>: =SUM(D2:D6)।</a:t>
            </a:r>
            <a:endParaRPr lang="en-US" dirty="0">
              <a:latin typeface="+mn-lt"/>
            </a:endParaRPr>
          </a:p>
          <a:p>
            <a:pPr marL="11430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AE554-091C-3CEB-2209-0BA0EFD6C8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116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বার গ্রাফ তৈরি - পারিবারিক বাজেট (Tutorial)</a:t>
            </a:r>
            <a:r>
              <a:rPr lang="en" sz="2500"/>
              <a:t> 📊</a:t>
            </a:r>
            <a:endParaRPr sz="2500"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ধাপ ১: উপাত্ত বা ডেটা নির্বাচন করুন 🖱️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মাউস দিয়ে আপনার তৈরি করা বাজেটের টেবিলটি সিলেক্ট করুন।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নিশ্চিত করুন যেন </a:t>
            </a:r>
            <a:r>
              <a:rPr lang="en" sz="2100" b="1">
                <a:solidFill>
                  <a:schemeClr val="dk1"/>
                </a:solidFill>
              </a:rPr>
              <a:t>'খরচের নাম'</a:t>
            </a:r>
            <a:r>
              <a:rPr lang="en" sz="2100">
                <a:solidFill>
                  <a:schemeClr val="dk1"/>
                </a:solidFill>
              </a:rPr>
              <a:t> (যেমন: খাতা, কলম, নাস্তা) এবং </a:t>
            </a:r>
            <a:r>
              <a:rPr lang="en" sz="2100" b="1">
                <a:solidFill>
                  <a:schemeClr val="dk1"/>
                </a:solidFill>
              </a:rPr>
              <a:t>'টাকার পরিমাণ'</a:t>
            </a:r>
            <a:r>
              <a:rPr lang="en" sz="2100">
                <a:solidFill>
                  <a:schemeClr val="dk1"/>
                </a:solidFill>
              </a:rPr>
              <a:t> (৫০, ২০, ৩০) উভয় কলামই সিলেক্ট করা হয়েছে।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ধাপ ২: ইনসার্ট মেনুতে যান 📥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এক্সেল রিবন বা মেনু বার থেকে </a:t>
            </a:r>
            <a:r>
              <a:rPr lang="en" sz="2100" b="1">
                <a:solidFill>
                  <a:schemeClr val="dk1"/>
                </a:solidFill>
              </a:rPr>
              <a:t>'Insert'</a:t>
            </a:r>
            <a:r>
              <a:rPr lang="en" sz="2100">
                <a:solidFill>
                  <a:schemeClr val="dk1"/>
                </a:solidFill>
              </a:rPr>
              <a:t> ট্যাবে ক্লিক করুন।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মাঝখানের </a:t>
            </a:r>
            <a:r>
              <a:rPr lang="en" sz="2100" b="1">
                <a:solidFill>
                  <a:schemeClr val="dk1"/>
                </a:solidFill>
              </a:rPr>
              <a:t>'Charts'</a:t>
            </a:r>
            <a:r>
              <a:rPr lang="en" sz="2100">
                <a:solidFill>
                  <a:schemeClr val="dk1"/>
                </a:solidFill>
              </a:rPr>
              <a:t> গ্রুপটি লক্ষ্য করুন।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 b="1"/>
              <a:t>বার গ্রাফ তৈরি - পারিবারিক বাজেট (Tutorial)</a:t>
            </a:r>
            <a:r>
              <a:rPr lang="en" sz="2750"/>
              <a:t> 📊</a:t>
            </a:r>
            <a:endParaRPr sz="27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</a:rPr>
              <a:t>ধাপ ৩: বার চার্ট পছন্দ করুন 📈</a:t>
            </a:r>
            <a:endParaRPr sz="2100" b="1">
              <a:solidFill>
                <a:schemeClr val="dk1"/>
              </a:solidFill>
            </a:endParaRPr>
          </a:p>
          <a:p>
            <a:pPr marL="457200" lvl="0" indent="-341947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b="1">
                <a:solidFill>
                  <a:schemeClr val="dk1"/>
                </a:solidFill>
              </a:rPr>
              <a:t>'Insert Column or Bar Chart'</a:t>
            </a:r>
            <a:r>
              <a:rPr lang="en" sz="2100">
                <a:solidFill>
                  <a:schemeClr val="dk1"/>
                </a:solidFill>
              </a:rPr>
              <a:t> আইকনে ক্লিক করুন।</a:t>
            </a:r>
            <a:endParaRPr sz="2100">
              <a:solidFill>
                <a:schemeClr val="dk1"/>
              </a:solidFill>
            </a:endParaRPr>
          </a:p>
          <a:p>
            <a:pPr marL="457200" lvl="0" indent="-34194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এখান থেকে </a:t>
            </a:r>
            <a:r>
              <a:rPr lang="en" sz="2100" b="1">
                <a:solidFill>
                  <a:schemeClr val="dk1"/>
                </a:solidFill>
              </a:rPr>
              <a:t>'2-D Column'</a:t>
            </a:r>
            <a:r>
              <a:rPr lang="en" sz="2100">
                <a:solidFill>
                  <a:schemeClr val="dk1"/>
                </a:solidFill>
              </a:rPr>
              <a:t> বা </a:t>
            </a:r>
            <a:r>
              <a:rPr lang="en" sz="2100" b="1">
                <a:solidFill>
                  <a:schemeClr val="dk1"/>
                </a:solidFill>
              </a:rPr>
              <a:t>'Clustered Bar'</a:t>
            </a:r>
            <a:r>
              <a:rPr lang="en" sz="2100">
                <a:solidFill>
                  <a:schemeClr val="dk1"/>
                </a:solidFill>
              </a:rPr>
              <a:t> অপশনটি বেছে নিন।</a:t>
            </a:r>
            <a:endParaRPr sz="2100">
              <a:solidFill>
                <a:schemeClr val="dk1"/>
              </a:solidFill>
            </a:endParaRPr>
          </a:p>
          <a:p>
            <a:pPr marL="457200" lvl="0" indent="-34194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ক্লিক করার সাথে সাথেই আপনার স্লাইডে একটি রঙিন গ্রাফ ভেসে উঠবে!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ধাপ ৪: কাস্টমাইজেশন (সাজানো) ✨</a:t>
            </a:r>
            <a:endParaRPr sz="2100" b="1">
              <a:solidFill>
                <a:schemeClr val="dk1"/>
              </a:solidFill>
            </a:endParaRPr>
          </a:p>
          <a:p>
            <a:pPr marL="457200" lvl="0" indent="-341947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b="1">
                <a:solidFill>
                  <a:schemeClr val="dk1"/>
                </a:solidFill>
              </a:rPr>
              <a:t>Chart Title:</a:t>
            </a:r>
            <a:r>
              <a:rPr lang="en" sz="2100">
                <a:solidFill>
                  <a:schemeClr val="dk1"/>
                </a:solidFill>
              </a:rPr>
              <a:t> গ্রাফের ওপরের শিরোনামে ডাবল ক্লিক করে লিখুন "আমার মাসিক বাজেট"।</a:t>
            </a:r>
            <a:endParaRPr sz="2100">
              <a:solidFill>
                <a:schemeClr val="dk1"/>
              </a:solidFill>
            </a:endParaRPr>
          </a:p>
          <a:p>
            <a:pPr marL="457200" lvl="0" indent="-34194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 b="1">
                <a:solidFill>
                  <a:schemeClr val="dk1"/>
                </a:solidFill>
              </a:rPr>
              <a:t>Axis Labels:</a:t>
            </a:r>
            <a:r>
              <a:rPr lang="en" sz="2100">
                <a:solidFill>
                  <a:schemeClr val="dk1"/>
                </a:solidFill>
              </a:rPr>
              <a:t> নিচে খরচের নাম এবং পাশে টাকার পরিমাণ দেখা যাচ্ছে কি না পরীক্ষা করুন।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25" y="78500"/>
            <a:ext cx="8679524" cy="498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গ্রাফ দেখে বিশ্লেষণ (Observation) 🧐</a:t>
            </a:r>
            <a:endParaRPr sz="2500"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শিক্ষার্থীদের জন্য প্রশ্ন: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আপনার তৈরি করা গ্রাফে কোন 'বার' (Bar) বা স্তম্ভটি সবচেয়ে লম্বা? (এটিই আপনার সর্বোচ্চ খরচ)।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কোন খরচটি সবচেয়ে কম?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ম্যাজিক টেস্ট:</a:t>
            </a:r>
            <a:r>
              <a:rPr lang="en" sz="2100">
                <a:solidFill>
                  <a:schemeClr val="dk1"/>
                </a:solidFill>
              </a:rPr>
              <a:t> এবার টেবিলের কোনো একটি খরচের টাকা কমিয়ে বা বাড়িয়ে দিন। দেখুন, আপনার তৈরি করা গ্রাফটি স্বয়ংক্রিয়ভাবে ছোট বা বড় হয়ে যাচ্ছে কি না!</a:t>
            </a:r>
            <a:endParaRPr sz="2100"/>
          </a:p>
        </p:txBody>
      </p:sp>
      <p:sp>
        <p:nvSpPr>
          <p:cNvPr id="165" name="Google Shape;16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19EB-8CFA-C083-3CAF-264371BC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15408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Homework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B4CBA-8122-66F6-D12C-06369C48BF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56E4CC-4755-3637-2BEC-964EF873E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935"/>
              </p:ext>
            </p:extLst>
          </p:nvPr>
        </p:nvGraphicFramePr>
        <p:xfrm>
          <a:off x="225108" y="1728060"/>
          <a:ext cx="8521700" cy="326136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282573194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62130755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634144240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743874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সেল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(পণ্যের বা খাতের নাম)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 (প্রয়োজনীয় পরিমাণ)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 (প্রতিটির একক মূল্য - টাকা)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91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সারি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১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খাতের নাম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পরিমাণ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একক মূল্য (টাকা)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548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সারি ২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খেলার জার্সি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৫০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৩০০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0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সারি ৩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পুরস্কার (ট্রফি ও মেডেল)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২০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২৫০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466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সারি ৪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পানির বোতল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১০০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২০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824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সারি ৫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ব্যানার ও ফেস্টুন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৩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৫০০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3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সারি ৬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বিবিধ খরচ (মিসেলেনিয়াস)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১০০০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36619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0D2CA0F-2AE2-DFC9-5D8C-176419B4B3A9}"/>
              </a:ext>
            </a:extLst>
          </p:cNvPr>
          <p:cNvSpPr txBox="1"/>
          <p:nvPr/>
        </p:nvSpPr>
        <p:spPr>
          <a:xfrm>
            <a:off x="311150" y="796104"/>
            <a:ext cx="8520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তোমাদের</a:t>
            </a:r>
            <a:r>
              <a:rPr lang="en-US" sz="1800" dirty="0"/>
              <a:t> </a:t>
            </a:r>
            <a:r>
              <a:rPr lang="en-US" sz="1800" dirty="0" err="1"/>
              <a:t>স্কুল</a:t>
            </a:r>
            <a:r>
              <a:rPr lang="en-US" sz="1800" dirty="0"/>
              <a:t> </a:t>
            </a:r>
            <a:r>
              <a:rPr lang="en-US" sz="1800" dirty="0" err="1"/>
              <a:t>থেকে</a:t>
            </a:r>
            <a:r>
              <a:rPr lang="en-US" sz="1800" dirty="0"/>
              <a:t> </a:t>
            </a:r>
            <a:r>
              <a:rPr lang="en-US" sz="1800" dirty="0" err="1"/>
              <a:t>আগামী</a:t>
            </a:r>
            <a:r>
              <a:rPr lang="en-US" sz="1800" dirty="0"/>
              <a:t> </a:t>
            </a:r>
            <a:r>
              <a:rPr lang="en-US" sz="1800" dirty="0" err="1"/>
              <a:t>বার্ষিক</a:t>
            </a:r>
            <a:r>
              <a:rPr lang="en-US" sz="1800" dirty="0"/>
              <a:t> </a:t>
            </a:r>
            <a:r>
              <a:rPr lang="en-US" sz="1800" dirty="0" err="1"/>
              <a:t>ক্রীড়া</a:t>
            </a:r>
            <a:r>
              <a:rPr lang="en-US" sz="1800" dirty="0"/>
              <a:t> </a:t>
            </a:r>
            <a:r>
              <a:rPr lang="en-US" sz="1800" dirty="0" err="1"/>
              <a:t>প্রতিযোগিতার</a:t>
            </a:r>
            <a:r>
              <a:rPr lang="en-US" sz="1800" dirty="0"/>
              <a:t> </a:t>
            </a:r>
            <a:r>
              <a:rPr lang="en-US" sz="1800" dirty="0" err="1"/>
              <a:t>আয়োজন</a:t>
            </a:r>
            <a:r>
              <a:rPr lang="en-US" sz="1800" dirty="0"/>
              <a:t> </a:t>
            </a:r>
            <a:r>
              <a:rPr lang="en-US" sz="1800" dirty="0" err="1"/>
              <a:t>করার</a:t>
            </a:r>
            <a:r>
              <a:rPr lang="en-US" sz="1800" dirty="0"/>
              <a:t> </a:t>
            </a:r>
            <a:r>
              <a:rPr lang="en-US" sz="1800" dirty="0" err="1"/>
              <a:t>জন্য</a:t>
            </a:r>
            <a:r>
              <a:rPr lang="en-US" sz="1800" dirty="0"/>
              <a:t> </a:t>
            </a:r>
            <a:r>
              <a:rPr lang="en-US" sz="1800" dirty="0" err="1"/>
              <a:t>একটি</a:t>
            </a:r>
            <a:r>
              <a:rPr lang="en-US" sz="1800" dirty="0"/>
              <a:t> </a:t>
            </a:r>
            <a:r>
              <a:rPr lang="en-US" sz="1800" dirty="0" err="1"/>
              <a:t>বাজেট</a:t>
            </a:r>
            <a:r>
              <a:rPr lang="en-US" sz="1800" dirty="0"/>
              <a:t> </a:t>
            </a:r>
            <a:r>
              <a:rPr lang="en-US" sz="1800" dirty="0" err="1"/>
              <a:t>তৈরি</a:t>
            </a:r>
            <a:r>
              <a:rPr lang="en-US" sz="1800" dirty="0"/>
              <a:t> </a:t>
            </a:r>
            <a:r>
              <a:rPr lang="en-US" sz="1800" dirty="0" err="1"/>
              <a:t>করতে</a:t>
            </a:r>
            <a:r>
              <a:rPr lang="en-US" sz="1800" dirty="0"/>
              <a:t> </a:t>
            </a:r>
            <a:r>
              <a:rPr lang="en-US" sz="1800" dirty="0" err="1"/>
              <a:t>বলা</a:t>
            </a:r>
            <a:r>
              <a:rPr lang="en-US" sz="1800" dirty="0"/>
              <a:t> </a:t>
            </a:r>
            <a:r>
              <a:rPr lang="en-US" sz="1800" dirty="0" err="1"/>
              <a:t>হয়েছে</a:t>
            </a:r>
            <a:r>
              <a:rPr lang="en-US" sz="1800" dirty="0"/>
              <a:t>। </a:t>
            </a:r>
            <a:r>
              <a:rPr lang="en-US" sz="1800" dirty="0" err="1"/>
              <a:t>একজন</a:t>
            </a:r>
            <a:r>
              <a:rPr lang="en-US" sz="1800" dirty="0"/>
              <a:t> </a:t>
            </a:r>
            <a:r>
              <a:rPr lang="en-US" sz="1800" dirty="0" err="1"/>
              <a:t>শিক্ষার্থী</a:t>
            </a:r>
            <a:r>
              <a:rPr lang="en-US" sz="1800" dirty="0"/>
              <a:t> </a:t>
            </a:r>
            <a:r>
              <a:rPr lang="en-US" sz="1800" dirty="0" err="1"/>
              <a:t>হিসেবে</a:t>
            </a:r>
            <a:r>
              <a:rPr lang="en-US" sz="1800" dirty="0"/>
              <a:t> </a:t>
            </a:r>
            <a:r>
              <a:rPr lang="en-US" sz="1800" dirty="0" err="1"/>
              <a:t>তোমাকে</a:t>
            </a:r>
            <a:r>
              <a:rPr lang="en-US" sz="1800" dirty="0"/>
              <a:t> </a:t>
            </a:r>
            <a:r>
              <a:rPr lang="en-US" sz="1800" dirty="0" err="1"/>
              <a:t>একটি</a:t>
            </a:r>
            <a:r>
              <a:rPr lang="en-US" sz="1800" dirty="0"/>
              <a:t> </a:t>
            </a:r>
            <a:r>
              <a:rPr lang="en-US" sz="1800" dirty="0" err="1"/>
              <a:t>এক্সেল</a:t>
            </a:r>
            <a:r>
              <a:rPr lang="en-US" sz="1800" dirty="0"/>
              <a:t> </a:t>
            </a:r>
            <a:r>
              <a:rPr lang="en-US" sz="1800" dirty="0" err="1"/>
              <a:t>শিট</a:t>
            </a:r>
            <a:r>
              <a:rPr lang="en-US" sz="1800" dirty="0"/>
              <a:t> </a:t>
            </a:r>
            <a:r>
              <a:rPr lang="en-US" sz="1800" dirty="0" err="1"/>
              <a:t>তৈরি</a:t>
            </a:r>
            <a:r>
              <a:rPr lang="en-US" sz="1800" dirty="0"/>
              <a:t> </a:t>
            </a:r>
            <a:r>
              <a:rPr lang="en-US" sz="1800" dirty="0" err="1"/>
              <a:t>করে</a:t>
            </a:r>
            <a:r>
              <a:rPr lang="en-US" sz="1800" dirty="0"/>
              <a:t> </a:t>
            </a:r>
            <a:r>
              <a:rPr lang="en-US" sz="1800" dirty="0" err="1"/>
              <a:t>মোট</a:t>
            </a:r>
            <a:r>
              <a:rPr lang="en-US" sz="1800" dirty="0"/>
              <a:t> </a:t>
            </a:r>
            <a:r>
              <a:rPr lang="en-US" sz="1800" dirty="0" err="1"/>
              <a:t>খরচ</a:t>
            </a:r>
            <a:r>
              <a:rPr lang="en-US" sz="1800" dirty="0"/>
              <a:t>, </a:t>
            </a:r>
            <a:r>
              <a:rPr lang="en-US" sz="1800" dirty="0" err="1"/>
              <a:t>উদ্বৃত্ত</a:t>
            </a:r>
            <a:r>
              <a:rPr lang="en-US" sz="1800" dirty="0"/>
              <a:t> </a:t>
            </a:r>
            <a:r>
              <a:rPr lang="en-US" sz="1800" dirty="0" err="1"/>
              <a:t>বা</a:t>
            </a:r>
            <a:r>
              <a:rPr lang="en-US" sz="1800" dirty="0"/>
              <a:t> </a:t>
            </a:r>
            <a:r>
              <a:rPr lang="en-US" sz="1800" dirty="0" err="1"/>
              <a:t>ঘাটতি</a:t>
            </a:r>
            <a:r>
              <a:rPr lang="en-US" sz="1800" dirty="0"/>
              <a:t> </a:t>
            </a:r>
            <a:r>
              <a:rPr lang="en-US" sz="1800" dirty="0" err="1"/>
              <a:t>হিসাব</a:t>
            </a:r>
            <a:r>
              <a:rPr lang="en-US" sz="1800" dirty="0"/>
              <a:t> </a:t>
            </a:r>
            <a:r>
              <a:rPr lang="en-US" sz="1800" dirty="0" err="1"/>
              <a:t>করতে</a:t>
            </a:r>
            <a:r>
              <a:rPr lang="en-US" sz="1800" dirty="0"/>
              <a:t> </a:t>
            </a:r>
            <a:r>
              <a:rPr lang="en-US" sz="1800" dirty="0" err="1"/>
              <a:t>হবে</a:t>
            </a:r>
            <a:r>
              <a:rPr lang="en-US" sz="1800" dirty="0"/>
              <a:t> </a:t>
            </a:r>
            <a:r>
              <a:rPr lang="en-US" sz="1800" dirty="0" err="1"/>
              <a:t>এবং</a:t>
            </a:r>
            <a:r>
              <a:rPr lang="en-US" sz="1800" dirty="0"/>
              <a:t> </a:t>
            </a:r>
            <a:r>
              <a:rPr lang="en-US" sz="1800" dirty="0" err="1"/>
              <a:t>চার্ট</a:t>
            </a:r>
            <a:r>
              <a:rPr lang="en-US" sz="1800" dirty="0"/>
              <a:t> </a:t>
            </a:r>
            <a:r>
              <a:rPr lang="en-US" sz="1800" dirty="0" err="1"/>
              <a:t>ব্যবহার</a:t>
            </a:r>
            <a:r>
              <a:rPr lang="en-US" sz="1800" dirty="0"/>
              <a:t> </a:t>
            </a:r>
            <a:r>
              <a:rPr lang="en-US" sz="1800" dirty="0" err="1"/>
              <a:t>করে</a:t>
            </a:r>
            <a:r>
              <a:rPr lang="en-US" sz="1800" dirty="0"/>
              <a:t> </a:t>
            </a:r>
            <a:r>
              <a:rPr lang="en-US" sz="1800" dirty="0" err="1"/>
              <a:t>খরচের</a:t>
            </a:r>
            <a:r>
              <a:rPr lang="en-US" sz="1800" dirty="0"/>
              <a:t> </a:t>
            </a:r>
            <a:r>
              <a:rPr lang="en-US" sz="1800" dirty="0" err="1"/>
              <a:t>একটি</a:t>
            </a:r>
            <a:r>
              <a:rPr lang="en-US" sz="1800" dirty="0"/>
              <a:t> </a:t>
            </a:r>
            <a:r>
              <a:rPr lang="en-US" sz="1800" dirty="0" err="1"/>
              <a:t>চিত্র</a:t>
            </a:r>
            <a:r>
              <a:rPr lang="en-US" sz="1800" dirty="0"/>
              <a:t> </a:t>
            </a:r>
            <a:r>
              <a:rPr lang="en-US" sz="1800" dirty="0" err="1"/>
              <a:t>তুলে</a:t>
            </a:r>
            <a:r>
              <a:rPr lang="en-US" sz="1800" dirty="0"/>
              <a:t> </a:t>
            </a:r>
            <a:r>
              <a:rPr lang="en-US" sz="1800" dirty="0" err="1"/>
              <a:t>ধরতে</a:t>
            </a:r>
            <a:r>
              <a:rPr lang="en-US" sz="1800" dirty="0"/>
              <a:t> </a:t>
            </a:r>
            <a:r>
              <a:rPr lang="en-US" sz="1800" dirty="0" err="1"/>
              <a:t>হবে</a:t>
            </a:r>
            <a:r>
              <a:rPr lang="en-US" sz="1800" dirty="0"/>
              <a:t>।</a:t>
            </a:r>
          </a:p>
        </p:txBody>
      </p:sp>
    </p:spTree>
    <p:extLst>
      <p:ext uri="{BB962C8B-B14F-4D97-AF65-F5344CB8AC3E}">
        <p14:creationId xmlns:p14="http://schemas.microsoft.com/office/powerpoint/2010/main" val="4231369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88DD-E076-05D5-16A5-AF610E61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8" y="19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Homework (contd.)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44CE1-E2CE-E1AD-5F2A-C00E179D9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574625"/>
            <a:ext cx="8520600" cy="428832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100" b="1" dirty="0" err="1"/>
              <a:t>পার্ট</a:t>
            </a:r>
            <a:r>
              <a:rPr lang="en-US" sz="2100" b="1" dirty="0"/>
              <a:t> ২: </a:t>
            </a:r>
            <a:r>
              <a:rPr lang="en-US" sz="2100" b="1" dirty="0" err="1"/>
              <a:t>গুণ</a:t>
            </a:r>
            <a:r>
              <a:rPr lang="en-US" sz="2100" b="1" dirty="0"/>
              <a:t> </a:t>
            </a:r>
            <a:r>
              <a:rPr lang="en-US" sz="2100" b="1" dirty="0" err="1"/>
              <a:t>বা</a:t>
            </a:r>
            <a:r>
              <a:rPr lang="en-US" sz="2100" b="1" dirty="0"/>
              <a:t> </a:t>
            </a:r>
            <a:r>
              <a:rPr lang="en-US" sz="2100" b="1" dirty="0" err="1"/>
              <a:t>মোট</a:t>
            </a:r>
            <a:r>
              <a:rPr lang="en-US" sz="2100" b="1" dirty="0"/>
              <a:t> </a:t>
            </a:r>
            <a:r>
              <a:rPr lang="en-US" sz="2100" b="1" dirty="0" err="1"/>
              <a:t>খরচ</a:t>
            </a:r>
            <a:r>
              <a:rPr lang="en-US" sz="2100" b="1" dirty="0"/>
              <a:t> </a:t>
            </a:r>
            <a:r>
              <a:rPr lang="en-US" sz="2100" b="1" dirty="0" err="1"/>
              <a:t>নির্ণয়</a:t>
            </a:r>
            <a:r>
              <a:rPr lang="en-US" sz="2100" b="1" dirty="0"/>
              <a:t> (Formula Operation)</a:t>
            </a:r>
          </a:p>
          <a:p>
            <a:pPr>
              <a:buNone/>
            </a:pPr>
            <a:r>
              <a:rPr lang="en-US" sz="2100" dirty="0" err="1"/>
              <a:t>প্রতিটি</a:t>
            </a:r>
            <a:r>
              <a:rPr lang="en-US" sz="2100" dirty="0"/>
              <a:t> </a:t>
            </a:r>
            <a:r>
              <a:rPr lang="en-US" sz="2100" dirty="0" err="1"/>
              <a:t>খাতের</a:t>
            </a:r>
            <a:r>
              <a:rPr lang="en-US" sz="2100" dirty="0"/>
              <a:t> </a:t>
            </a:r>
            <a:r>
              <a:rPr lang="en-US" sz="2100" dirty="0" err="1"/>
              <a:t>মোট</a:t>
            </a:r>
            <a:r>
              <a:rPr lang="en-US" sz="2100" dirty="0"/>
              <a:t> </a:t>
            </a:r>
            <a:r>
              <a:rPr lang="en-US" sz="2100" dirty="0" err="1"/>
              <a:t>খরচ</a:t>
            </a:r>
            <a:r>
              <a:rPr lang="en-US" sz="2100" dirty="0"/>
              <a:t> </a:t>
            </a:r>
            <a:r>
              <a:rPr lang="en-US" sz="2100" dirty="0" err="1"/>
              <a:t>বের</a:t>
            </a:r>
            <a:r>
              <a:rPr lang="en-US" sz="2100" dirty="0"/>
              <a:t> </a:t>
            </a:r>
            <a:r>
              <a:rPr lang="en-US" sz="2100" dirty="0" err="1"/>
              <a:t>করতে</a:t>
            </a:r>
            <a:r>
              <a:rPr lang="en-US" sz="2100" dirty="0"/>
              <a:t> </a:t>
            </a:r>
            <a:r>
              <a:rPr lang="en-US" sz="2100" b="1" dirty="0" err="1"/>
              <a:t>কলাম</a:t>
            </a:r>
            <a:r>
              <a:rPr lang="en-US" sz="2100" b="1" dirty="0"/>
              <a:t> D</a:t>
            </a:r>
            <a:r>
              <a:rPr lang="en-US" sz="2100" dirty="0"/>
              <a:t> </a:t>
            </a:r>
            <a:r>
              <a:rPr lang="en-US" sz="2100" dirty="0" err="1"/>
              <a:t>ব্যবহার</a:t>
            </a:r>
            <a:r>
              <a:rPr lang="en-US" sz="2100" dirty="0"/>
              <a:t> </a:t>
            </a:r>
            <a:r>
              <a:rPr lang="en-US" sz="2100" dirty="0" err="1"/>
              <a:t>করো</a:t>
            </a:r>
            <a:r>
              <a:rPr lang="en-US" sz="2100" dirty="0"/>
              <a:t>।</a:t>
            </a:r>
          </a:p>
          <a:p>
            <a:r>
              <a:rPr lang="en-US" sz="2100" dirty="0" err="1"/>
              <a:t>সেল</a:t>
            </a:r>
            <a:r>
              <a:rPr lang="en-US" sz="2100" dirty="0"/>
              <a:t> </a:t>
            </a:r>
            <a:r>
              <a:rPr lang="en-US" sz="2100" b="1" dirty="0"/>
              <a:t>D1</a:t>
            </a:r>
            <a:r>
              <a:rPr lang="en-US" sz="2100" dirty="0"/>
              <a:t>-এ </a:t>
            </a:r>
            <a:r>
              <a:rPr lang="en-US" sz="2100" dirty="0" err="1"/>
              <a:t>হেডিং</a:t>
            </a:r>
            <a:r>
              <a:rPr lang="en-US" sz="2100" dirty="0"/>
              <a:t> </a:t>
            </a:r>
            <a:r>
              <a:rPr lang="en-US" sz="2100" dirty="0" err="1"/>
              <a:t>লেখো</a:t>
            </a:r>
            <a:r>
              <a:rPr lang="en-US" sz="2100" dirty="0"/>
              <a:t>: </a:t>
            </a:r>
            <a:r>
              <a:rPr lang="en-US" sz="2100" b="1" dirty="0"/>
              <a:t>"</a:t>
            </a:r>
            <a:r>
              <a:rPr lang="en-US" sz="2100" b="1" dirty="0" err="1"/>
              <a:t>মোট</a:t>
            </a:r>
            <a:r>
              <a:rPr lang="en-US" sz="2100" b="1" dirty="0"/>
              <a:t> </a:t>
            </a:r>
            <a:r>
              <a:rPr lang="en-US" sz="2100" b="1" dirty="0" err="1"/>
              <a:t>খরচ</a:t>
            </a:r>
            <a:r>
              <a:rPr lang="en-US" sz="2100" b="1" dirty="0"/>
              <a:t>"</a:t>
            </a:r>
            <a:r>
              <a:rPr lang="en-US" sz="2100" dirty="0"/>
              <a:t> (Total Cost)।</a:t>
            </a:r>
          </a:p>
          <a:p>
            <a:r>
              <a:rPr lang="en-US" sz="2100" dirty="0" err="1"/>
              <a:t>সেল</a:t>
            </a:r>
            <a:r>
              <a:rPr lang="en-US" sz="2100" dirty="0"/>
              <a:t> </a:t>
            </a:r>
            <a:r>
              <a:rPr lang="en-US" sz="2100" b="1" dirty="0"/>
              <a:t>D2</a:t>
            </a:r>
            <a:r>
              <a:rPr lang="en-US" sz="2100" dirty="0"/>
              <a:t>-এ </a:t>
            </a:r>
            <a:r>
              <a:rPr lang="en-US" sz="2100" dirty="0" err="1"/>
              <a:t>একটি</a:t>
            </a:r>
            <a:r>
              <a:rPr lang="en-US" sz="2100" dirty="0"/>
              <a:t> </a:t>
            </a:r>
            <a:r>
              <a:rPr lang="en-US" sz="2100" dirty="0" err="1"/>
              <a:t>সূত্র</a:t>
            </a:r>
            <a:r>
              <a:rPr lang="en-US" sz="2100" dirty="0"/>
              <a:t> </a:t>
            </a:r>
            <a:r>
              <a:rPr lang="en-US" sz="2100" dirty="0" err="1"/>
              <a:t>লিখো</a:t>
            </a:r>
            <a:r>
              <a:rPr lang="en-US" sz="2100" dirty="0"/>
              <a:t> </a:t>
            </a:r>
            <a:r>
              <a:rPr lang="en-US" sz="2100" dirty="0" err="1"/>
              <a:t>যার</a:t>
            </a:r>
            <a:r>
              <a:rPr lang="en-US" sz="2100" dirty="0"/>
              <a:t> </a:t>
            </a:r>
            <a:r>
              <a:rPr lang="en-US" sz="2100" dirty="0" err="1"/>
              <a:t>মাধ্যমে</a:t>
            </a:r>
            <a:r>
              <a:rPr lang="en-US" sz="2100" dirty="0"/>
              <a:t> </a:t>
            </a:r>
            <a:r>
              <a:rPr lang="en-US" sz="2100" dirty="0" err="1"/>
              <a:t>পরিমাণ</a:t>
            </a:r>
            <a:r>
              <a:rPr lang="en-US" sz="2100" dirty="0"/>
              <a:t> (B2) </a:t>
            </a:r>
            <a:r>
              <a:rPr lang="en-US" sz="2100" dirty="0" err="1"/>
              <a:t>এবং</a:t>
            </a:r>
            <a:r>
              <a:rPr lang="en-US" sz="2100" dirty="0"/>
              <a:t> </a:t>
            </a:r>
            <a:r>
              <a:rPr lang="en-US" sz="2100" dirty="0" err="1"/>
              <a:t>একক</a:t>
            </a:r>
            <a:r>
              <a:rPr lang="en-US" sz="2100" dirty="0"/>
              <a:t> </a:t>
            </a:r>
            <a:r>
              <a:rPr lang="en-US" sz="2100" dirty="0" err="1"/>
              <a:t>মূল্য</a:t>
            </a:r>
            <a:r>
              <a:rPr lang="en-US" sz="2100" dirty="0"/>
              <a:t> (C2)-</a:t>
            </a:r>
            <a:r>
              <a:rPr lang="en-US" sz="2100" dirty="0" err="1"/>
              <a:t>কে</a:t>
            </a:r>
            <a:r>
              <a:rPr lang="en-US" sz="2100" dirty="0"/>
              <a:t> </a:t>
            </a:r>
            <a:r>
              <a:rPr lang="en-US" sz="2100" dirty="0" err="1"/>
              <a:t>গুণ</a:t>
            </a:r>
            <a:r>
              <a:rPr lang="en-US" sz="2100" dirty="0"/>
              <a:t> </a:t>
            </a:r>
            <a:r>
              <a:rPr lang="en-US" sz="2100" dirty="0" err="1"/>
              <a:t>করা</a:t>
            </a:r>
            <a:r>
              <a:rPr lang="en-US" sz="2100" dirty="0"/>
              <a:t> </a:t>
            </a:r>
            <a:r>
              <a:rPr lang="en-US" sz="2100" dirty="0" err="1"/>
              <a:t>যায়</a:t>
            </a:r>
            <a:r>
              <a:rPr lang="en-US" sz="2100" dirty="0"/>
              <a:t>। </a:t>
            </a:r>
            <a:r>
              <a:rPr lang="en-US" sz="2100" i="1" dirty="0"/>
              <a:t>(</a:t>
            </a:r>
            <a:r>
              <a:rPr lang="en-US" sz="2100" i="1" dirty="0" err="1"/>
              <a:t>ইঙ্গিত</a:t>
            </a:r>
            <a:r>
              <a:rPr lang="en-US" sz="2100" i="1" dirty="0"/>
              <a:t>: </a:t>
            </a:r>
            <a:r>
              <a:rPr lang="en-US" sz="2100" i="1" dirty="0">
                <a:latin typeface="Courier New" panose="02070309020205020404" pitchFamily="49" charset="0"/>
              </a:rPr>
              <a:t>=</a:t>
            </a:r>
            <a:r>
              <a:rPr lang="en-US" sz="2100" i="1" dirty="0"/>
              <a:t> </a:t>
            </a:r>
            <a:r>
              <a:rPr lang="en-US" sz="2100" i="1" dirty="0" err="1"/>
              <a:t>চিহ্ন</a:t>
            </a:r>
            <a:r>
              <a:rPr lang="en-US" sz="2100" i="1" dirty="0"/>
              <a:t> </a:t>
            </a:r>
            <a:r>
              <a:rPr lang="en-US" sz="2100" i="1" dirty="0" err="1"/>
              <a:t>দিয়ে</a:t>
            </a:r>
            <a:r>
              <a:rPr lang="en-US" sz="2100" i="1" dirty="0"/>
              <a:t> </a:t>
            </a:r>
            <a:r>
              <a:rPr lang="en-US" sz="2100" i="1" dirty="0" err="1"/>
              <a:t>সূত্র</a:t>
            </a:r>
            <a:r>
              <a:rPr lang="en-US" sz="2100" i="1" dirty="0"/>
              <a:t> </a:t>
            </a:r>
            <a:r>
              <a:rPr lang="en-US" sz="2100" i="1" dirty="0" err="1"/>
              <a:t>শুরু</a:t>
            </a:r>
            <a:r>
              <a:rPr lang="en-US" sz="2100" i="1" dirty="0"/>
              <a:t> </a:t>
            </a:r>
            <a:r>
              <a:rPr lang="en-US" sz="2100" i="1" dirty="0" err="1"/>
              <a:t>করতে</a:t>
            </a:r>
            <a:r>
              <a:rPr lang="en-US" sz="2100" i="1" dirty="0"/>
              <a:t> </a:t>
            </a:r>
            <a:r>
              <a:rPr lang="en-US" sz="2100" i="1" dirty="0" err="1"/>
              <a:t>হবে</a:t>
            </a:r>
            <a:r>
              <a:rPr lang="en-US" sz="2100" i="1" dirty="0"/>
              <a:t>)</a:t>
            </a:r>
            <a:r>
              <a:rPr lang="en-US" sz="2100" dirty="0"/>
              <a:t>। </a:t>
            </a:r>
          </a:p>
          <a:p>
            <a:r>
              <a:rPr lang="en-US" sz="2100" b="1" dirty="0" err="1"/>
              <a:t>ফিল</a:t>
            </a:r>
            <a:r>
              <a:rPr lang="en-US" sz="2100" b="1" dirty="0"/>
              <a:t> </a:t>
            </a:r>
            <a:r>
              <a:rPr lang="en-US" sz="2100" b="1" dirty="0" err="1"/>
              <a:t>হ্যান্ডেল</a:t>
            </a:r>
            <a:r>
              <a:rPr lang="en-US" sz="2100" b="1" dirty="0"/>
              <a:t> (Fill Handle)</a:t>
            </a:r>
            <a:r>
              <a:rPr lang="en-US" sz="2100" dirty="0"/>
              <a:t> </a:t>
            </a:r>
            <a:r>
              <a:rPr lang="en-US" sz="2100" dirty="0" err="1"/>
              <a:t>ব্যবহার</a:t>
            </a:r>
            <a:r>
              <a:rPr lang="en-US" sz="2100" dirty="0"/>
              <a:t> </a:t>
            </a:r>
            <a:r>
              <a:rPr lang="en-US" sz="2100" dirty="0" err="1"/>
              <a:t>করে</a:t>
            </a:r>
            <a:r>
              <a:rPr lang="en-US" sz="2100" dirty="0"/>
              <a:t> </a:t>
            </a:r>
            <a:r>
              <a:rPr lang="en-US" sz="2100" dirty="0" err="1"/>
              <a:t>সূত্রটি</a:t>
            </a:r>
            <a:r>
              <a:rPr lang="en-US" sz="2100" dirty="0"/>
              <a:t> </a:t>
            </a:r>
            <a:r>
              <a:rPr lang="en-US" sz="2100" b="1" dirty="0"/>
              <a:t>D6</a:t>
            </a:r>
            <a:r>
              <a:rPr lang="en-US" sz="2100" dirty="0"/>
              <a:t> </a:t>
            </a:r>
            <a:r>
              <a:rPr lang="en-US" sz="2100" dirty="0" err="1"/>
              <a:t>পর্যন্ত</a:t>
            </a:r>
            <a:r>
              <a:rPr lang="en-US" sz="2100" dirty="0"/>
              <a:t> </a:t>
            </a:r>
            <a:r>
              <a:rPr lang="en-US" sz="2100" dirty="0" err="1"/>
              <a:t>টেনে</a:t>
            </a:r>
            <a:r>
              <a:rPr lang="en-US" sz="2100" dirty="0"/>
              <a:t> </a:t>
            </a:r>
            <a:r>
              <a:rPr lang="en-US" sz="2100" dirty="0" err="1"/>
              <a:t>দাও</a:t>
            </a:r>
            <a:r>
              <a:rPr lang="en-US" sz="2100" dirty="0"/>
              <a:t>, </a:t>
            </a:r>
            <a:r>
              <a:rPr lang="en-US" sz="2100" dirty="0" err="1"/>
              <a:t>যাতে</a:t>
            </a:r>
            <a:r>
              <a:rPr lang="en-US" sz="2100" dirty="0"/>
              <a:t> </a:t>
            </a:r>
            <a:r>
              <a:rPr lang="en-US" sz="2100" dirty="0" err="1"/>
              <a:t>প্রতিটি</a:t>
            </a:r>
            <a:r>
              <a:rPr lang="en-US" sz="2100" dirty="0"/>
              <a:t> </a:t>
            </a:r>
            <a:r>
              <a:rPr lang="en-US" sz="2100" dirty="0" err="1"/>
              <a:t>খাতের</a:t>
            </a:r>
            <a:r>
              <a:rPr lang="en-US" sz="2100" dirty="0"/>
              <a:t> </a:t>
            </a:r>
            <a:r>
              <a:rPr lang="en-US" sz="2100" dirty="0" err="1"/>
              <a:t>আলাদা</a:t>
            </a:r>
            <a:r>
              <a:rPr lang="en-US" sz="2100" dirty="0"/>
              <a:t> </a:t>
            </a:r>
            <a:r>
              <a:rPr lang="en-US" sz="2100" dirty="0" err="1"/>
              <a:t>মোট</a:t>
            </a:r>
            <a:r>
              <a:rPr lang="en-US" sz="2100" dirty="0"/>
              <a:t> </a:t>
            </a:r>
            <a:r>
              <a:rPr lang="en-US" sz="2100" dirty="0" err="1"/>
              <a:t>খরচ</a:t>
            </a:r>
            <a:r>
              <a:rPr lang="en-US" sz="2100" dirty="0"/>
              <a:t> </a:t>
            </a:r>
            <a:r>
              <a:rPr lang="en-US" sz="2100" dirty="0" err="1"/>
              <a:t>স্বয়ংক্রিয়ভাবে</a:t>
            </a:r>
            <a:r>
              <a:rPr lang="en-US" sz="2100" dirty="0"/>
              <a:t> </a:t>
            </a:r>
            <a:r>
              <a:rPr lang="en-US" sz="2100" dirty="0" err="1"/>
              <a:t>হিসাব</a:t>
            </a:r>
            <a:r>
              <a:rPr lang="en-US" sz="2100" dirty="0"/>
              <a:t> </a:t>
            </a:r>
            <a:r>
              <a:rPr lang="en-US" sz="2100" dirty="0" err="1"/>
              <a:t>হয়ে</a:t>
            </a:r>
            <a:r>
              <a:rPr lang="en-US" sz="2100" dirty="0"/>
              <a:t> </a:t>
            </a:r>
            <a:r>
              <a:rPr lang="en-US" sz="2100" dirty="0" err="1"/>
              <a:t>যায়</a:t>
            </a:r>
            <a:r>
              <a:rPr lang="en-US" sz="2100" dirty="0"/>
              <a:t>।</a:t>
            </a:r>
          </a:p>
          <a:p>
            <a:endParaRPr lang="en-US" sz="2100" dirty="0"/>
          </a:p>
          <a:p>
            <a:pPr marL="114300" indent="0">
              <a:buNone/>
            </a:pPr>
            <a:endParaRPr lang="en-US" sz="2100" dirty="0"/>
          </a:p>
          <a:p>
            <a:pPr>
              <a:buNone/>
            </a:pPr>
            <a:r>
              <a:rPr lang="en-US" sz="2100" b="1" dirty="0" err="1"/>
              <a:t>পার্ট</a:t>
            </a:r>
            <a:r>
              <a:rPr lang="en-US" sz="2100" b="1" dirty="0"/>
              <a:t> ৩: </a:t>
            </a:r>
            <a:r>
              <a:rPr lang="en-US" sz="2100" b="1" dirty="0" err="1"/>
              <a:t>যোগ</a:t>
            </a:r>
            <a:r>
              <a:rPr lang="en-US" sz="2100" b="1" dirty="0"/>
              <a:t> ও </a:t>
            </a:r>
            <a:r>
              <a:rPr lang="en-US" sz="2100" b="1" dirty="0" err="1"/>
              <a:t>বিয়োগ</a:t>
            </a:r>
            <a:r>
              <a:rPr lang="en-US" sz="2100" b="1" dirty="0"/>
              <a:t> (SUM and Subtraction)</a:t>
            </a:r>
          </a:p>
          <a:p>
            <a:pPr>
              <a:buNone/>
            </a:pPr>
            <a:r>
              <a:rPr lang="en-US" sz="2100" dirty="0" err="1"/>
              <a:t>এখন</a:t>
            </a:r>
            <a:r>
              <a:rPr lang="en-US" sz="2100" dirty="0"/>
              <a:t> </a:t>
            </a:r>
            <a:r>
              <a:rPr lang="en-US" sz="2100" dirty="0" err="1"/>
              <a:t>স্কুলের</a:t>
            </a:r>
            <a:r>
              <a:rPr lang="en-US" sz="2100" dirty="0"/>
              <a:t> </a:t>
            </a:r>
            <a:r>
              <a:rPr lang="en-US" sz="2100" dirty="0" err="1"/>
              <a:t>বরাদ্দকৃত</a:t>
            </a:r>
            <a:r>
              <a:rPr lang="en-US" sz="2100" dirty="0"/>
              <a:t> </a:t>
            </a:r>
            <a:r>
              <a:rPr lang="en-US" sz="2100" dirty="0" err="1"/>
              <a:t>বাজেটের</a:t>
            </a:r>
            <a:r>
              <a:rPr lang="en-US" sz="2100" dirty="0"/>
              <a:t> </a:t>
            </a:r>
            <a:r>
              <a:rPr lang="en-US" sz="2100" dirty="0" err="1"/>
              <a:t>সাথে</a:t>
            </a:r>
            <a:r>
              <a:rPr lang="en-US" sz="2100" dirty="0"/>
              <a:t> </a:t>
            </a:r>
            <a:r>
              <a:rPr lang="en-US" sz="2100" dirty="0" err="1"/>
              <a:t>খরচের</a:t>
            </a:r>
            <a:r>
              <a:rPr lang="en-US" sz="2100" dirty="0"/>
              <a:t> </a:t>
            </a:r>
            <a:r>
              <a:rPr lang="en-US" sz="2100" dirty="0" err="1"/>
              <a:t>হিসাব</a:t>
            </a:r>
            <a:r>
              <a:rPr lang="en-US" sz="2100" dirty="0"/>
              <a:t> </a:t>
            </a:r>
            <a:r>
              <a:rPr lang="en-US" sz="2100" dirty="0" err="1"/>
              <a:t>মেলাতে</a:t>
            </a:r>
            <a:r>
              <a:rPr lang="en-US" sz="2100" dirty="0"/>
              <a:t> </a:t>
            </a:r>
            <a:r>
              <a:rPr lang="en-US" sz="2100" dirty="0" err="1"/>
              <a:t>হবে</a:t>
            </a:r>
            <a:r>
              <a:rPr lang="en-US" sz="2100" dirty="0"/>
              <a:t>।</a:t>
            </a:r>
          </a:p>
          <a:p>
            <a:pPr>
              <a:buAutoNum type="arabicPeriod"/>
            </a:pPr>
            <a:r>
              <a:rPr lang="en-US" sz="2100" dirty="0" err="1"/>
              <a:t>সেল</a:t>
            </a:r>
            <a:r>
              <a:rPr lang="en-US" sz="2100" dirty="0"/>
              <a:t> </a:t>
            </a:r>
            <a:r>
              <a:rPr lang="en-US" sz="2100" b="1" dirty="0"/>
              <a:t>C8</a:t>
            </a:r>
            <a:r>
              <a:rPr lang="en-US" sz="2100" dirty="0"/>
              <a:t>-এ </a:t>
            </a:r>
            <a:r>
              <a:rPr lang="en-US" sz="2100" dirty="0" err="1"/>
              <a:t>লেখো</a:t>
            </a:r>
            <a:r>
              <a:rPr lang="en-US" sz="2100" dirty="0"/>
              <a:t>: </a:t>
            </a:r>
            <a:r>
              <a:rPr lang="en-US" sz="2100" b="1" dirty="0"/>
              <a:t>"</a:t>
            </a:r>
            <a:r>
              <a:rPr lang="en-US" sz="2100" b="1" dirty="0" err="1"/>
              <a:t>সর্বমোট</a:t>
            </a:r>
            <a:r>
              <a:rPr lang="en-US" sz="2100" b="1" dirty="0"/>
              <a:t> </a:t>
            </a:r>
            <a:r>
              <a:rPr lang="en-US" sz="2100" b="1" dirty="0" err="1"/>
              <a:t>খরচ</a:t>
            </a:r>
            <a:r>
              <a:rPr lang="en-US" sz="2100" b="1" dirty="0"/>
              <a:t>"</a:t>
            </a:r>
            <a:r>
              <a:rPr lang="en-US" sz="2100" dirty="0"/>
              <a:t> (Grand Total)। </a:t>
            </a:r>
          </a:p>
          <a:p>
            <a:pPr>
              <a:buAutoNum type="arabicPeriod"/>
            </a:pPr>
            <a:r>
              <a:rPr lang="en-US" sz="2100" dirty="0"/>
              <a:t> </a:t>
            </a:r>
            <a:r>
              <a:rPr lang="en-US" sz="2100" dirty="0" err="1"/>
              <a:t>সেল</a:t>
            </a:r>
            <a:r>
              <a:rPr lang="en-US" sz="2100" dirty="0"/>
              <a:t> </a:t>
            </a:r>
            <a:r>
              <a:rPr lang="en-US" sz="2100" b="1" dirty="0"/>
              <a:t>D8</a:t>
            </a:r>
            <a:r>
              <a:rPr lang="en-US" sz="2100" dirty="0"/>
              <a:t>-এ </a:t>
            </a:r>
            <a:r>
              <a:rPr lang="en-US" sz="2100" dirty="0">
                <a:latin typeface="Courier New" panose="02070309020205020404" pitchFamily="49" charset="0"/>
              </a:rPr>
              <a:t>SUM</a:t>
            </a:r>
            <a:r>
              <a:rPr lang="en-US" sz="2100" dirty="0"/>
              <a:t> </a:t>
            </a:r>
            <a:r>
              <a:rPr lang="en-US" sz="2100" dirty="0" err="1"/>
              <a:t>ফাংশন</a:t>
            </a:r>
            <a:r>
              <a:rPr lang="en-US" sz="2100" dirty="0"/>
              <a:t> </a:t>
            </a:r>
            <a:r>
              <a:rPr lang="en-US" sz="2100" dirty="0" err="1"/>
              <a:t>ব্যবহার</a:t>
            </a:r>
            <a:r>
              <a:rPr lang="en-US" sz="2100" dirty="0"/>
              <a:t> </a:t>
            </a:r>
            <a:r>
              <a:rPr lang="en-US" sz="2100" dirty="0" err="1"/>
              <a:t>করে</a:t>
            </a:r>
            <a:r>
              <a:rPr lang="en-US" sz="2100" dirty="0"/>
              <a:t> </a:t>
            </a:r>
            <a:r>
              <a:rPr lang="en-US" sz="2100" dirty="0" err="1"/>
              <a:t>সমস্ত</a:t>
            </a:r>
            <a:r>
              <a:rPr lang="en-US" sz="2100" dirty="0"/>
              <a:t> </a:t>
            </a:r>
            <a:r>
              <a:rPr lang="en-US" sz="2100" dirty="0" err="1"/>
              <a:t>মোট</a:t>
            </a:r>
            <a:r>
              <a:rPr lang="en-US" sz="2100" dirty="0"/>
              <a:t> </a:t>
            </a:r>
            <a:r>
              <a:rPr lang="en-US" sz="2100" dirty="0" err="1"/>
              <a:t>খরচের</a:t>
            </a:r>
            <a:r>
              <a:rPr lang="en-US" sz="2100" dirty="0"/>
              <a:t> </a:t>
            </a:r>
            <a:r>
              <a:rPr lang="en-US" sz="2100" dirty="0" err="1"/>
              <a:t>যোগফল</a:t>
            </a:r>
            <a:r>
              <a:rPr lang="en-US" sz="2100" dirty="0"/>
              <a:t> </a:t>
            </a:r>
            <a:r>
              <a:rPr lang="en-US" sz="2100" dirty="0" err="1"/>
              <a:t>বের</a:t>
            </a:r>
            <a:r>
              <a:rPr lang="en-US" sz="2100" dirty="0"/>
              <a:t> </a:t>
            </a:r>
            <a:r>
              <a:rPr lang="en-US" sz="2100" dirty="0" err="1"/>
              <a:t>করো</a:t>
            </a:r>
            <a:r>
              <a:rPr lang="en-US" sz="2100" dirty="0"/>
              <a:t> (D2 </a:t>
            </a:r>
            <a:r>
              <a:rPr lang="en-US" sz="2100" dirty="0" err="1"/>
              <a:t>থেকে</a:t>
            </a:r>
            <a:r>
              <a:rPr lang="en-US" sz="2100" dirty="0"/>
              <a:t> D6 </a:t>
            </a:r>
            <a:r>
              <a:rPr lang="en-US" sz="2100" dirty="0" err="1"/>
              <a:t>এর</a:t>
            </a:r>
            <a:r>
              <a:rPr lang="en-US" sz="2100" dirty="0"/>
              <a:t> </a:t>
            </a:r>
            <a:r>
              <a:rPr lang="en-US" sz="2100" dirty="0" err="1"/>
              <a:t>যোগফল</a:t>
            </a:r>
            <a:r>
              <a:rPr lang="en-US" sz="2100" dirty="0"/>
              <a:t>)। </a:t>
            </a:r>
          </a:p>
          <a:p>
            <a:pPr>
              <a:buAutoNum type="arabicPeriod"/>
            </a:pPr>
            <a:r>
              <a:rPr lang="en-US" sz="2100" dirty="0" err="1"/>
              <a:t>যদি</a:t>
            </a:r>
            <a:r>
              <a:rPr lang="en-US" sz="2100" dirty="0"/>
              <a:t> </a:t>
            </a:r>
            <a:r>
              <a:rPr lang="en-US" sz="2100" dirty="0" err="1"/>
              <a:t>স্কুলের</a:t>
            </a:r>
            <a:r>
              <a:rPr lang="en-US" sz="2100" dirty="0"/>
              <a:t> </a:t>
            </a:r>
            <a:r>
              <a:rPr lang="en-US" sz="2100" dirty="0" err="1"/>
              <a:t>ফান্ড</a:t>
            </a:r>
            <a:r>
              <a:rPr lang="en-US" sz="2100" dirty="0"/>
              <a:t> </a:t>
            </a:r>
            <a:r>
              <a:rPr lang="en-US" sz="2100" dirty="0" err="1"/>
              <a:t>থেকে</a:t>
            </a:r>
            <a:r>
              <a:rPr lang="en-US" sz="2100" dirty="0"/>
              <a:t> </a:t>
            </a:r>
            <a:r>
              <a:rPr lang="en-US" sz="2100" dirty="0" err="1"/>
              <a:t>এই</a:t>
            </a:r>
            <a:r>
              <a:rPr lang="en-US" sz="2100" dirty="0"/>
              <a:t> </a:t>
            </a:r>
            <a:r>
              <a:rPr lang="en-US" sz="2100" dirty="0" err="1"/>
              <a:t>অনুষ্ঠানের</a:t>
            </a:r>
            <a:r>
              <a:rPr lang="en-US" sz="2100" dirty="0"/>
              <a:t> </a:t>
            </a:r>
            <a:r>
              <a:rPr lang="en-US" sz="2100" dirty="0" err="1"/>
              <a:t>জন্য</a:t>
            </a:r>
            <a:r>
              <a:rPr lang="en-US" sz="2100" dirty="0"/>
              <a:t> </a:t>
            </a:r>
            <a:r>
              <a:rPr lang="en-US" sz="2100" dirty="0" err="1"/>
              <a:t>মোট</a:t>
            </a:r>
            <a:r>
              <a:rPr lang="en-US" sz="2100" dirty="0"/>
              <a:t> </a:t>
            </a:r>
            <a:r>
              <a:rPr lang="en-US" sz="2100" b="1" dirty="0"/>
              <a:t>২৫,০০০ </a:t>
            </a:r>
            <a:r>
              <a:rPr lang="en-US" sz="2100" b="1" dirty="0" err="1"/>
              <a:t>টাকা</a:t>
            </a:r>
            <a:r>
              <a:rPr lang="en-US" sz="2100" dirty="0"/>
              <a:t> </a:t>
            </a:r>
            <a:r>
              <a:rPr lang="en-US" sz="2100" dirty="0" err="1"/>
              <a:t>বরাদ্দ</a:t>
            </a:r>
            <a:r>
              <a:rPr lang="en-US" sz="2100" dirty="0"/>
              <a:t> </a:t>
            </a:r>
            <a:r>
              <a:rPr lang="en-US" sz="2100" dirty="0" err="1"/>
              <a:t>দেওয়া</a:t>
            </a:r>
            <a:r>
              <a:rPr lang="en-US" sz="2100" dirty="0"/>
              <a:t> </a:t>
            </a:r>
            <a:r>
              <a:rPr lang="en-US" sz="2100" dirty="0" err="1"/>
              <a:t>হয়ে</a:t>
            </a:r>
            <a:r>
              <a:rPr lang="en-US" sz="2100" dirty="0"/>
              <a:t> </a:t>
            </a:r>
            <a:r>
              <a:rPr lang="en-US" sz="2100" dirty="0" err="1"/>
              <a:t>থাকে</a:t>
            </a:r>
            <a:r>
              <a:rPr lang="en-US" sz="2100" dirty="0"/>
              <a:t>, </a:t>
            </a:r>
            <a:r>
              <a:rPr lang="en-US" sz="2100" dirty="0" err="1"/>
              <a:t>তবে</a:t>
            </a:r>
            <a:r>
              <a:rPr lang="en-US" sz="2100" dirty="0"/>
              <a:t> </a:t>
            </a:r>
            <a:r>
              <a:rPr lang="en-US" sz="2100" dirty="0" err="1"/>
              <a:t>সেল</a:t>
            </a:r>
            <a:r>
              <a:rPr lang="en-US" sz="2100" dirty="0"/>
              <a:t> </a:t>
            </a:r>
            <a:r>
              <a:rPr lang="en-US" sz="2100" b="1" dirty="0"/>
              <a:t>C10</a:t>
            </a:r>
            <a:r>
              <a:rPr lang="en-US" sz="2100" dirty="0"/>
              <a:t>-এ </a:t>
            </a:r>
            <a:r>
              <a:rPr lang="en-US" sz="2100" dirty="0" err="1"/>
              <a:t>লেখো</a:t>
            </a:r>
            <a:r>
              <a:rPr lang="en-US" sz="2100" dirty="0"/>
              <a:t> </a:t>
            </a:r>
            <a:r>
              <a:rPr lang="en-US" sz="2100" b="1" dirty="0"/>
              <a:t>"</a:t>
            </a:r>
            <a:r>
              <a:rPr lang="en-US" sz="2100" b="1" dirty="0" err="1"/>
              <a:t>অবশিষ্ট</a:t>
            </a:r>
            <a:r>
              <a:rPr lang="en-US" sz="2100" b="1" dirty="0"/>
              <a:t> </a:t>
            </a:r>
            <a:r>
              <a:rPr lang="en-US" sz="2100" b="1" dirty="0" err="1"/>
              <a:t>তহবিল</a:t>
            </a:r>
            <a:r>
              <a:rPr lang="en-US" sz="2100" b="1" dirty="0"/>
              <a:t>"</a:t>
            </a:r>
            <a:r>
              <a:rPr lang="en-US" sz="2100" dirty="0"/>
              <a:t> (Remaining Balance)। </a:t>
            </a:r>
          </a:p>
          <a:p>
            <a:pPr>
              <a:buAutoNum type="arabicPeriod"/>
            </a:pPr>
            <a:r>
              <a:rPr lang="en-US" sz="2100" dirty="0" err="1"/>
              <a:t>সেল</a:t>
            </a:r>
            <a:r>
              <a:rPr lang="en-US" sz="2100" dirty="0"/>
              <a:t> </a:t>
            </a:r>
            <a:r>
              <a:rPr lang="en-US" sz="2100" b="1" dirty="0"/>
              <a:t>D10</a:t>
            </a:r>
            <a:r>
              <a:rPr lang="en-US" sz="2100" dirty="0"/>
              <a:t>-এ </a:t>
            </a:r>
            <a:r>
              <a:rPr lang="en-US" sz="2100" dirty="0" err="1"/>
              <a:t>একটি</a:t>
            </a:r>
            <a:r>
              <a:rPr lang="en-US" sz="2100" dirty="0"/>
              <a:t> </a:t>
            </a:r>
            <a:r>
              <a:rPr lang="en-US" sz="2100" dirty="0" err="1"/>
              <a:t>সূত্র</a:t>
            </a:r>
            <a:r>
              <a:rPr lang="en-US" sz="2100" dirty="0"/>
              <a:t> </a:t>
            </a:r>
            <a:r>
              <a:rPr lang="en-US" sz="2100" dirty="0" err="1"/>
              <a:t>লিখো</a:t>
            </a:r>
            <a:r>
              <a:rPr lang="en-US" sz="2100" dirty="0"/>
              <a:t> </a:t>
            </a:r>
            <a:r>
              <a:rPr lang="en-US" sz="2100" dirty="0" err="1"/>
              <a:t>যা</a:t>
            </a:r>
            <a:r>
              <a:rPr lang="en-US" sz="2100" dirty="0"/>
              <a:t> </a:t>
            </a:r>
            <a:r>
              <a:rPr lang="en-US" sz="2100" dirty="0" err="1"/>
              <a:t>বরাদ্দকৃত</a:t>
            </a:r>
            <a:r>
              <a:rPr lang="en-US" sz="2100" dirty="0"/>
              <a:t> </a:t>
            </a:r>
            <a:r>
              <a:rPr lang="en-US" sz="2100" dirty="0" err="1"/>
              <a:t>মোট</a:t>
            </a:r>
            <a:r>
              <a:rPr lang="en-US" sz="2100" dirty="0"/>
              <a:t> </a:t>
            </a:r>
            <a:r>
              <a:rPr lang="en-US" sz="2100" dirty="0" err="1"/>
              <a:t>টাকা</a:t>
            </a:r>
            <a:r>
              <a:rPr lang="en-US" sz="2100" dirty="0"/>
              <a:t> (২৫,০০০) </a:t>
            </a:r>
            <a:r>
              <a:rPr lang="en-US" sz="2100" dirty="0" err="1"/>
              <a:t>থেকে</a:t>
            </a:r>
            <a:r>
              <a:rPr lang="en-US" sz="2100" dirty="0"/>
              <a:t> </a:t>
            </a:r>
            <a:r>
              <a:rPr lang="en-US" sz="2100" dirty="0" err="1"/>
              <a:t>তোমার</a:t>
            </a:r>
            <a:r>
              <a:rPr lang="en-US" sz="2100" dirty="0"/>
              <a:t> </a:t>
            </a:r>
            <a:r>
              <a:rPr lang="en-US" sz="2100" dirty="0" err="1"/>
              <a:t>বের</a:t>
            </a:r>
            <a:r>
              <a:rPr lang="en-US" sz="2100" dirty="0"/>
              <a:t> </a:t>
            </a:r>
            <a:r>
              <a:rPr lang="en-US" sz="2100" dirty="0" err="1"/>
              <a:t>করা</a:t>
            </a:r>
            <a:r>
              <a:rPr lang="en-US" sz="2100" dirty="0"/>
              <a:t> "</a:t>
            </a:r>
            <a:r>
              <a:rPr lang="en-US" sz="2100" dirty="0" err="1"/>
              <a:t>সর্বমোট</a:t>
            </a:r>
            <a:r>
              <a:rPr lang="en-US" sz="2100" dirty="0"/>
              <a:t> </a:t>
            </a:r>
            <a:r>
              <a:rPr lang="en-US" sz="2100" dirty="0" err="1"/>
              <a:t>খরচ</a:t>
            </a:r>
            <a:r>
              <a:rPr lang="en-US" sz="2100" dirty="0"/>
              <a:t>" (D8)-</a:t>
            </a:r>
            <a:r>
              <a:rPr lang="en-US" sz="2100" dirty="0" err="1"/>
              <a:t>কে</a:t>
            </a:r>
            <a:r>
              <a:rPr lang="en-US" sz="2100" dirty="0"/>
              <a:t> </a:t>
            </a:r>
            <a:r>
              <a:rPr lang="en-US" sz="2100" dirty="0" err="1"/>
              <a:t>বিয়োগ</a:t>
            </a:r>
            <a:r>
              <a:rPr lang="en-US" sz="2100" dirty="0"/>
              <a:t> </a:t>
            </a:r>
            <a:r>
              <a:rPr lang="en-US" sz="2100" dirty="0" err="1"/>
              <a:t>করবে</a:t>
            </a:r>
            <a:endParaRPr lang="en-US" sz="21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FA6C-9B63-D2CA-0926-1E8498B914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41058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D153-9289-A283-0929-CA49D663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Homework (Contd)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F99C3-F505-5152-073A-762461F3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08" y="729911"/>
            <a:ext cx="8520600" cy="407761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err="1"/>
              <a:t>পার্ট</a:t>
            </a:r>
            <a:r>
              <a:rPr lang="en-US" b="1" dirty="0"/>
              <a:t> ৪: </a:t>
            </a:r>
            <a:r>
              <a:rPr lang="en-US" b="1" dirty="0" err="1"/>
              <a:t>চার্ট</a:t>
            </a:r>
            <a:r>
              <a:rPr lang="en-US" b="1" dirty="0"/>
              <a:t> </a:t>
            </a:r>
            <a:r>
              <a:rPr lang="en-US" b="1" dirty="0" err="1"/>
              <a:t>বা</a:t>
            </a:r>
            <a:r>
              <a:rPr lang="en-US" b="1" dirty="0"/>
              <a:t> </a:t>
            </a:r>
            <a:r>
              <a:rPr lang="en-US" b="1" dirty="0" err="1"/>
              <a:t>গ্রাফ</a:t>
            </a:r>
            <a:r>
              <a:rPr lang="en-US" b="1" dirty="0"/>
              <a:t> </a:t>
            </a:r>
            <a:r>
              <a:rPr lang="en-US" b="1" dirty="0" err="1"/>
              <a:t>তৈরি</a:t>
            </a:r>
            <a:r>
              <a:rPr lang="en-US" b="1" dirty="0"/>
              <a:t> (Chart Feature for Insights)</a:t>
            </a:r>
          </a:p>
          <a:p>
            <a:pPr>
              <a:buNone/>
            </a:pPr>
            <a:r>
              <a:rPr lang="en-US" dirty="0" err="1"/>
              <a:t>ডেটা</a:t>
            </a:r>
            <a:r>
              <a:rPr lang="en-US" dirty="0"/>
              <a:t> </a:t>
            </a:r>
            <a:r>
              <a:rPr lang="en-US" dirty="0" err="1"/>
              <a:t>থেকে</a:t>
            </a:r>
            <a:r>
              <a:rPr lang="en-US" dirty="0"/>
              <a:t> </a:t>
            </a:r>
            <a:r>
              <a:rPr lang="en-US" dirty="0" err="1"/>
              <a:t>দৃশ্যমান</a:t>
            </a:r>
            <a:r>
              <a:rPr lang="en-US" dirty="0"/>
              <a:t> </a:t>
            </a:r>
            <a:r>
              <a:rPr lang="en-US" dirty="0" err="1"/>
              <a:t>ধারণা</a:t>
            </a:r>
            <a:r>
              <a:rPr lang="en-US" dirty="0"/>
              <a:t> </a:t>
            </a:r>
            <a:r>
              <a:rPr lang="en-US" dirty="0" err="1"/>
              <a:t>বা</a:t>
            </a:r>
            <a:r>
              <a:rPr lang="en-US" dirty="0"/>
              <a:t> </a:t>
            </a:r>
            <a:r>
              <a:rPr lang="en-US" dirty="0" err="1"/>
              <a:t>ইনসাইট</a:t>
            </a:r>
            <a:r>
              <a:rPr lang="en-US" dirty="0"/>
              <a:t> </a:t>
            </a:r>
            <a:r>
              <a:rPr lang="en-US" dirty="0" err="1"/>
              <a:t>পাওয়ার</a:t>
            </a:r>
            <a:r>
              <a:rPr lang="en-US" dirty="0"/>
              <a:t> </a:t>
            </a:r>
            <a:r>
              <a:rPr lang="en-US" dirty="0" err="1"/>
              <a:t>জন্য</a:t>
            </a:r>
            <a:r>
              <a:rPr lang="en-US" dirty="0"/>
              <a:t> </a:t>
            </a:r>
            <a:r>
              <a:rPr lang="en-US" dirty="0" err="1"/>
              <a:t>একটি</a:t>
            </a:r>
            <a:r>
              <a:rPr lang="en-US" dirty="0"/>
              <a:t> </a:t>
            </a:r>
            <a:r>
              <a:rPr lang="en-US" dirty="0" err="1"/>
              <a:t>চার্ট</a:t>
            </a:r>
            <a:r>
              <a:rPr lang="en-US" dirty="0"/>
              <a:t> </a:t>
            </a:r>
            <a:r>
              <a:rPr lang="en-US" dirty="0" err="1"/>
              <a:t>তৈরি</a:t>
            </a:r>
            <a:r>
              <a:rPr lang="en-US" dirty="0"/>
              <a:t> </a:t>
            </a:r>
            <a:r>
              <a:rPr lang="en-US" dirty="0" err="1"/>
              <a:t>করো</a:t>
            </a:r>
            <a:r>
              <a:rPr lang="en-US" dirty="0"/>
              <a:t>।</a:t>
            </a:r>
          </a:p>
          <a:p>
            <a:pPr>
              <a:buAutoNum type="arabicPeriod"/>
            </a:pPr>
            <a:r>
              <a:rPr lang="en-US" b="1" dirty="0"/>
              <a:t>A1 </a:t>
            </a:r>
            <a:r>
              <a:rPr lang="en-US" b="1" dirty="0" err="1"/>
              <a:t>থেকে</a:t>
            </a:r>
            <a:r>
              <a:rPr lang="en-US" b="1" dirty="0"/>
              <a:t> A6</a:t>
            </a:r>
            <a:r>
              <a:rPr lang="en-US" dirty="0"/>
              <a:t> (</a:t>
            </a:r>
            <a:r>
              <a:rPr lang="en-US" dirty="0" err="1"/>
              <a:t>খাতের</a:t>
            </a:r>
            <a:r>
              <a:rPr lang="en-US" dirty="0"/>
              <a:t> </a:t>
            </a:r>
            <a:r>
              <a:rPr lang="en-US" dirty="0" err="1"/>
              <a:t>নাম</a:t>
            </a:r>
            <a:r>
              <a:rPr lang="en-US" dirty="0"/>
              <a:t>) </a:t>
            </a:r>
            <a:r>
              <a:rPr lang="en-US" dirty="0" err="1"/>
              <a:t>এবং</a:t>
            </a:r>
            <a:r>
              <a:rPr lang="en-US" dirty="0"/>
              <a:t> </a:t>
            </a:r>
            <a:r>
              <a:rPr lang="en-US" b="1" dirty="0"/>
              <a:t>D1 </a:t>
            </a:r>
            <a:r>
              <a:rPr lang="en-US" b="1" dirty="0" err="1"/>
              <a:t>থেকে</a:t>
            </a:r>
            <a:r>
              <a:rPr lang="en-US" b="1" dirty="0"/>
              <a:t> D6</a:t>
            </a:r>
            <a:r>
              <a:rPr lang="en-US" dirty="0"/>
              <a:t> (</a:t>
            </a:r>
            <a:r>
              <a:rPr lang="en-US" dirty="0" err="1"/>
              <a:t>মোট</a:t>
            </a:r>
            <a:r>
              <a:rPr lang="en-US" dirty="0"/>
              <a:t> </a:t>
            </a:r>
            <a:r>
              <a:rPr lang="en-US" dirty="0" err="1"/>
              <a:t>খরচ</a:t>
            </a:r>
            <a:r>
              <a:rPr lang="en-US" dirty="0"/>
              <a:t>) </a:t>
            </a:r>
            <a:r>
              <a:rPr lang="en-US" dirty="0" err="1"/>
              <a:t>এই</a:t>
            </a:r>
            <a:r>
              <a:rPr lang="en-US" dirty="0"/>
              <a:t> </a:t>
            </a:r>
            <a:r>
              <a:rPr lang="en-US" dirty="0" err="1"/>
              <a:t>দুটি</a:t>
            </a:r>
            <a:r>
              <a:rPr lang="en-US" dirty="0"/>
              <a:t> </a:t>
            </a:r>
            <a:r>
              <a:rPr lang="en-US" dirty="0" err="1"/>
              <a:t>কলাম</a:t>
            </a:r>
            <a:r>
              <a:rPr lang="en-US" dirty="0"/>
              <a:t> </a:t>
            </a:r>
            <a:r>
              <a:rPr lang="en-US" dirty="0" err="1"/>
              <a:t>সিলেক্ট</a:t>
            </a:r>
            <a:r>
              <a:rPr lang="en-US" dirty="0"/>
              <a:t> </a:t>
            </a:r>
            <a:r>
              <a:rPr lang="en-US" dirty="0" err="1"/>
              <a:t>করো</a:t>
            </a:r>
            <a:r>
              <a:rPr lang="en-US" dirty="0"/>
              <a:t> (</a:t>
            </a:r>
            <a:r>
              <a:rPr lang="en-US" dirty="0" err="1"/>
              <a:t>মাউস</a:t>
            </a:r>
            <a:r>
              <a:rPr lang="en-US" dirty="0"/>
              <a:t> </a:t>
            </a:r>
            <a:r>
              <a:rPr lang="en-US" dirty="0" err="1"/>
              <a:t>দিয়ে</a:t>
            </a:r>
            <a:r>
              <a:rPr lang="en-US" dirty="0"/>
              <a:t> </a:t>
            </a:r>
            <a:r>
              <a:rPr lang="en-US" dirty="0" err="1"/>
              <a:t>ড্র্যাগ</a:t>
            </a:r>
            <a:r>
              <a:rPr lang="en-US" dirty="0"/>
              <a:t> </a:t>
            </a:r>
            <a:r>
              <a:rPr lang="en-US" dirty="0" err="1"/>
              <a:t>করে</a:t>
            </a:r>
            <a:r>
              <a:rPr lang="en-US" dirty="0"/>
              <a:t>)। </a:t>
            </a:r>
          </a:p>
          <a:p>
            <a:pPr>
              <a:buAutoNum type="arabicPeriod"/>
            </a:pPr>
            <a:r>
              <a:rPr lang="en-US" dirty="0"/>
              <a:t>২. </a:t>
            </a:r>
            <a:r>
              <a:rPr lang="en-US" dirty="0" err="1"/>
              <a:t>এক্সেলের</a:t>
            </a:r>
            <a:r>
              <a:rPr lang="en-US" dirty="0"/>
              <a:t> </a:t>
            </a:r>
            <a:r>
              <a:rPr lang="en-US" dirty="0" err="1"/>
              <a:t>ওপরের</a:t>
            </a:r>
            <a:r>
              <a:rPr lang="en-US" dirty="0"/>
              <a:t> </a:t>
            </a:r>
            <a:r>
              <a:rPr lang="en-US" dirty="0" err="1"/>
              <a:t>মেনু</a:t>
            </a:r>
            <a:r>
              <a:rPr lang="en-US" dirty="0"/>
              <a:t> </a:t>
            </a:r>
            <a:r>
              <a:rPr lang="en-US" dirty="0" err="1"/>
              <a:t>থেকে</a:t>
            </a:r>
            <a:r>
              <a:rPr lang="en-US" dirty="0"/>
              <a:t> </a:t>
            </a:r>
            <a:r>
              <a:rPr lang="en-US" b="1" dirty="0"/>
              <a:t>Insert</a:t>
            </a:r>
            <a:r>
              <a:rPr lang="en-US" dirty="0"/>
              <a:t> </a:t>
            </a:r>
            <a:r>
              <a:rPr lang="en-US" dirty="0" err="1"/>
              <a:t>ট্যাবে</a:t>
            </a:r>
            <a:r>
              <a:rPr lang="en-US" dirty="0"/>
              <a:t> </a:t>
            </a:r>
            <a:r>
              <a:rPr lang="en-US" dirty="0" err="1"/>
              <a:t>যাও</a:t>
            </a:r>
            <a:r>
              <a:rPr lang="en-US" dirty="0"/>
              <a:t>। </a:t>
            </a:r>
          </a:p>
          <a:p>
            <a:pPr>
              <a:buAutoNum type="arabicPeriod"/>
            </a:pPr>
            <a:r>
              <a:rPr lang="en-US" dirty="0"/>
              <a:t>৩. </a:t>
            </a:r>
            <a:r>
              <a:rPr lang="en-US" b="1" dirty="0"/>
              <a:t>Charts</a:t>
            </a:r>
            <a:r>
              <a:rPr lang="en-US" dirty="0"/>
              <a:t> </a:t>
            </a:r>
            <a:r>
              <a:rPr lang="en-US" dirty="0" err="1"/>
              <a:t>গ্রুপ</a:t>
            </a:r>
            <a:r>
              <a:rPr lang="en-US" dirty="0"/>
              <a:t> </a:t>
            </a:r>
            <a:r>
              <a:rPr lang="en-US" dirty="0" err="1"/>
              <a:t>থেকে</a:t>
            </a:r>
            <a:r>
              <a:rPr lang="en-US" dirty="0"/>
              <a:t> </a:t>
            </a:r>
            <a:r>
              <a:rPr lang="en-US" dirty="0" err="1"/>
              <a:t>একটি</a:t>
            </a:r>
            <a:r>
              <a:rPr lang="en-US" dirty="0"/>
              <a:t> </a:t>
            </a:r>
            <a:r>
              <a:rPr lang="en-US" b="1" dirty="0"/>
              <a:t>Column Chart</a:t>
            </a:r>
            <a:r>
              <a:rPr lang="en-US" dirty="0"/>
              <a:t> </a:t>
            </a:r>
            <a:r>
              <a:rPr lang="en-US" dirty="0" err="1"/>
              <a:t>বা</a:t>
            </a:r>
            <a:r>
              <a:rPr lang="en-US" dirty="0"/>
              <a:t> </a:t>
            </a:r>
            <a:r>
              <a:rPr lang="en-US" b="1" dirty="0"/>
              <a:t>Pie Chart</a:t>
            </a:r>
            <a:r>
              <a:rPr lang="en-US" dirty="0"/>
              <a:t> </a:t>
            </a:r>
            <a:r>
              <a:rPr lang="en-US" dirty="0" err="1"/>
              <a:t>সিলেক্ট</a:t>
            </a:r>
            <a:r>
              <a:rPr lang="en-US" dirty="0"/>
              <a:t> </a:t>
            </a:r>
            <a:r>
              <a:rPr lang="en-US" dirty="0" err="1"/>
              <a:t>করো</a:t>
            </a:r>
            <a:r>
              <a:rPr lang="en-US" dirty="0"/>
              <a:t>। ৪. </a:t>
            </a:r>
            <a:r>
              <a:rPr lang="en-US" dirty="0" err="1"/>
              <a:t>চার্টটির</a:t>
            </a:r>
            <a:r>
              <a:rPr lang="en-US" dirty="0"/>
              <a:t> </a:t>
            </a:r>
            <a:r>
              <a:rPr lang="en-US" dirty="0" err="1"/>
              <a:t>একটি</a:t>
            </a:r>
            <a:r>
              <a:rPr lang="en-US" dirty="0"/>
              <a:t> </a:t>
            </a:r>
            <a:r>
              <a:rPr lang="en-US" dirty="0" err="1"/>
              <a:t>সুন্দর</a:t>
            </a:r>
            <a:r>
              <a:rPr lang="en-US" dirty="0"/>
              <a:t> </a:t>
            </a:r>
            <a:r>
              <a:rPr lang="en-US" dirty="0" err="1"/>
              <a:t>নাম</a:t>
            </a:r>
            <a:r>
              <a:rPr lang="en-US" dirty="0"/>
              <a:t> </a:t>
            </a:r>
            <a:r>
              <a:rPr lang="en-US" dirty="0" err="1"/>
              <a:t>দাও</a:t>
            </a:r>
            <a:r>
              <a:rPr lang="en-US" dirty="0"/>
              <a:t>, </a:t>
            </a:r>
            <a:r>
              <a:rPr lang="en-US" dirty="0" err="1"/>
              <a:t>যেমন</a:t>
            </a:r>
            <a:r>
              <a:rPr lang="en-US" dirty="0"/>
              <a:t>: "</a:t>
            </a:r>
            <a:r>
              <a:rPr lang="en-US" dirty="0" err="1"/>
              <a:t>বার্ষিক</a:t>
            </a:r>
            <a:r>
              <a:rPr lang="en-US" dirty="0"/>
              <a:t> </a:t>
            </a:r>
            <a:r>
              <a:rPr lang="en-US" dirty="0" err="1"/>
              <a:t>ক্রীড়া</a:t>
            </a:r>
            <a:r>
              <a:rPr lang="en-US" dirty="0"/>
              <a:t> </a:t>
            </a:r>
            <a:r>
              <a:rPr lang="en-US" dirty="0" err="1"/>
              <a:t>প্রতিযোগিতার</a:t>
            </a:r>
            <a:r>
              <a:rPr lang="en-US" dirty="0"/>
              <a:t> </a:t>
            </a:r>
            <a:r>
              <a:rPr lang="en-US" dirty="0" err="1"/>
              <a:t>বাজেট</a:t>
            </a:r>
            <a:r>
              <a:rPr lang="en-US" dirty="0"/>
              <a:t> </a:t>
            </a:r>
            <a:r>
              <a:rPr lang="en-US" dirty="0" err="1"/>
              <a:t>চার্ট</a:t>
            </a:r>
            <a:r>
              <a:rPr lang="en-US" dirty="0"/>
              <a:t>"।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None/>
            </a:pPr>
            <a:r>
              <a:rPr lang="en-US" b="1" dirty="0" err="1"/>
              <a:t>পার্ট</a:t>
            </a:r>
            <a:r>
              <a:rPr lang="en-US" b="1" dirty="0"/>
              <a:t> ৫: </a:t>
            </a:r>
            <a:r>
              <a:rPr lang="en-US" b="1" dirty="0" err="1"/>
              <a:t>ছোট</a:t>
            </a:r>
            <a:r>
              <a:rPr lang="en-US" b="1" dirty="0"/>
              <a:t> </a:t>
            </a:r>
            <a:r>
              <a:rPr lang="en-US" b="1" dirty="0" err="1"/>
              <a:t>প্রশ্ন</a:t>
            </a:r>
            <a:r>
              <a:rPr lang="en-US" b="1" dirty="0"/>
              <a:t> (Short Questions)</a:t>
            </a:r>
          </a:p>
          <a:p>
            <a:pPr>
              <a:buNone/>
            </a:pPr>
            <a:r>
              <a:rPr lang="en-US" dirty="0" err="1"/>
              <a:t>নিচের</a:t>
            </a:r>
            <a:r>
              <a:rPr lang="en-US" dirty="0"/>
              <a:t> </a:t>
            </a:r>
            <a:r>
              <a:rPr lang="en-US" dirty="0" err="1"/>
              <a:t>প্রশ্নগুলোর</a:t>
            </a:r>
            <a:r>
              <a:rPr lang="en-US" dirty="0"/>
              <a:t> </a:t>
            </a:r>
            <a:r>
              <a:rPr lang="en-US" dirty="0" err="1"/>
              <a:t>উত্তর</a:t>
            </a:r>
            <a:r>
              <a:rPr lang="en-US" dirty="0"/>
              <a:t> </a:t>
            </a:r>
            <a:r>
              <a:rPr lang="en-US" dirty="0" err="1"/>
              <a:t>তোমার</a:t>
            </a:r>
            <a:r>
              <a:rPr lang="en-US" dirty="0"/>
              <a:t> </a:t>
            </a:r>
            <a:r>
              <a:rPr lang="en-US" dirty="0" err="1"/>
              <a:t>এক্সেল</a:t>
            </a:r>
            <a:r>
              <a:rPr lang="en-US" dirty="0"/>
              <a:t> </a:t>
            </a:r>
            <a:r>
              <a:rPr lang="en-US" dirty="0" err="1"/>
              <a:t>শিটের</a:t>
            </a:r>
            <a:r>
              <a:rPr lang="en-US" dirty="0"/>
              <a:t> </a:t>
            </a:r>
            <a:r>
              <a:rPr lang="en-US" dirty="0" err="1"/>
              <a:t>নিচে</a:t>
            </a:r>
            <a:r>
              <a:rPr lang="en-US" dirty="0"/>
              <a:t> </a:t>
            </a:r>
            <a:r>
              <a:rPr lang="en-US" dirty="0" err="1"/>
              <a:t>লিখে</a:t>
            </a:r>
            <a:r>
              <a:rPr lang="en-US" dirty="0"/>
              <a:t> </a:t>
            </a:r>
            <a:r>
              <a:rPr lang="en-US" dirty="0" err="1"/>
              <a:t>জমা</a:t>
            </a:r>
            <a:r>
              <a:rPr lang="en-US" dirty="0"/>
              <a:t> </a:t>
            </a:r>
            <a:r>
              <a:rPr lang="en-US" dirty="0" err="1"/>
              <a:t>দাও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১. </a:t>
            </a:r>
            <a:r>
              <a:rPr lang="en-US" dirty="0" err="1"/>
              <a:t>কলাম</a:t>
            </a:r>
            <a:r>
              <a:rPr lang="en-US" dirty="0"/>
              <a:t> D-</a:t>
            </a:r>
            <a:r>
              <a:rPr lang="en-US" dirty="0" err="1"/>
              <a:t>তে</a:t>
            </a:r>
            <a:r>
              <a:rPr lang="en-US" dirty="0"/>
              <a:t> </a:t>
            </a:r>
            <a:r>
              <a:rPr lang="en-US" dirty="0" err="1"/>
              <a:t>হিসাব</a:t>
            </a:r>
            <a:r>
              <a:rPr lang="en-US" dirty="0"/>
              <a:t> </a:t>
            </a:r>
            <a:r>
              <a:rPr lang="en-US" dirty="0" err="1"/>
              <a:t>করার</a:t>
            </a:r>
            <a:r>
              <a:rPr lang="en-US" dirty="0"/>
              <a:t> </a:t>
            </a:r>
            <a:r>
              <a:rPr lang="en-US" dirty="0" err="1"/>
              <a:t>সময়</a:t>
            </a:r>
            <a:r>
              <a:rPr lang="en-US" dirty="0"/>
              <a:t> </a:t>
            </a:r>
            <a:r>
              <a:rPr lang="en-US" dirty="0" err="1"/>
              <a:t>তুমি</a:t>
            </a:r>
            <a:r>
              <a:rPr lang="en-US" dirty="0"/>
              <a:t> </a:t>
            </a:r>
            <a:r>
              <a:rPr lang="en-US" dirty="0" err="1"/>
              <a:t>কেন</a:t>
            </a:r>
            <a:r>
              <a:rPr lang="en-US" dirty="0"/>
              <a:t> </a:t>
            </a:r>
            <a:r>
              <a:rPr lang="en-US" dirty="0" err="1"/>
              <a:t>সরাসরি</a:t>
            </a:r>
            <a:r>
              <a:rPr lang="en-US" dirty="0"/>
              <a:t> </a:t>
            </a:r>
            <a:r>
              <a:rPr lang="en-US" dirty="0" err="1"/>
              <a:t>সংখ্যা</a:t>
            </a:r>
            <a:r>
              <a:rPr lang="en-US" dirty="0"/>
              <a:t> </a:t>
            </a:r>
            <a:r>
              <a:rPr lang="en-US" dirty="0" err="1"/>
              <a:t>না</a:t>
            </a:r>
            <a:r>
              <a:rPr lang="en-US" dirty="0"/>
              <a:t> </a:t>
            </a:r>
            <a:r>
              <a:rPr lang="en-US" dirty="0" err="1"/>
              <a:t>লিখে</a:t>
            </a:r>
            <a:r>
              <a:rPr lang="en-US" dirty="0"/>
              <a:t> </a:t>
            </a:r>
            <a:r>
              <a:rPr lang="en-US" dirty="0" err="1"/>
              <a:t>সেল</a:t>
            </a:r>
            <a:r>
              <a:rPr lang="en-US" dirty="0"/>
              <a:t> </a:t>
            </a:r>
            <a:r>
              <a:rPr lang="en-US" dirty="0" err="1"/>
              <a:t>অ্যাড্রেস</a:t>
            </a:r>
            <a:r>
              <a:rPr lang="en-US" dirty="0"/>
              <a:t> (</a:t>
            </a:r>
            <a:r>
              <a:rPr lang="en-US" dirty="0" err="1"/>
              <a:t>যেমন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=B2*C2</a:t>
            </a:r>
            <a:r>
              <a:rPr lang="en-US" dirty="0"/>
              <a:t>) </a:t>
            </a:r>
            <a:r>
              <a:rPr lang="en-US" dirty="0" err="1"/>
              <a:t>ব্যবহার</a:t>
            </a:r>
            <a:r>
              <a:rPr lang="en-US" dirty="0"/>
              <a:t> </a:t>
            </a:r>
            <a:r>
              <a:rPr lang="en-US" dirty="0" err="1"/>
              <a:t>করেছ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 ২. </a:t>
            </a:r>
            <a:r>
              <a:rPr lang="en-US" dirty="0" err="1"/>
              <a:t>চার্ট</a:t>
            </a:r>
            <a:r>
              <a:rPr lang="en-US" dirty="0"/>
              <a:t> </a:t>
            </a:r>
            <a:r>
              <a:rPr lang="en-US" dirty="0" err="1"/>
              <a:t>বা</a:t>
            </a:r>
            <a:r>
              <a:rPr lang="en-US" dirty="0"/>
              <a:t> </a:t>
            </a:r>
            <a:r>
              <a:rPr lang="en-US" dirty="0" err="1"/>
              <a:t>গ্রাফ</a:t>
            </a:r>
            <a:r>
              <a:rPr lang="en-US" dirty="0"/>
              <a:t> </a:t>
            </a:r>
            <a:r>
              <a:rPr lang="en-US" dirty="0" err="1"/>
              <a:t>দেখার</a:t>
            </a:r>
            <a:r>
              <a:rPr lang="en-US" dirty="0"/>
              <a:t> </a:t>
            </a:r>
            <a:r>
              <a:rPr lang="en-US" dirty="0" err="1"/>
              <a:t>পর</a:t>
            </a:r>
            <a:r>
              <a:rPr lang="en-US" dirty="0"/>
              <a:t> </a:t>
            </a:r>
            <a:r>
              <a:rPr lang="en-US" dirty="0" err="1"/>
              <a:t>তোমার</a:t>
            </a:r>
            <a:r>
              <a:rPr lang="en-US" dirty="0"/>
              <a:t> </a:t>
            </a:r>
            <a:r>
              <a:rPr lang="en-US" dirty="0" err="1"/>
              <a:t>কি</a:t>
            </a:r>
            <a:r>
              <a:rPr lang="en-US" dirty="0"/>
              <a:t> </a:t>
            </a:r>
            <a:r>
              <a:rPr lang="en-US" dirty="0" err="1"/>
              <a:t>মনে</a:t>
            </a:r>
            <a:r>
              <a:rPr lang="en-US" dirty="0"/>
              <a:t> </a:t>
            </a:r>
            <a:r>
              <a:rPr lang="en-US" dirty="0" err="1"/>
              <a:t>হলো</a:t>
            </a:r>
            <a:r>
              <a:rPr lang="en-US" dirty="0"/>
              <a:t> </a:t>
            </a:r>
            <a:r>
              <a:rPr lang="en-US" dirty="0" err="1"/>
              <a:t>কোন</a:t>
            </a:r>
            <a:r>
              <a:rPr lang="en-US" dirty="0"/>
              <a:t> </a:t>
            </a:r>
            <a:r>
              <a:rPr lang="en-US" dirty="0" err="1"/>
              <a:t>খাতে</a:t>
            </a:r>
            <a:r>
              <a:rPr lang="en-US" dirty="0"/>
              <a:t> </a:t>
            </a:r>
            <a:r>
              <a:rPr lang="en-US" dirty="0" err="1"/>
              <a:t>স্কুল</a:t>
            </a:r>
            <a:r>
              <a:rPr lang="en-US" dirty="0"/>
              <a:t> </a:t>
            </a:r>
            <a:r>
              <a:rPr lang="en-US" dirty="0" err="1"/>
              <a:t>বাজেটের</a:t>
            </a:r>
            <a:r>
              <a:rPr lang="en-US" dirty="0"/>
              <a:t> </a:t>
            </a:r>
            <a:r>
              <a:rPr lang="en-US" dirty="0" err="1"/>
              <a:t>সবচেয়ে</a:t>
            </a:r>
            <a:r>
              <a:rPr lang="en-US" dirty="0"/>
              <a:t> </a:t>
            </a:r>
            <a:r>
              <a:rPr lang="en-US" dirty="0" err="1"/>
              <a:t>বেশি</a:t>
            </a:r>
            <a:r>
              <a:rPr lang="en-US" dirty="0"/>
              <a:t> </a:t>
            </a:r>
            <a:r>
              <a:rPr lang="en-US" dirty="0" err="1"/>
              <a:t>টাকা</a:t>
            </a:r>
            <a:r>
              <a:rPr lang="en-US" dirty="0"/>
              <a:t> </a:t>
            </a:r>
            <a:r>
              <a:rPr lang="en-US" dirty="0" err="1"/>
              <a:t>খরচ</a:t>
            </a:r>
            <a:r>
              <a:rPr lang="en-US" dirty="0"/>
              <a:t> </a:t>
            </a:r>
            <a:r>
              <a:rPr lang="en-US" dirty="0" err="1"/>
              <a:t>হয়েছে</a:t>
            </a:r>
            <a:r>
              <a:rPr lang="en-US" dirty="0"/>
              <a:t>? </a:t>
            </a:r>
          </a:p>
          <a:p>
            <a:pPr>
              <a:buNone/>
            </a:pPr>
            <a:r>
              <a:rPr lang="en-US" dirty="0"/>
              <a:t>৩. </a:t>
            </a:r>
            <a:r>
              <a:rPr lang="en-US" dirty="0" err="1"/>
              <a:t>তোমার</a:t>
            </a:r>
            <a:r>
              <a:rPr lang="en-US" dirty="0"/>
              <a:t> </a:t>
            </a:r>
            <a:r>
              <a:rPr lang="en-US" dirty="0" err="1"/>
              <a:t>তৈরি</a:t>
            </a:r>
            <a:r>
              <a:rPr lang="en-US" dirty="0"/>
              <a:t>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শেষ</a:t>
            </a:r>
            <a:r>
              <a:rPr lang="en-US" dirty="0"/>
              <a:t> </a:t>
            </a:r>
            <a:r>
              <a:rPr lang="en-US" dirty="0" err="1"/>
              <a:t>ফলাফলে</a:t>
            </a:r>
            <a:r>
              <a:rPr lang="en-US" dirty="0"/>
              <a:t> </a:t>
            </a:r>
            <a:r>
              <a:rPr lang="en-US" dirty="0" err="1"/>
              <a:t>কি</a:t>
            </a:r>
            <a:r>
              <a:rPr lang="en-US" dirty="0"/>
              <a:t> </a:t>
            </a:r>
            <a:r>
              <a:rPr lang="en-US" dirty="0" err="1"/>
              <a:t>টাকা</a:t>
            </a:r>
            <a:r>
              <a:rPr lang="en-US" dirty="0"/>
              <a:t> </a:t>
            </a:r>
            <a:r>
              <a:rPr lang="en-US" dirty="0" err="1"/>
              <a:t>বেঁচে</a:t>
            </a:r>
            <a:r>
              <a:rPr lang="en-US" dirty="0"/>
              <a:t> </a:t>
            </a:r>
            <a:r>
              <a:rPr lang="en-US" dirty="0" err="1"/>
              <a:t>গেছে</a:t>
            </a:r>
            <a:r>
              <a:rPr lang="en-US" dirty="0"/>
              <a:t>, </a:t>
            </a:r>
            <a:r>
              <a:rPr lang="en-US" dirty="0" err="1"/>
              <a:t>নাকি</a:t>
            </a:r>
            <a:r>
              <a:rPr lang="en-US" dirty="0"/>
              <a:t> </a:t>
            </a:r>
            <a:r>
              <a:rPr lang="en-US" dirty="0" err="1"/>
              <a:t>বাজেট</a:t>
            </a:r>
            <a:r>
              <a:rPr lang="en-US" dirty="0"/>
              <a:t> </a:t>
            </a:r>
            <a:r>
              <a:rPr lang="en-US" dirty="0" err="1"/>
              <a:t>ঘাটতি</a:t>
            </a:r>
            <a:r>
              <a:rPr lang="en-US" dirty="0"/>
              <a:t> (Negative Balance) </a:t>
            </a:r>
            <a:r>
              <a:rPr lang="en-US" dirty="0" err="1"/>
              <a:t>দেখা</a:t>
            </a:r>
            <a:r>
              <a:rPr lang="en-US" dirty="0"/>
              <a:t> </a:t>
            </a:r>
            <a:r>
              <a:rPr lang="en-US" dirty="0" err="1"/>
              <a:t>দিয়েছে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0EEA0-BFE2-81F2-ECB2-01B58CAC66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82586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1643</Words>
  <Application>Microsoft Office PowerPoint</Application>
  <PresentationFormat>On-screen Show (16:9)</PresentationFormat>
  <Paragraphs>189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Courier New</vt:lpstr>
      <vt:lpstr>Arial</vt:lpstr>
      <vt:lpstr>Google Sans Text</vt:lpstr>
      <vt:lpstr>Google Sans</vt:lpstr>
      <vt:lpstr>Roboto Mono</vt:lpstr>
      <vt:lpstr>Simple Light</vt:lpstr>
      <vt:lpstr>স্প্রেডশিটের ব্যবহার (Excel)  📊 </vt:lpstr>
      <vt:lpstr>আলোচ্যসূচি (Agenda)  📋</vt:lpstr>
      <vt:lpstr>স্প্রেডশিট কী? (Concept) 🧐</vt:lpstr>
      <vt:lpstr>ইতিহাস (History) ⏳</vt:lpstr>
      <vt:lpstr>কেন আমরা স্প্রেডশিট ব্যবহার করব?</vt:lpstr>
      <vt:lpstr>ইন্টারফেসের সাথে পরিচিতি</vt:lpstr>
      <vt:lpstr>কলাম, রো এবং সেল (Key Terms) 🗝️</vt:lpstr>
      <vt:lpstr>অংশ ২: ব্যবহারিক - এক্সেল শুরু করা (Setup) 🚀</vt:lpstr>
      <vt:lpstr>PowerPoint Presentation</vt:lpstr>
      <vt:lpstr>প্রথম ডেটা এন্ট্রি (ব্যবহারিক কাজ) ✍️</vt:lpstr>
      <vt:lpstr>যোগ করার ম্যাজিক (সূত্র ব্যবহার) ⚡</vt:lpstr>
      <vt:lpstr>PowerPoint Presentation</vt:lpstr>
      <vt:lpstr>PowerPoint Presentation</vt:lpstr>
      <vt:lpstr>হোমওয়ার্ক: এক্সেল বেসিকস - ডাটা এন্ট্রি এবং সূত্র পার্ট ১: ডাটা এন্ট্রি (বাজারের তালিকা) </vt:lpstr>
      <vt:lpstr>হোমওয়ার্ক: এক্সেল বেসিকস - ডাটা এন্ট্রি এবং সূত্র পার্ট ২: সাধারণ সূত্র (Simple Formulas) </vt:lpstr>
      <vt:lpstr>বার গ্রাফ তৈরি - পারিবারিক বাজেট (Tutorial) 📊</vt:lpstr>
      <vt:lpstr>বার গ্রাফ তৈরি - পারিবারিক বাজেট (Tutorial) 📊 </vt:lpstr>
      <vt:lpstr>PowerPoint Presentation</vt:lpstr>
      <vt:lpstr>গ্রাফ দেখে বিশ্লেষণ (Observation) 🧐</vt:lpstr>
      <vt:lpstr>Homework 2</vt:lpstr>
      <vt:lpstr>Homework (contd.)</vt:lpstr>
      <vt:lpstr>Homework (Contd)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Rezaur Rahman</cp:lastModifiedBy>
  <cp:revision>1</cp:revision>
  <dcterms:modified xsi:type="dcterms:W3CDTF">2026-07-28T01:42:10Z</dcterms:modified>
</cp:coreProperties>
</file>